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65" r:id="rId2"/>
    <p:sldId id="293" r:id="rId3"/>
    <p:sldId id="310" r:id="rId4"/>
    <p:sldId id="279" r:id="rId5"/>
    <p:sldId id="338" r:id="rId6"/>
    <p:sldId id="313" r:id="rId7"/>
    <p:sldId id="315" r:id="rId8"/>
    <p:sldId id="339" r:id="rId9"/>
    <p:sldId id="323" r:id="rId10"/>
    <p:sldId id="324" r:id="rId11"/>
    <p:sldId id="340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41" r:id="rId23"/>
    <p:sldId id="337" r:id="rId24"/>
    <p:sldId id="308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6B"/>
    <a:srgbClr val="00A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3447" autoAdjust="0"/>
  </p:normalViewPr>
  <p:slideViewPr>
    <p:cSldViewPr showGuides="1">
      <p:cViewPr>
        <p:scale>
          <a:sx n="75" d="100"/>
          <a:sy n="75" d="100"/>
        </p:scale>
        <p:origin x="272" y="-108"/>
      </p:cViewPr>
      <p:guideLst/>
    </p:cSldViewPr>
  </p:slideViewPr>
  <p:outlineViewPr>
    <p:cViewPr>
      <p:scale>
        <a:sx n="33" d="100"/>
        <a:sy n="33" d="100"/>
      </p:scale>
      <p:origin x="0" y="-232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2B97DA8-8E6C-4064-8555-1AB8580FC5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3A4DB5-C154-4FD3-A336-A980009B15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44539-BE40-4D76-BE24-73DA343E3F8A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913036-6DEF-43C7-9422-9C904683CF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5D172E-3B7F-4B35-8E38-6D92867A5B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E627C-7C34-4443-AA3A-CB9806E781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18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B229A-CF15-496D-915A-3C3AC47BA8F3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FE915-6F63-475F-AEF3-292EDAD54A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521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F3AA6084-5A17-4DF0-99FA-9B12FE16AC92}"/>
              </a:ext>
            </a:extLst>
          </p:cNvPr>
          <p:cNvSpPr/>
          <p:nvPr userDrawn="1"/>
        </p:nvSpPr>
        <p:spPr>
          <a:xfrm>
            <a:off x="4770534" y="2024845"/>
            <a:ext cx="7421467" cy="4833157"/>
          </a:xfrm>
          <a:custGeom>
            <a:avLst/>
            <a:gdLst>
              <a:gd name="connsiteX0" fmla="*/ 7411942 w 7421467"/>
              <a:gd name="connsiteY0" fmla="*/ 0 h 4833157"/>
              <a:gd name="connsiteX1" fmla="*/ 7421467 w 7421467"/>
              <a:gd name="connsiteY1" fmla="*/ 241 h 4833157"/>
              <a:gd name="connsiteX2" fmla="*/ 7421467 w 7421467"/>
              <a:gd name="connsiteY2" fmla="*/ 4833157 h 4833157"/>
              <a:gd name="connsiteX3" fmla="*/ 0 w 7421467"/>
              <a:gd name="connsiteY3" fmla="*/ 4833157 h 4833157"/>
              <a:gd name="connsiteX4" fmla="*/ 110690 w 7421467"/>
              <a:gd name="connsiteY4" fmla="*/ 4588316 h 4833157"/>
              <a:gd name="connsiteX5" fmla="*/ 7411942 w 7421467"/>
              <a:gd name="connsiteY5" fmla="*/ 0 h 4833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467" h="4833157">
                <a:moveTo>
                  <a:pt x="7411942" y="0"/>
                </a:moveTo>
                <a:lnTo>
                  <a:pt x="7421467" y="241"/>
                </a:lnTo>
                <a:lnTo>
                  <a:pt x="7421467" y="4833157"/>
                </a:lnTo>
                <a:lnTo>
                  <a:pt x="0" y="4833157"/>
                </a:lnTo>
                <a:lnTo>
                  <a:pt x="110690" y="4588316"/>
                </a:lnTo>
                <a:cubicBezTo>
                  <a:pt x="1418845" y="1873453"/>
                  <a:pt x="4196610" y="0"/>
                  <a:pt x="74119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de-DE" sz="1700" spc="3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373" y="2295098"/>
            <a:ext cx="7992888" cy="1469814"/>
          </a:xfrm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defRPr sz="4400" spc="8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373" y="3915278"/>
            <a:ext cx="6433129" cy="929754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5F13FFA-4861-486F-A58D-D9EB08D64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374" y="5013177"/>
            <a:ext cx="4968550" cy="115267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D6141A-43A8-45D6-B5D6-DB3F5A2427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02" y="466757"/>
            <a:ext cx="1772132" cy="115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5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BC08468-0CA3-47F9-BB7C-6D01CE3C79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0535" y="2024846"/>
            <a:ext cx="7421466" cy="4833155"/>
          </a:xfrm>
          <a:custGeom>
            <a:avLst/>
            <a:gdLst>
              <a:gd name="connsiteX0" fmla="*/ 7411941 w 7421466"/>
              <a:gd name="connsiteY0" fmla="*/ 0 h 4833155"/>
              <a:gd name="connsiteX1" fmla="*/ 7421466 w 7421466"/>
              <a:gd name="connsiteY1" fmla="*/ 241 h 4833155"/>
              <a:gd name="connsiteX2" fmla="*/ 7421466 w 7421466"/>
              <a:gd name="connsiteY2" fmla="*/ 4833155 h 4833155"/>
              <a:gd name="connsiteX3" fmla="*/ 0 w 7421466"/>
              <a:gd name="connsiteY3" fmla="*/ 4833155 h 4833155"/>
              <a:gd name="connsiteX4" fmla="*/ 110689 w 7421466"/>
              <a:gd name="connsiteY4" fmla="*/ 4588316 h 4833155"/>
              <a:gd name="connsiteX5" fmla="*/ 7411941 w 7421466"/>
              <a:gd name="connsiteY5" fmla="*/ 0 h 4833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466" h="4833155">
                <a:moveTo>
                  <a:pt x="7411941" y="0"/>
                </a:moveTo>
                <a:lnTo>
                  <a:pt x="7421466" y="241"/>
                </a:lnTo>
                <a:lnTo>
                  <a:pt x="7421466" y="4833155"/>
                </a:lnTo>
                <a:lnTo>
                  <a:pt x="0" y="4833155"/>
                </a:lnTo>
                <a:lnTo>
                  <a:pt x="110689" y="4588316"/>
                </a:lnTo>
                <a:cubicBezTo>
                  <a:pt x="1418844" y="1873453"/>
                  <a:pt x="4196609" y="0"/>
                  <a:pt x="74119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373" y="2295098"/>
            <a:ext cx="7992888" cy="1469814"/>
          </a:xfrm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defRPr sz="4400" spc="8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373" y="3915278"/>
            <a:ext cx="6433129" cy="929754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5F13FFA-4861-486F-A58D-D9EB08D64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374" y="5013177"/>
            <a:ext cx="4968550" cy="115267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D6141A-43A8-45D6-B5D6-DB3F5A2427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02" y="466757"/>
            <a:ext cx="1772132" cy="115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2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750" y="1268760"/>
            <a:ext cx="8604250" cy="1476164"/>
          </a:xfrm>
        </p:spPr>
        <p:txBody>
          <a:bodyPr/>
          <a:lstStyle>
            <a:lvl1pPr>
              <a:defRPr sz="4400" spc="8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0CC760-EBF5-4E69-B01B-A0CE7B6B93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3750" y="2881610"/>
            <a:ext cx="8604250" cy="123146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8295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751" y="812824"/>
            <a:ext cx="8604250" cy="558010"/>
          </a:xfrm>
        </p:spPr>
        <p:txBody>
          <a:bodyPr/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AAA3DF5A-AAAE-4747-B95D-44DDC7CBEB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63750" y="1484784"/>
            <a:ext cx="10128251" cy="4176464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98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1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63750" y="1557338"/>
            <a:ext cx="4104000" cy="4608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4052" y="1557338"/>
            <a:ext cx="4103949" cy="4608513"/>
          </a:xfrm>
        </p:spPr>
        <p:txBody>
          <a:bodyPr/>
          <a:lstStyle>
            <a:lvl1pPr>
              <a:defRPr spc="30" baseline="0"/>
            </a:lvl1pPr>
            <a:lvl2pPr>
              <a:defRPr spc="30" baseline="0"/>
            </a:lvl2pPr>
            <a:lvl3pPr>
              <a:defRPr spc="30" baseline="0"/>
            </a:lvl3pPr>
            <a:lvl4pPr>
              <a:defRPr spc="30" baseline="0"/>
            </a:lvl4pPr>
            <a:lvl5pPr>
              <a:defRPr spc="30" baseline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9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(bre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63750" y="1557338"/>
            <a:ext cx="4284278" cy="4608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CA90898-2F68-4C13-9E2E-E02AF4DD76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00057" y="1557336"/>
            <a:ext cx="5591944" cy="370786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63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63750" y="1557338"/>
            <a:ext cx="5832450" cy="4608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448A72F-7758-4846-BF2E-9F2F2C0FDE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20236" y="0"/>
            <a:ext cx="3971764" cy="60212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BB88B8F-7465-465A-92A9-85A1AB07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1" y="938374"/>
            <a:ext cx="5832450" cy="438398"/>
          </a:xfrm>
        </p:spPr>
        <p:txBody>
          <a:bodyPr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272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0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4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9E07F4F-6376-4EE4-AB3E-76EA17C18ECD}"/>
              </a:ext>
            </a:extLst>
          </p:cNvPr>
          <p:cNvSpPr/>
          <p:nvPr userDrawn="1"/>
        </p:nvSpPr>
        <p:spPr>
          <a:xfrm>
            <a:off x="0" y="0"/>
            <a:ext cx="145097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de-DE" sz="1700" spc="30" dirty="0" err="1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172AF8F0-8DAD-4538-BC1D-E3B87187CF41}"/>
              </a:ext>
            </a:extLst>
          </p:cNvPr>
          <p:cNvSpPr/>
          <p:nvPr userDrawn="1"/>
        </p:nvSpPr>
        <p:spPr>
          <a:xfrm>
            <a:off x="0" y="2977768"/>
            <a:ext cx="1450975" cy="3880232"/>
          </a:xfrm>
          <a:custGeom>
            <a:avLst/>
            <a:gdLst>
              <a:gd name="connsiteX0" fmla="*/ 1450975 w 1450975"/>
              <a:gd name="connsiteY0" fmla="*/ 0 h 3880232"/>
              <a:gd name="connsiteX1" fmla="*/ 1450975 w 1450975"/>
              <a:gd name="connsiteY1" fmla="*/ 3880232 h 3880232"/>
              <a:gd name="connsiteX2" fmla="*/ 0 w 1450975"/>
              <a:gd name="connsiteY2" fmla="*/ 3880232 h 3880232"/>
              <a:gd name="connsiteX3" fmla="*/ 0 w 1450975"/>
              <a:gd name="connsiteY3" fmla="*/ 982332 h 3880232"/>
              <a:gd name="connsiteX4" fmla="*/ 80748 w 1450975"/>
              <a:gd name="connsiteY4" fmla="*/ 912387 h 3880232"/>
              <a:gd name="connsiteX5" fmla="*/ 1372159 w 1450975"/>
              <a:gd name="connsiteY5" fmla="*/ 40367 h 388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0975" h="3880232">
                <a:moveTo>
                  <a:pt x="1450975" y="0"/>
                </a:moveTo>
                <a:lnTo>
                  <a:pt x="1450975" y="3880232"/>
                </a:lnTo>
                <a:lnTo>
                  <a:pt x="0" y="3880232"/>
                </a:lnTo>
                <a:lnTo>
                  <a:pt x="0" y="982332"/>
                </a:lnTo>
                <a:lnTo>
                  <a:pt x="80748" y="912387"/>
                </a:lnTo>
                <a:cubicBezTo>
                  <a:pt x="480793" y="582240"/>
                  <a:pt x="913073" y="289757"/>
                  <a:pt x="1372159" y="403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de-DE" sz="1700" spc="30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62921" y="938374"/>
            <a:ext cx="8605080" cy="438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750" y="1557338"/>
            <a:ext cx="8604251" cy="46085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D872A42-BB1C-49BB-A53E-DC69F0F431DE}"/>
              </a:ext>
            </a:extLst>
          </p:cNvPr>
          <p:cNvSpPr/>
          <p:nvPr userDrawn="1"/>
        </p:nvSpPr>
        <p:spPr>
          <a:xfrm>
            <a:off x="299357" y="6302177"/>
            <a:ext cx="1044116" cy="151159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</a:pPr>
            <a:r>
              <a:rPr lang="de-DE" sz="900" b="1" spc="20" baseline="0" dirty="0">
                <a:solidFill>
                  <a:schemeClr val="bg1"/>
                </a:solidFill>
              </a:rPr>
              <a:t>Seite </a:t>
            </a:r>
            <a:fld id="{B68CA67E-C928-4610-8613-D29F25DDB709}" type="slidenum">
              <a:rPr lang="de-DE" sz="900" b="1" spc="20" baseline="0" smtClean="0">
                <a:solidFill>
                  <a:schemeClr val="bg1"/>
                </a:solidFill>
              </a:rPr>
              <a:t>‹#›</a:t>
            </a:fld>
            <a:r>
              <a:rPr lang="de-DE" sz="900" b="1" spc="20" baseline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9396C9F-CB52-4AE4-A123-8AA538C7CCC4}"/>
              </a:ext>
            </a:extLst>
          </p:cNvPr>
          <p:cNvSpPr/>
          <p:nvPr userDrawn="1"/>
        </p:nvSpPr>
        <p:spPr>
          <a:xfrm>
            <a:off x="2063552" y="6302177"/>
            <a:ext cx="8604448" cy="36512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900" b="1" dirty="0" err="1"/>
              <a:t>cGANs</a:t>
            </a:r>
            <a:r>
              <a:rPr lang="en-US" sz="900" b="1" dirty="0"/>
              <a:t> for creating synthetic motion capture data</a:t>
            </a:r>
          </a:p>
          <a:p>
            <a:r>
              <a:rPr lang="de-DE" sz="900" dirty="0"/>
              <a:t>Evgeniya Ryasnova</a:t>
            </a:r>
            <a:endParaRPr lang="de-DE" sz="900" b="0" spc="20" baseline="0" dirty="0">
              <a:solidFill>
                <a:schemeClr val="bg2"/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40C3931-080E-49C4-BBA5-6BE341C11BF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4" y="299033"/>
            <a:ext cx="911476" cy="591546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4ACEC744-5975-4C66-8B94-18F60448BD0F}"/>
              </a:ext>
            </a:extLst>
          </p:cNvPr>
          <p:cNvSpPr/>
          <p:nvPr userDrawn="1"/>
        </p:nvSpPr>
        <p:spPr>
          <a:xfrm>
            <a:off x="299357" y="6459686"/>
            <a:ext cx="900411" cy="20761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</a:pPr>
            <a:fld id="{9DA6B11C-08A4-4714-94B2-B07C9C1922F9}" type="datetime1">
              <a:rPr lang="de-DE" sz="900" b="0" spc="20" baseline="0" smtClean="0">
                <a:solidFill>
                  <a:schemeClr val="bg1"/>
                </a:solidFill>
              </a:rPr>
              <a:t>06.07.2026</a:t>
            </a:fld>
            <a:endParaRPr lang="de-DE" sz="900" b="0" spc="2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54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0" r:id="rId3"/>
    <p:sldLayoutId id="2147483669" r:id="rId4"/>
    <p:sldLayoutId id="2147483662" r:id="rId5"/>
    <p:sldLayoutId id="2147483664" r:id="rId6"/>
    <p:sldLayoutId id="2147483672" r:id="rId7"/>
    <p:sldLayoutId id="2147483668" r:id="rId8"/>
    <p:sldLayoutId id="2147483666" r:id="rId9"/>
    <p:sldLayoutId id="2147483667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5425" indent="-225425" algn="l" defTabSz="914400" rtl="0" eaLnBrk="1" latinLnBrk="0" hangingPunct="1">
        <a:lnSpc>
          <a:spcPct val="110000"/>
        </a:lnSpc>
        <a:spcBef>
          <a:spcPts val="0"/>
        </a:spcBef>
        <a:spcAft>
          <a:spcPts val="1800"/>
        </a:spcAft>
        <a:buFont typeface="Arial" panose="020B0604020202020204" pitchFamily="34" charset="0"/>
        <a:buChar char="‒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1800"/>
        </a:spcAft>
        <a:buFont typeface="Arial" panose="020B0604020202020204" pitchFamily="34" charset="0"/>
        <a:buChar char="‒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079500" indent="-184150" algn="l" defTabSz="914400" rtl="0" eaLnBrk="1" latinLnBrk="0" hangingPunct="1">
        <a:lnSpc>
          <a:spcPct val="110000"/>
        </a:lnSpc>
        <a:spcBef>
          <a:spcPts val="0"/>
        </a:spcBef>
        <a:spcAft>
          <a:spcPts val="1800"/>
        </a:spcAft>
        <a:buFont typeface="Arial" panose="020B0604020202020204" pitchFamily="34" charset="0"/>
        <a:buChar char="‒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524000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1800"/>
        </a:spcAft>
        <a:buFont typeface="Arial" panose="020B0604020202020204" pitchFamily="34" charset="0"/>
        <a:buChar char="‒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1974850" indent="-177800" algn="l" defTabSz="628650" rtl="0" eaLnBrk="1" latinLnBrk="0" hangingPunct="1">
        <a:lnSpc>
          <a:spcPct val="110000"/>
        </a:lnSpc>
        <a:spcBef>
          <a:spcPts val="0"/>
        </a:spcBef>
        <a:spcAft>
          <a:spcPts val="1800"/>
        </a:spcAft>
        <a:buFont typeface="Arial" panose="020B0604020202020204" pitchFamily="34" charset="0"/>
        <a:buChar char="‒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300" userDrawn="1">
          <p15:clr>
            <a:srgbClr val="F26B43"/>
          </p15:clr>
        </p15:guide>
        <p15:guide id="2" pos="6720" userDrawn="1">
          <p15:clr>
            <a:srgbClr val="F26B43"/>
          </p15:clr>
        </p15:guide>
        <p15:guide id="3" orient="horz" pos="981" userDrawn="1">
          <p15:clr>
            <a:srgbClr val="F26B43"/>
          </p15:clr>
        </p15:guide>
        <p15:guide id="4" orient="horz" pos="3884" userDrawn="1">
          <p15:clr>
            <a:srgbClr val="F26B43"/>
          </p15:clr>
        </p15:guide>
        <p15:guide id="5" pos="9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tinbicer/generative-mocap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2D7EF-B855-44BC-BBBF-9E54EB18F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372" y="2348880"/>
            <a:ext cx="9037003" cy="1296144"/>
          </a:xfrm>
        </p:spPr>
        <p:txBody>
          <a:bodyPr/>
          <a:lstStyle/>
          <a:p>
            <a:r>
              <a:rPr lang="ru-RU" b="1" dirty="0" err="1"/>
              <a:t>cGANs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Creating</a:t>
            </a:r>
            <a:r>
              <a:rPr lang="ru-RU" b="1" dirty="0"/>
              <a:t> </a:t>
            </a:r>
            <a:r>
              <a:rPr lang="ru-RU" b="1" dirty="0" err="1"/>
              <a:t>Synthetic</a:t>
            </a:r>
            <a:r>
              <a:rPr lang="ru-RU" b="1" dirty="0"/>
              <a:t> Motion </a:t>
            </a:r>
            <a:r>
              <a:rPr lang="ru-RU" b="1" dirty="0" err="1"/>
              <a:t>Capture</a:t>
            </a:r>
            <a:r>
              <a:rPr lang="ru-RU" b="1" dirty="0"/>
              <a:t> Data</a:t>
            </a:r>
            <a:br>
              <a:rPr lang="ru-RU" dirty="0"/>
            </a:b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8BCF9E-8C19-41F2-B174-50A262AD3C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Deep Learning in Multimedia</a:t>
            </a:r>
          </a:p>
          <a:p>
            <a:endParaRPr lang="de-DE" b="1" dirty="0"/>
          </a:p>
          <a:p>
            <a:r>
              <a:rPr lang="de-DE" b="1" dirty="0"/>
              <a:t>Supervisor</a:t>
            </a:r>
            <a:r>
              <a:rPr lang="en-US" b="1" dirty="0"/>
              <a:t>: </a:t>
            </a:r>
            <a:r>
              <a:rPr lang="ru-RU" dirty="0"/>
              <a:t>Robert </a:t>
            </a:r>
            <a:r>
              <a:rPr lang="ru-RU" dirty="0" err="1"/>
              <a:t>Metzger</a:t>
            </a:r>
            <a:r>
              <a:rPr lang="ru-RU" dirty="0"/>
              <a:t> </a:t>
            </a:r>
            <a:endParaRPr lang="en-US" dirty="0"/>
          </a:p>
          <a:p>
            <a:r>
              <a:rPr lang="en-US" b="1" dirty="0"/>
              <a:t>Student:</a:t>
            </a:r>
            <a:r>
              <a:rPr lang="en-US" dirty="0"/>
              <a:t> </a:t>
            </a:r>
            <a:r>
              <a:rPr lang="de-DE" dirty="0"/>
              <a:t>Evgeniya Ryasnova</a:t>
            </a:r>
          </a:p>
          <a:p>
            <a:endParaRPr lang="de-DE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3E5590CF-9D92-9882-F3DD-F02B39A95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73" y="3591242"/>
            <a:ext cx="7236803" cy="557838"/>
          </a:xfrm>
        </p:spPr>
        <p:txBody>
          <a:bodyPr/>
          <a:lstStyle/>
          <a:p>
            <a:r>
              <a:rPr lang="ru-RU" sz="2800" dirty="0" err="1"/>
              <a:t>Reproduction</a:t>
            </a:r>
            <a:r>
              <a:rPr lang="ru-RU" sz="2800" dirty="0"/>
              <a:t> </a:t>
            </a:r>
            <a:r>
              <a:rPr lang="ru-RU" sz="2800" dirty="0" err="1"/>
              <a:t>of</a:t>
            </a:r>
            <a:r>
              <a:rPr lang="ru-RU" sz="2800" dirty="0"/>
              <a:t> </a:t>
            </a:r>
            <a:r>
              <a:rPr lang="ru-RU" sz="2800" dirty="0" err="1"/>
              <a:t>Bicer</a:t>
            </a:r>
            <a:r>
              <a:rPr lang="ru-RU" sz="2800" dirty="0"/>
              <a:t> </a:t>
            </a:r>
            <a:r>
              <a:rPr lang="ru-RU" sz="2800" dirty="0" err="1"/>
              <a:t>et</a:t>
            </a:r>
            <a:r>
              <a:rPr lang="ru-RU" sz="2800" dirty="0"/>
              <a:t> </a:t>
            </a:r>
            <a:r>
              <a:rPr lang="ru-RU" sz="2800" dirty="0" err="1"/>
              <a:t>al</a:t>
            </a:r>
            <a:r>
              <a:rPr lang="ru-RU" sz="2800" dirty="0"/>
              <a:t>. (2024)</a:t>
            </a:r>
          </a:p>
        </p:txBody>
      </p:sp>
    </p:spTree>
    <p:extLst>
      <p:ext uri="{BB962C8B-B14F-4D97-AF65-F5344CB8AC3E}">
        <p14:creationId xmlns:p14="http://schemas.microsoft.com/office/powerpoint/2010/main" val="369405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28E70-7655-DF21-AEDF-AC3903D3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CFDD3A-F28C-CF97-1AE0-71517A7B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5257216" cy="618964"/>
          </a:xfrm>
        </p:spPr>
        <p:txBody>
          <a:bodyPr/>
          <a:lstStyle/>
          <a:p>
            <a:r>
              <a:rPr lang="en-US" dirty="0"/>
              <a:t>Motivation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80A7157A-2AED-FA29-2B04-AF377610607B}"/>
              </a:ext>
            </a:extLst>
          </p:cNvPr>
          <p:cNvSpPr txBox="1">
            <a:spLocks/>
          </p:cNvSpPr>
          <p:nvPr/>
        </p:nvSpPr>
        <p:spPr>
          <a:xfrm>
            <a:off x="2062920" y="2779668"/>
            <a:ext cx="9504858" cy="4333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5425" indent="-2254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9500" indent="-1841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0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4850" indent="-177800" algn="l" defTabSz="62865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>
                <a:solidFill>
                  <a:srgbClr val="003F6B"/>
                </a:solidFill>
              </a:rPr>
              <a:t>Main</a:t>
            </a:r>
            <a:r>
              <a:rPr lang="ru-RU" sz="1600" b="1" dirty="0">
                <a:solidFill>
                  <a:srgbClr val="003F6B"/>
                </a:solidFill>
              </a:rPr>
              <a:t> </a:t>
            </a:r>
            <a:r>
              <a:rPr lang="ru-RU" sz="1600" b="1" dirty="0" err="1">
                <a:solidFill>
                  <a:srgbClr val="003F6B"/>
                </a:solidFill>
              </a:rPr>
              <a:t>limitations</a:t>
            </a:r>
            <a:r>
              <a:rPr lang="ru-RU" sz="1600" b="1" dirty="0">
                <a:solidFill>
                  <a:srgbClr val="003F6B"/>
                </a:solidFill>
              </a:rPr>
              <a:t> </a:t>
            </a:r>
            <a:r>
              <a:rPr lang="ru-RU" sz="1600" b="1" dirty="0" err="1">
                <a:solidFill>
                  <a:srgbClr val="003F6B"/>
                </a:solidFill>
              </a:rPr>
              <a:t>of</a:t>
            </a:r>
            <a:r>
              <a:rPr lang="ru-RU" sz="1600" b="1" dirty="0">
                <a:solidFill>
                  <a:srgbClr val="003F6B"/>
                </a:solidFill>
              </a:rPr>
              <a:t> </a:t>
            </a:r>
            <a:r>
              <a:rPr lang="ru-RU" sz="1600" b="1" dirty="0" err="1">
                <a:solidFill>
                  <a:srgbClr val="003F6B"/>
                </a:solidFill>
              </a:rPr>
              <a:t>real</a:t>
            </a:r>
            <a:r>
              <a:rPr lang="ru-RU" sz="1600" b="1" dirty="0">
                <a:solidFill>
                  <a:srgbClr val="003F6B"/>
                </a:solidFill>
              </a:rPr>
              <a:t> </a:t>
            </a:r>
            <a:r>
              <a:rPr lang="ru-RU" sz="1600" b="1" dirty="0" err="1">
                <a:solidFill>
                  <a:srgbClr val="003F6B"/>
                </a:solidFill>
              </a:rPr>
              <a:t>mocap</a:t>
            </a:r>
            <a:r>
              <a:rPr lang="ru-RU" sz="1600" b="1" dirty="0">
                <a:solidFill>
                  <a:srgbClr val="003F6B"/>
                </a:solidFill>
              </a:rPr>
              <a:t> </a:t>
            </a:r>
            <a:r>
              <a:rPr lang="ru-RU" sz="1600" b="1" dirty="0" err="1">
                <a:solidFill>
                  <a:srgbClr val="003F6B"/>
                </a:solidFill>
              </a:rPr>
              <a:t>data</a:t>
            </a:r>
            <a:r>
              <a:rPr lang="ru-RU" sz="1600" b="1" dirty="0">
                <a:solidFill>
                  <a:srgbClr val="003F6B"/>
                </a:solidFill>
              </a:rPr>
              <a:t>:</a:t>
            </a:r>
            <a:endParaRPr lang="ru-RU" sz="1600" dirty="0">
              <a:solidFill>
                <a:srgbClr val="003F6B"/>
              </a:solidFill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764CBE9E-EF7A-F531-8E64-15D0D3F30554}"/>
              </a:ext>
            </a:extLst>
          </p:cNvPr>
          <p:cNvSpPr/>
          <p:nvPr/>
        </p:nvSpPr>
        <p:spPr>
          <a:xfrm>
            <a:off x="2062920" y="3298370"/>
            <a:ext cx="4343400" cy="1170011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E2E3A169-7879-95B0-0E72-63413085B139}"/>
              </a:ext>
            </a:extLst>
          </p:cNvPr>
          <p:cNvSpPr/>
          <p:nvPr/>
        </p:nvSpPr>
        <p:spPr>
          <a:xfrm>
            <a:off x="2218368" y="3499539"/>
            <a:ext cx="749808" cy="741958"/>
          </a:xfrm>
          <a:prstGeom prst="roundRect">
            <a:avLst>
              <a:gd name="adj" fmla="val 10256"/>
            </a:avLst>
          </a:prstGeom>
          <a:solidFill>
            <a:srgbClr val="004A73"/>
          </a:solidFill>
          <a:ln w="12700">
            <a:solidFill>
              <a:srgbClr val="004A7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FD58052C-8F73-220F-F53D-0B70ED01D704}"/>
              </a:ext>
            </a:extLst>
          </p:cNvPr>
          <p:cNvSpPr/>
          <p:nvPr/>
        </p:nvSpPr>
        <p:spPr>
          <a:xfrm>
            <a:off x="2309808" y="3600122"/>
            <a:ext cx="566928" cy="17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28C1B4F2-0F8B-7293-F412-0D32302C0E11}"/>
              </a:ext>
            </a:extLst>
          </p:cNvPr>
          <p:cNvSpPr/>
          <p:nvPr/>
        </p:nvSpPr>
        <p:spPr>
          <a:xfrm>
            <a:off x="2273232" y="3801291"/>
            <a:ext cx="658368" cy="2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lab</a:t>
            </a:r>
            <a:endParaRPr lang="en-US" sz="68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6949C7A-53E1-43FC-BECC-31B51D9ABA29}"/>
              </a:ext>
            </a:extLst>
          </p:cNvPr>
          <p:cNvSpPr/>
          <p:nvPr/>
        </p:nvSpPr>
        <p:spPr>
          <a:xfrm>
            <a:off x="3114480" y="3499539"/>
            <a:ext cx="3108960" cy="25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Resource-intensive collection</a:t>
            </a:r>
            <a:endParaRPr lang="en-US" sz="132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06DA241-F38D-DE2C-CEDB-9BB5DB0FD701}"/>
              </a:ext>
            </a:extLst>
          </p:cNvPr>
          <p:cNvSpPr/>
          <p:nvPr/>
        </p:nvSpPr>
        <p:spPr>
          <a:xfrm>
            <a:off x="3114480" y="3828722"/>
            <a:ext cx="3108960" cy="428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equipment, controlled lab setup, and technical expertise are required.</a:t>
            </a:r>
            <a:endParaRPr lang="en-US" sz="1060" dirty="0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2BFCD5F6-6307-BEC3-E672-0B75026B3B7B}"/>
              </a:ext>
            </a:extLst>
          </p:cNvPr>
          <p:cNvSpPr/>
          <p:nvPr/>
        </p:nvSpPr>
        <p:spPr>
          <a:xfrm>
            <a:off x="6726360" y="3298370"/>
            <a:ext cx="4343400" cy="1170011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1611ADD5-D66A-905A-099C-957F3EDC5A88}"/>
              </a:ext>
            </a:extLst>
          </p:cNvPr>
          <p:cNvSpPr/>
          <p:nvPr/>
        </p:nvSpPr>
        <p:spPr>
          <a:xfrm>
            <a:off x="6881808" y="3499539"/>
            <a:ext cx="749808" cy="741958"/>
          </a:xfrm>
          <a:prstGeom prst="roundRect">
            <a:avLst>
              <a:gd name="adj" fmla="val 10256"/>
            </a:avLst>
          </a:prstGeom>
          <a:solidFill>
            <a:srgbClr val="004A73"/>
          </a:solidFill>
          <a:ln w="12700">
            <a:solidFill>
              <a:srgbClr val="004A7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DBA374F0-B070-D6F7-BA6A-BDCAD38B4282}"/>
              </a:ext>
            </a:extLst>
          </p:cNvPr>
          <p:cNvSpPr/>
          <p:nvPr/>
        </p:nvSpPr>
        <p:spPr>
          <a:xfrm>
            <a:off x="6973248" y="3600122"/>
            <a:ext cx="566928" cy="17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A265422D-D90D-54D3-A6A4-15CACE294BAB}"/>
              </a:ext>
            </a:extLst>
          </p:cNvPr>
          <p:cNvSpPr/>
          <p:nvPr/>
        </p:nvSpPr>
        <p:spPr>
          <a:xfrm>
            <a:off x="6936672" y="3801291"/>
            <a:ext cx="658368" cy="2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68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B005F1CF-D6A2-ABCD-5AAA-671E5CA8A267}"/>
              </a:ext>
            </a:extLst>
          </p:cNvPr>
          <p:cNvSpPr/>
          <p:nvPr/>
        </p:nvSpPr>
        <p:spPr>
          <a:xfrm>
            <a:off x="7777920" y="3499539"/>
            <a:ext cx="3108960" cy="25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dataset size and diversity</a:t>
            </a:r>
            <a:endParaRPr lang="en-US" sz="1320" dirty="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AD5980F6-52BB-DFF7-746D-D3363D6881E3}"/>
              </a:ext>
            </a:extLst>
          </p:cNvPr>
          <p:cNvSpPr/>
          <p:nvPr/>
        </p:nvSpPr>
        <p:spPr>
          <a:xfrm>
            <a:off x="7777920" y="3828722"/>
            <a:ext cx="3108960" cy="428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datasets reduce the generalization of deep learning models to new subjects and movement patterns.</a:t>
            </a:r>
            <a:endParaRPr lang="en-US" sz="1060" dirty="0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3B42ACDE-FFE0-6BDA-9B59-3E60E61FA3C9}"/>
              </a:ext>
            </a:extLst>
          </p:cNvPr>
          <p:cNvSpPr/>
          <p:nvPr/>
        </p:nvSpPr>
        <p:spPr>
          <a:xfrm>
            <a:off x="2062920" y="4743122"/>
            <a:ext cx="4343400" cy="1170011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1D0DBB6D-96A5-28BA-9902-89B904E3A24C}"/>
              </a:ext>
            </a:extLst>
          </p:cNvPr>
          <p:cNvSpPr/>
          <p:nvPr/>
        </p:nvSpPr>
        <p:spPr>
          <a:xfrm>
            <a:off x="2218368" y="4944291"/>
            <a:ext cx="749808" cy="741958"/>
          </a:xfrm>
          <a:prstGeom prst="roundRect">
            <a:avLst>
              <a:gd name="adj" fmla="val 10256"/>
            </a:avLst>
          </a:prstGeom>
          <a:solidFill>
            <a:srgbClr val="004A73"/>
          </a:solidFill>
          <a:ln w="12700">
            <a:solidFill>
              <a:srgbClr val="004A7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000EA633-B2C3-FBD7-0802-F32779FD75DA}"/>
              </a:ext>
            </a:extLst>
          </p:cNvPr>
          <p:cNvSpPr/>
          <p:nvPr/>
        </p:nvSpPr>
        <p:spPr>
          <a:xfrm>
            <a:off x="2309808" y="5044874"/>
            <a:ext cx="566928" cy="17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8716FE15-A7B8-4014-8BAB-A3EE9048D1DC}"/>
              </a:ext>
            </a:extLst>
          </p:cNvPr>
          <p:cNvSpPr/>
          <p:nvPr/>
        </p:nvSpPr>
        <p:spPr>
          <a:xfrm>
            <a:off x="2273232" y="5246043"/>
            <a:ext cx="658368" cy="2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</a:t>
            </a:r>
            <a:endParaRPr lang="en-US" sz="68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97EFB7D3-5ABD-FB85-13B7-B7E7F3CC57DB}"/>
              </a:ext>
            </a:extLst>
          </p:cNvPr>
          <p:cNvSpPr/>
          <p:nvPr/>
        </p:nvSpPr>
        <p:spPr>
          <a:xfrm>
            <a:off x="3114480" y="4944291"/>
            <a:ext cx="3108960" cy="25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realism of simple augmentation</a:t>
            </a:r>
            <a:endParaRPr lang="en-US" sz="132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A7DC1A57-2D55-275C-2604-FD34A9F03D41}"/>
              </a:ext>
            </a:extLst>
          </p:cNvPr>
          <p:cNvSpPr/>
          <p:nvPr/>
        </p:nvSpPr>
        <p:spPr>
          <a:xfrm>
            <a:off x="3114480" y="5273474"/>
            <a:ext cx="3108960" cy="428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augmentation can increase dataset size, but may not capture natural gait variability.</a:t>
            </a:r>
            <a:endParaRPr lang="en-US" sz="1060" dirty="0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25ACB3CB-41EC-6AF2-7B56-9F023099D2DF}"/>
              </a:ext>
            </a:extLst>
          </p:cNvPr>
          <p:cNvSpPr/>
          <p:nvPr/>
        </p:nvSpPr>
        <p:spPr>
          <a:xfrm>
            <a:off x="6726360" y="4743122"/>
            <a:ext cx="4343400" cy="1170011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1E46BB7B-3767-47AA-D1AF-DDCE061B7F11}"/>
              </a:ext>
            </a:extLst>
          </p:cNvPr>
          <p:cNvSpPr/>
          <p:nvPr/>
        </p:nvSpPr>
        <p:spPr>
          <a:xfrm>
            <a:off x="6881808" y="4944291"/>
            <a:ext cx="749808" cy="741958"/>
          </a:xfrm>
          <a:prstGeom prst="roundRect">
            <a:avLst>
              <a:gd name="adj" fmla="val 10256"/>
            </a:avLst>
          </a:prstGeom>
          <a:solidFill>
            <a:srgbClr val="004A73"/>
          </a:solidFill>
          <a:ln w="12700">
            <a:solidFill>
              <a:srgbClr val="004A7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01D4ACEA-E70D-8005-F2EC-D03C0FE80D25}"/>
              </a:ext>
            </a:extLst>
          </p:cNvPr>
          <p:cNvSpPr/>
          <p:nvPr/>
        </p:nvSpPr>
        <p:spPr>
          <a:xfrm>
            <a:off x="6973248" y="5044874"/>
            <a:ext cx="566928" cy="17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8CD53974-E333-D7A1-51CE-C39390636C9C}"/>
              </a:ext>
            </a:extLst>
          </p:cNvPr>
          <p:cNvSpPr/>
          <p:nvPr/>
        </p:nvSpPr>
        <p:spPr>
          <a:xfrm>
            <a:off x="6936672" y="5246043"/>
            <a:ext cx="658368" cy="2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sharing</a:t>
            </a:r>
            <a:endParaRPr lang="en-US" sz="680" dirty="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82E0F25E-3FFA-3327-38DE-E5C6242F805D}"/>
              </a:ext>
            </a:extLst>
          </p:cNvPr>
          <p:cNvSpPr/>
          <p:nvPr/>
        </p:nvSpPr>
        <p:spPr>
          <a:xfrm>
            <a:off x="7777920" y="4944291"/>
            <a:ext cx="3108960" cy="25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sharing constraints</a:t>
            </a:r>
            <a:endParaRPr lang="en-US" sz="1320" dirty="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3052EFB8-C90E-FBBD-0060-32B3D482D283}"/>
              </a:ext>
            </a:extLst>
          </p:cNvPr>
          <p:cNvSpPr/>
          <p:nvPr/>
        </p:nvSpPr>
        <p:spPr>
          <a:xfrm>
            <a:off x="7777920" y="5273474"/>
            <a:ext cx="3108960" cy="4280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movement data can raise privacy concerns and may be difficult to share openly.</a:t>
            </a:r>
            <a:endParaRPr lang="en-US" sz="1060" dirty="0"/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DF33D5E9-0409-7EE2-E039-24A15DC07773}"/>
              </a:ext>
            </a:extLst>
          </p:cNvPr>
          <p:cNvSpPr txBox="1">
            <a:spLocks/>
          </p:cNvSpPr>
          <p:nvPr/>
        </p:nvSpPr>
        <p:spPr>
          <a:xfrm>
            <a:off x="2062920" y="1517121"/>
            <a:ext cx="9504858" cy="10075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5425" indent="-2254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9500" indent="-1841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0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4850" indent="-177800" algn="l" defTabSz="62865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b="1" dirty="0"/>
              <a:t>Motion </a:t>
            </a:r>
            <a:r>
              <a:rPr lang="ru-RU" sz="1600" b="1" dirty="0" err="1"/>
              <a:t>capture</a:t>
            </a:r>
            <a:r>
              <a:rPr lang="ru-RU" sz="1600" b="1" dirty="0"/>
              <a:t> </a:t>
            </a:r>
            <a:r>
              <a:rPr lang="ru-RU" sz="1600" b="1" dirty="0" err="1"/>
              <a:t>data</a:t>
            </a:r>
            <a:r>
              <a:rPr lang="ru-RU" sz="1600" b="1" dirty="0"/>
              <a:t> </a:t>
            </a:r>
            <a:r>
              <a:rPr lang="ru-RU" sz="1600" b="1" dirty="0" err="1"/>
              <a:t>are</a:t>
            </a:r>
            <a:r>
              <a:rPr lang="ru-RU" sz="1600" b="1" dirty="0"/>
              <a:t> </a:t>
            </a:r>
            <a:r>
              <a:rPr lang="ru-RU" sz="1600" b="1" dirty="0" err="1"/>
              <a:t>useful</a:t>
            </a:r>
            <a:r>
              <a:rPr lang="ru-RU" sz="1600" b="1" dirty="0"/>
              <a:t> </a:t>
            </a:r>
            <a:r>
              <a:rPr lang="ru-RU" sz="1600" b="1" dirty="0" err="1"/>
              <a:t>for</a:t>
            </a:r>
            <a:r>
              <a:rPr lang="ru-RU" sz="1600" b="1" dirty="0"/>
              <a:t>:</a:t>
            </a:r>
            <a:br>
              <a:rPr lang="ru-RU" sz="1600" dirty="0"/>
            </a:br>
            <a:r>
              <a:rPr lang="ru-RU" sz="1600" dirty="0" err="1"/>
              <a:t>biomechanics</a:t>
            </a:r>
            <a:r>
              <a:rPr lang="ru-RU" sz="1600" dirty="0"/>
              <a:t>, </a:t>
            </a:r>
            <a:r>
              <a:rPr lang="ru-RU" sz="1600" dirty="0" err="1"/>
              <a:t>rehabilitation</a:t>
            </a:r>
            <a:r>
              <a:rPr lang="ru-RU" sz="1600" dirty="0"/>
              <a:t>, </a:t>
            </a:r>
            <a:r>
              <a:rPr lang="ru-RU" sz="1600" dirty="0" err="1"/>
              <a:t>sports</a:t>
            </a:r>
            <a:r>
              <a:rPr lang="ru-RU" sz="1600" dirty="0"/>
              <a:t> </a:t>
            </a:r>
            <a:r>
              <a:rPr lang="ru-RU" sz="1600" dirty="0" err="1"/>
              <a:t>science</a:t>
            </a:r>
            <a:r>
              <a:rPr lang="ru-RU" sz="1600" dirty="0"/>
              <a:t>, </a:t>
            </a:r>
            <a:r>
              <a:rPr lang="ru-RU" sz="1600" dirty="0" err="1"/>
              <a:t>robotics</a:t>
            </a:r>
            <a:r>
              <a:rPr lang="ru-RU" sz="1600" dirty="0"/>
              <a:t>, </a:t>
            </a:r>
            <a:r>
              <a:rPr lang="ru-RU" sz="1600" dirty="0" err="1"/>
              <a:t>animation</a:t>
            </a:r>
            <a:r>
              <a:rPr lang="ru-RU" sz="1600" dirty="0"/>
              <a:t>/VR, </a:t>
            </a:r>
            <a:r>
              <a:rPr lang="ru-RU" sz="1600" dirty="0" err="1"/>
              <a:t>ergonomics</a:t>
            </a:r>
            <a:r>
              <a:rPr lang="ru-RU" sz="1600" dirty="0"/>
              <a:t>.</a:t>
            </a:r>
            <a:br>
              <a:rPr lang="ru-RU" sz="1600" dirty="0"/>
            </a:br>
            <a:r>
              <a:rPr lang="ru-RU" sz="1600" i="1" dirty="0"/>
              <a:t>(</a:t>
            </a:r>
            <a:r>
              <a:rPr lang="ru-RU" sz="1600" i="1" dirty="0" err="1"/>
              <a:t>Halilaj</a:t>
            </a:r>
            <a:r>
              <a:rPr lang="ru-RU" sz="1600" i="1" dirty="0"/>
              <a:t> </a:t>
            </a:r>
            <a:r>
              <a:rPr lang="ru-RU" sz="1600" i="1" dirty="0" err="1"/>
              <a:t>et</a:t>
            </a:r>
            <a:r>
              <a:rPr lang="ru-RU" sz="1600" i="1" dirty="0"/>
              <a:t> </a:t>
            </a:r>
            <a:r>
              <a:rPr lang="ru-RU" sz="1600" i="1" dirty="0" err="1"/>
              <a:t>al</a:t>
            </a:r>
            <a:r>
              <a:rPr lang="ru-RU" sz="1600" i="1" dirty="0"/>
              <a:t>., 2018; </a:t>
            </a:r>
            <a:r>
              <a:rPr lang="ru-RU" sz="1600" i="1" dirty="0" err="1"/>
              <a:t>Bicer</a:t>
            </a:r>
            <a:r>
              <a:rPr lang="ru-RU" sz="1600" i="1" dirty="0"/>
              <a:t> </a:t>
            </a:r>
            <a:r>
              <a:rPr lang="ru-RU" sz="1600" i="1" dirty="0" err="1"/>
              <a:t>et</a:t>
            </a:r>
            <a:r>
              <a:rPr lang="ru-RU" sz="1600" i="1" dirty="0"/>
              <a:t> </a:t>
            </a:r>
            <a:r>
              <a:rPr lang="ru-RU" sz="1600" i="1" dirty="0" err="1"/>
              <a:t>al</a:t>
            </a:r>
            <a:r>
              <a:rPr lang="ru-RU" sz="1600" i="1" dirty="0"/>
              <a:t>., 2024)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3910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8FB6-3B2C-D294-F5B0-8A02E7B3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F65ABD-D3E9-97C5-7681-AAA8C2AA5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2132856"/>
            <a:ext cx="9504858" cy="403299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Solution</a:t>
            </a:r>
          </a:p>
          <a:p>
            <a:pPr marL="0" indent="0">
              <a:buNone/>
            </a:pPr>
            <a:r>
              <a:rPr lang="ru-RU" sz="2000" dirty="0" err="1"/>
              <a:t>Generative</a:t>
            </a:r>
            <a:r>
              <a:rPr lang="ru-RU" sz="2000" dirty="0"/>
              <a:t> </a:t>
            </a:r>
            <a:r>
              <a:rPr lang="ru-RU" sz="2000" dirty="0" err="1"/>
              <a:t>models</a:t>
            </a:r>
            <a:r>
              <a:rPr lang="ru-RU" sz="2000" dirty="0"/>
              <a:t> </a:t>
            </a:r>
            <a:r>
              <a:rPr lang="ru-RU" sz="2000" dirty="0" err="1"/>
              <a:t>can</a:t>
            </a:r>
            <a:r>
              <a:rPr lang="ru-RU" sz="2000" dirty="0"/>
              <a:t> </a:t>
            </a:r>
            <a:r>
              <a:rPr lang="ru-RU" sz="2000" dirty="0" err="1"/>
              <a:t>create</a:t>
            </a:r>
            <a:r>
              <a:rPr lang="ru-RU" sz="2000" dirty="0"/>
              <a:t> </a:t>
            </a:r>
            <a:r>
              <a:rPr lang="ru-RU" sz="2000" dirty="0" err="1"/>
              <a:t>realistic</a:t>
            </a:r>
            <a:r>
              <a:rPr lang="ru-RU" sz="2000" dirty="0"/>
              <a:t>, </a:t>
            </a:r>
            <a:r>
              <a:rPr lang="ru-RU" sz="2000" dirty="0" err="1"/>
              <a:t>shareable</a:t>
            </a:r>
            <a:r>
              <a:rPr lang="ru-RU" sz="2000" dirty="0"/>
              <a:t> </a:t>
            </a:r>
            <a:r>
              <a:rPr lang="ru-RU" sz="2000" dirty="0" err="1"/>
              <a:t>datasets</a:t>
            </a:r>
            <a:r>
              <a:rPr lang="ru-RU" sz="2000" dirty="0"/>
              <a:t> </a:t>
            </a:r>
            <a:r>
              <a:rPr lang="ru-RU" sz="2000" dirty="0" err="1"/>
              <a:t>while</a:t>
            </a:r>
            <a:r>
              <a:rPr lang="ru-RU" sz="2000" dirty="0"/>
              <a:t> </a:t>
            </a:r>
            <a:r>
              <a:rPr lang="ru-RU" sz="2000" dirty="0" err="1"/>
              <a:t>preserving</a:t>
            </a:r>
            <a:r>
              <a:rPr lang="ru-RU" sz="2000" dirty="0"/>
              <a:t> </a:t>
            </a:r>
            <a:r>
              <a:rPr lang="ru-RU" sz="2000" dirty="0" err="1"/>
              <a:t>key</a:t>
            </a:r>
            <a:r>
              <a:rPr lang="ru-RU" sz="2000" dirty="0"/>
              <a:t> </a:t>
            </a:r>
            <a:r>
              <a:rPr lang="ru-RU" sz="2000" dirty="0" err="1"/>
              <a:t>gait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subject</a:t>
            </a:r>
            <a:r>
              <a:rPr lang="ru-RU" sz="2000" dirty="0"/>
              <a:t> </a:t>
            </a:r>
            <a:r>
              <a:rPr lang="ru-RU" sz="2000" dirty="0" err="1"/>
              <a:t>characteristics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i="1" dirty="0"/>
              <a:t>(</a:t>
            </a:r>
            <a:r>
              <a:rPr lang="ru-RU" sz="2000" i="1" dirty="0" err="1"/>
              <a:t>Bicer</a:t>
            </a:r>
            <a:r>
              <a:rPr lang="ru-RU" sz="2000" i="1" dirty="0"/>
              <a:t> </a:t>
            </a:r>
            <a:r>
              <a:rPr lang="ru-RU" sz="2000" i="1" dirty="0" err="1"/>
              <a:t>et</a:t>
            </a:r>
            <a:r>
              <a:rPr lang="ru-RU" sz="2000" i="1" dirty="0"/>
              <a:t> </a:t>
            </a:r>
            <a:r>
              <a:rPr lang="ru-RU" sz="2000" i="1" dirty="0" err="1"/>
              <a:t>al</a:t>
            </a:r>
            <a:r>
              <a:rPr lang="ru-RU" sz="2000" i="1" dirty="0"/>
              <a:t>., 2022; </a:t>
            </a:r>
            <a:r>
              <a:rPr lang="ru-RU" sz="2000" i="1" dirty="0" err="1"/>
              <a:t>Bicer</a:t>
            </a:r>
            <a:r>
              <a:rPr lang="ru-RU" sz="2000" i="1" dirty="0"/>
              <a:t> </a:t>
            </a:r>
            <a:r>
              <a:rPr lang="ru-RU" sz="2000" i="1" dirty="0" err="1"/>
              <a:t>et</a:t>
            </a:r>
            <a:r>
              <a:rPr lang="ru-RU" sz="2000" i="1" dirty="0"/>
              <a:t> </a:t>
            </a:r>
            <a:r>
              <a:rPr lang="ru-RU" sz="2000" i="1" dirty="0" err="1"/>
              <a:t>al</a:t>
            </a:r>
            <a:r>
              <a:rPr lang="ru-RU" sz="2000" i="1" dirty="0"/>
              <a:t>., 2024)</a:t>
            </a:r>
            <a:endParaRPr lang="ru-RU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845AC9-6BF2-DD6C-408E-C2D6CACF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5257216" cy="618964"/>
          </a:xfrm>
        </p:spPr>
        <p:txBody>
          <a:bodyPr/>
          <a:lstStyle/>
          <a:p>
            <a:r>
              <a:rPr lang="en-US" dirty="0"/>
              <a:t>Motivation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90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0CB4-64FB-2600-CF76-AFE83123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FE8D9-29D3-736E-2F8F-D48349B9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750" y="1268760"/>
            <a:ext cx="8604250" cy="720080"/>
          </a:xfrm>
        </p:spPr>
        <p:txBody>
          <a:bodyPr/>
          <a:lstStyle/>
          <a:p>
            <a:r>
              <a:rPr lang="ru-RU" sz="2400" dirty="0" err="1"/>
              <a:t>Guiding</a:t>
            </a:r>
            <a:r>
              <a:rPr lang="ru-RU" sz="2400" dirty="0"/>
              <a:t> </a:t>
            </a:r>
            <a:r>
              <a:rPr lang="ru-RU" sz="2400" b="1" dirty="0"/>
              <a:t>Research </a:t>
            </a:r>
            <a:r>
              <a:rPr lang="ru-RU" sz="2400" b="1" dirty="0" err="1"/>
              <a:t>Question</a:t>
            </a:r>
            <a:br>
              <a:rPr lang="ru-RU" sz="2400" b="1" dirty="0"/>
            </a:br>
            <a:r>
              <a:rPr lang="ru-RU" sz="2400" dirty="0" err="1"/>
              <a:t>for</a:t>
            </a:r>
            <a:r>
              <a:rPr lang="ru-RU" sz="2400" dirty="0"/>
              <a:t> </a:t>
            </a:r>
            <a:r>
              <a:rPr lang="ru-RU" sz="2400" dirty="0" err="1"/>
              <a:t>This</a:t>
            </a:r>
            <a:r>
              <a:rPr lang="ru-RU" sz="2400" dirty="0"/>
              <a:t> </a:t>
            </a:r>
            <a:r>
              <a:rPr lang="ru-RU" sz="2400" dirty="0" err="1"/>
              <a:t>Reproduction</a:t>
            </a:r>
            <a:br>
              <a:rPr lang="ru-RU" sz="2400" b="1" dirty="0"/>
            </a:br>
            <a:endParaRPr lang="ru-RU" sz="2400" b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8167A2-AC68-08CD-0AA2-9C63AF4853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3750" y="2492896"/>
            <a:ext cx="8604250" cy="792088"/>
          </a:xfrm>
        </p:spPr>
        <p:txBody>
          <a:bodyPr/>
          <a:lstStyle/>
          <a:p>
            <a:r>
              <a:rPr lang="ru-RU" sz="2000" dirty="0" err="1"/>
              <a:t>Can</a:t>
            </a:r>
            <a:r>
              <a:rPr lang="ru-RU" sz="2000" dirty="0"/>
              <a:t> </a:t>
            </a:r>
            <a:r>
              <a:rPr lang="ru-RU" sz="2000" dirty="0" err="1"/>
              <a:t>cGANs</a:t>
            </a:r>
            <a:r>
              <a:rPr lang="ru-RU" sz="2000" dirty="0"/>
              <a:t> </a:t>
            </a:r>
            <a:r>
              <a:rPr lang="ru-RU" sz="2000" dirty="0" err="1"/>
              <a:t>generate</a:t>
            </a:r>
            <a:r>
              <a:rPr lang="ru-RU" sz="2000" dirty="0"/>
              <a:t> </a:t>
            </a:r>
            <a:r>
              <a:rPr lang="ru-RU" sz="2000" dirty="0" err="1"/>
              <a:t>realistic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condition-controlled</a:t>
            </a:r>
            <a:r>
              <a:rPr lang="ru-RU" sz="2000" dirty="0"/>
              <a:t> </a:t>
            </a:r>
            <a:r>
              <a:rPr lang="ru-RU" sz="2000" dirty="0" err="1"/>
              <a:t>synthetic</a:t>
            </a:r>
            <a:r>
              <a:rPr lang="ru-RU" sz="2000" dirty="0"/>
              <a:t> </a:t>
            </a:r>
            <a:r>
              <a:rPr lang="ru-RU" sz="2000" dirty="0" err="1"/>
              <a:t>mocap</a:t>
            </a:r>
            <a:r>
              <a:rPr lang="ru-RU" sz="2000" dirty="0"/>
              <a:t> </a:t>
            </a:r>
            <a:r>
              <a:rPr lang="ru-RU" sz="2000" dirty="0" err="1"/>
              <a:t>data</a:t>
            </a:r>
            <a:r>
              <a:rPr lang="ru-RU" sz="2000" dirty="0"/>
              <a:t>,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can</a:t>
            </a:r>
            <a:r>
              <a:rPr lang="ru-RU" sz="2000" dirty="0"/>
              <a:t> </a:t>
            </a:r>
            <a:r>
              <a:rPr lang="ru-RU" sz="2000" dirty="0" err="1"/>
              <a:t>the</a:t>
            </a:r>
            <a:r>
              <a:rPr lang="ru-RU" sz="2000" dirty="0"/>
              <a:t> </a:t>
            </a:r>
            <a:r>
              <a:rPr lang="ru-RU" sz="2000" dirty="0" err="1"/>
              <a:t>original</a:t>
            </a:r>
            <a:r>
              <a:rPr lang="ru-RU" sz="2000" dirty="0"/>
              <a:t> </a:t>
            </a:r>
            <a:r>
              <a:rPr lang="ru-RU" sz="2000" dirty="0" err="1"/>
              <a:t>study’s</a:t>
            </a:r>
            <a:r>
              <a:rPr lang="ru-RU" sz="2000" dirty="0"/>
              <a:t> </a:t>
            </a:r>
            <a:r>
              <a:rPr lang="ru-RU" sz="2000" dirty="0" err="1"/>
              <a:t>main</a:t>
            </a:r>
            <a:r>
              <a:rPr lang="ru-RU" sz="2000" dirty="0"/>
              <a:t> </a:t>
            </a:r>
            <a:r>
              <a:rPr lang="ru-RU" sz="2000" dirty="0" err="1"/>
              <a:t>results</a:t>
            </a:r>
            <a:r>
              <a:rPr lang="ru-RU" sz="2000" dirty="0"/>
              <a:t> </a:t>
            </a:r>
            <a:r>
              <a:rPr lang="ru-RU" sz="2000" dirty="0" err="1"/>
              <a:t>be</a:t>
            </a:r>
            <a:r>
              <a:rPr lang="ru-RU" sz="2000" dirty="0"/>
              <a:t> </a:t>
            </a:r>
            <a:r>
              <a:rPr lang="ru-RU" sz="2000" dirty="0" err="1"/>
              <a:t>reproduced</a:t>
            </a:r>
            <a:r>
              <a:rPr lang="ru-RU" sz="2000" dirty="0"/>
              <a:t>?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99002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C6A7-CC2C-7377-9717-318A5B1A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FEAF36-D8A6-4BB7-DEF1-16906DA8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750" y="1268760"/>
            <a:ext cx="8604250" cy="504056"/>
          </a:xfrm>
        </p:spPr>
        <p:txBody>
          <a:bodyPr/>
          <a:lstStyle/>
          <a:p>
            <a:r>
              <a:rPr lang="ru-RU" sz="2400" b="1" dirty="0"/>
              <a:t>Paper Focus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5BC701-793A-8BDC-2AB8-56B820EF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3750" y="1988840"/>
            <a:ext cx="8604250" cy="1080120"/>
          </a:xfrm>
        </p:spPr>
        <p:txBody>
          <a:bodyPr/>
          <a:lstStyle/>
          <a:p>
            <a:r>
              <a:rPr lang="en-US" sz="2000" dirty="0"/>
              <a:t>Generative adversarial networks to create synthetic motion capture</a:t>
            </a:r>
            <a:r>
              <a:rPr lang="ru-RU" sz="2000" dirty="0"/>
              <a:t> </a:t>
            </a:r>
            <a:r>
              <a:rPr lang="en-US" sz="2000" dirty="0"/>
              <a:t>datasets including subject and gait characteristics</a:t>
            </a:r>
            <a:br>
              <a:rPr lang="ru-RU" sz="2000" dirty="0"/>
            </a:br>
            <a:r>
              <a:rPr lang="ru-RU" sz="2000" i="1" dirty="0"/>
              <a:t>(</a:t>
            </a:r>
            <a:r>
              <a:rPr lang="ru-RU" sz="2000" i="1" dirty="0" err="1"/>
              <a:t>Bicer</a:t>
            </a:r>
            <a:r>
              <a:rPr lang="ru-RU" sz="2000" i="1" dirty="0"/>
              <a:t> </a:t>
            </a:r>
            <a:r>
              <a:rPr lang="ru-RU" sz="2000" i="1" dirty="0" err="1"/>
              <a:t>et</a:t>
            </a:r>
            <a:r>
              <a:rPr lang="ru-RU" sz="2000" i="1" dirty="0"/>
              <a:t> </a:t>
            </a:r>
            <a:r>
              <a:rPr lang="ru-RU" sz="2000" i="1" dirty="0" err="1"/>
              <a:t>al</a:t>
            </a:r>
            <a:r>
              <a:rPr lang="ru-RU" sz="2000" i="1" dirty="0"/>
              <a:t>., 2024)</a:t>
            </a:r>
            <a:endParaRPr lang="de-DE" sz="2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3126B0E1-3534-4776-186F-90187567C93F}"/>
              </a:ext>
            </a:extLst>
          </p:cNvPr>
          <p:cNvSpPr/>
          <p:nvPr/>
        </p:nvSpPr>
        <p:spPr>
          <a:xfrm>
            <a:off x="2063750" y="3567037"/>
            <a:ext cx="4343400" cy="2006723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FD90545B-7D46-A66E-A6BF-FDDBEF342838}"/>
              </a:ext>
            </a:extLst>
          </p:cNvPr>
          <p:cNvSpPr/>
          <p:nvPr/>
        </p:nvSpPr>
        <p:spPr>
          <a:xfrm>
            <a:off x="2208398" y="3768206"/>
            <a:ext cx="4015872" cy="25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3F6B"/>
                </a:solidFill>
                <a:latin typeface="Arial" pitchFamily="34" charset="0"/>
                <a:cs typeface="Arial" pitchFamily="34" charset="-120"/>
              </a:rPr>
              <a:t>Original paper</a:t>
            </a:r>
            <a:endParaRPr lang="en-US" dirty="0">
              <a:solidFill>
                <a:srgbClr val="003F6B"/>
              </a:solidFill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36CC911C-20DD-E431-A826-1BC1B5CE893C}"/>
              </a:ext>
            </a:extLst>
          </p:cNvPr>
          <p:cNvSpPr/>
          <p:nvPr/>
        </p:nvSpPr>
        <p:spPr>
          <a:xfrm>
            <a:off x="2208398" y="4229501"/>
            <a:ext cx="4015872" cy="1071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 err="1"/>
              <a:t>Develop</a:t>
            </a:r>
            <a:r>
              <a:rPr lang="ru-RU" sz="1600" dirty="0"/>
              <a:t> </a:t>
            </a:r>
            <a:r>
              <a:rPr lang="ru-RU" sz="1600" dirty="0" err="1"/>
              <a:t>conditional</a:t>
            </a:r>
            <a:r>
              <a:rPr lang="ru-RU" sz="1600" dirty="0"/>
              <a:t> GAN </a:t>
            </a:r>
            <a:r>
              <a:rPr lang="ru-RU" sz="1600" dirty="0" err="1"/>
              <a:t>models</a:t>
            </a:r>
            <a:r>
              <a:rPr lang="ru-RU" sz="1600" dirty="0"/>
              <a:t> </a:t>
            </a:r>
            <a:r>
              <a:rPr lang="ru-RU" sz="1600" dirty="0" err="1"/>
              <a:t>that</a:t>
            </a:r>
            <a:r>
              <a:rPr lang="ru-RU" sz="1600" dirty="0"/>
              <a:t> </a:t>
            </a:r>
            <a:r>
              <a:rPr lang="ru-RU" sz="1600" dirty="0" err="1"/>
              <a:t>generate</a:t>
            </a:r>
            <a:r>
              <a:rPr lang="ru-RU" sz="1600" dirty="0"/>
              <a:t> </a:t>
            </a:r>
            <a:r>
              <a:rPr lang="ru-RU" sz="1600" dirty="0" err="1"/>
              <a:t>synthetic</a:t>
            </a:r>
            <a:r>
              <a:rPr lang="ru-RU" sz="1600" dirty="0"/>
              <a:t> </a:t>
            </a:r>
            <a:r>
              <a:rPr lang="ru-RU" sz="1600" dirty="0" err="1"/>
              <a:t>walking</a:t>
            </a:r>
            <a:r>
              <a:rPr lang="ru-RU" sz="1600" dirty="0"/>
              <a:t> </a:t>
            </a:r>
            <a:r>
              <a:rPr lang="ru-RU" sz="1600" dirty="0" err="1"/>
              <a:t>mocap</a:t>
            </a:r>
            <a:r>
              <a:rPr lang="ru-RU" sz="1600" dirty="0"/>
              <a:t> </a:t>
            </a:r>
            <a:r>
              <a:rPr lang="ru-RU" sz="1600" dirty="0" err="1"/>
              <a:t>data</a:t>
            </a:r>
            <a:r>
              <a:rPr lang="ru-RU" sz="1600" dirty="0"/>
              <a:t> </a:t>
            </a:r>
            <a:r>
              <a:rPr lang="ru-RU" sz="1600" dirty="0" err="1"/>
              <a:t>based</a:t>
            </a:r>
            <a:r>
              <a:rPr lang="ru-RU" sz="1600" dirty="0"/>
              <a:t> </a:t>
            </a:r>
            <a:r>
              <a:rPr lang="ru-RU" sz="1600" dirty="0" err="1"/>
              <a:t>on</a:t>
            </a:r>
            <a:r>
              <a:rPr lang="ru-RU" sz="1600" dirty="0"/>
              <a:t> </a:t>
            </a:r>
            <a:r>
              <a:rPr lang="ru-RU" sz="1600" dirty="0" err="1"/>
              <a:t>subject</a:t>
            </a:r>
            <a:r>
              <a:rPr lang="ru-RU" sz="1600" dirty="0"/>
              <a:t>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gait</a:t>
            </a:r>
            <a:r>
              <a:rPr lang="ru-RU" sz="1600" dirty="0"/>
              <a:t> </a:t>
            </a:r>
            <a:r>
              <a:rPr lang="ru-RU" sz="1600" dirty="0" err="1"/>
              <a:t>characteristics</a:t>
            </a:r>
            <a:r>
              <a:rPr lang="ru-RU" sz="1600" dirty="0"/>
              <a:t>.</a:t>
            </a:r>
            <a:br>
              <a:rPr lang="ru-RU" sz="1600" dirty="0"/>
            </a:br>
            <a:r>
              <a:rPr lang="ru-RU" sz="1600" i="1" dirty="0"/>
              <a:t>(</a:t>
            </a:r>
            <a:r>
              <a:rPr lang="ru-RU" sz="1600" i="1" dirty="0" err="1"/>
              <a:t>Bicer</a:t>
            </a:r>
            <a:r>
              <a:rPr lang="ru-RU" sz="1600" i="1" dirty="0"/>
              <a:t> </a:t>
            </a:r>
            <a:r>
              <a:rPr lang="ru-RU" sz="1600" i="1" dirty="0" err="1"/>
              <a:t>et</a:t>
            </a:r>
            <a:r>
              <a:rPr lang="ru-RU" sz="1600" i="1" dirty="0"/>
              <a:t> </a:t>
            </a:r>
            <a:r>
              <a:rPr lang="ru-RU" sz="1600" i="1" dirty="0" err="1"/>
              <a:t>al</a:t>
            </a:r>
            <a:r>
              <a:rPr lang="ru-RU" sz="1600" i="1" dirty="0"/>
              <a:t>., 2024)</a:t>
            </a:r>
            <a:endParaRPr lang="en-US" sz="16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111ACC5F-D647-3C42-B1B0-3B369D29E0A3}"/>
              </a:ext>
            </a:extLst>
          </p:cNvPr>
          <p:cNvSpPr/>
          <p:nvPr/>
        </p:nvSpPr>
        <p:spPr>
          <a:xfrm>
            <a:off x="6816080" y="3567037"/>
            <a:ext cx="4343400" cy="2006723"/>
          </a:xfrm>
          <a:prstGeom prst="roundRect">
            <a:avLst>
              <a:gd name="adj" fmla="val 6504"/>
            </a:avLst>
          </a:prstGeom>
          <a:solidFill>
            <a:srgbClr val="F2FAFC"/>
          </a:solidFill>
          <a:ln w="13970">
            <a:solidFill>
              <a:srgbClr val="B9DCE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0AD8666-4E1C-EB28-D014-13FB535E107E}"/>
              </a:ext>
            </a:extLst>
          </p:cNvPr>
          <p:cNvSpPr/>
          <p:nvPr/>
        </p:nvSpPr>
        <p:spPr>
          <a:xfrm>
            <a:off x="6960728" y="3768206"/>
            <a:ext cx="4015872" cy="25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b="1" dirty="0" err="1">
                <a:solidFill>
                  <a:srgbClr val="003F6B"/>
                </a:solidFill>
              </a:rPr>
              <a:t>Our</a:t>
            </a:r>
            <a:r>
              <a:rPr lang="ru-RU" b="1" dirty="0">
                <a:solidFill>
                  <a:srgbClr val="003F6B"/>
                </a:solidFill>
              </a:rPr>
              <a:t> </a:t>
            </a:r>
            <a:r>
              <a:rPr lang="ru-RU" b="1" dirty="0" err="1">
                <a:solidFill>
                  <a:srgbClr val="003F6B"/>
                </a:solidFill>
              </a:rPr>
              <a:t>reproduction</a:t>
            </a:r>
            <a:endParaRPr lang="en-US" dirty="0">
              <a:solidFill>
                <a:srgbClr val="003F6B"/>
              </a:solidFill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8B67D92-816C-1D84-31B1-E77AB75046D6}"/>
              </a:ext>
            </a:extLst>
          </p:cNvPr>
          <p:cNvSpPr/>
          <p:nvPr/>
        </p:nvSpPr>
        <p:spPr>
          <a:xfrm>
            <a:off x="6960728" y="4229501"/>
            <a:ext cx="4015872" cy="1071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ru-RU" sz="1600" dirty="0" err="1"/>
              <a:t>Run</a:t>
            </a:r>
            <a:r>
              <a:rPr lang="ru-RU" sz="1600" dirty="0"/>
              <a:t> </a:t>
            </a:r>
            <a:r>
              <a:rPr lang="ru-RU" sz="1600" dirty="0" err="1"/>
              <a:t>the</a:t>
            </a:r>
            <a:r>
              <a:rPr lang="ru-RU" sz="1600" dirty="0"/>
              <a:t> </a:t>
            </a:r>
            <a:r>
              <a:rPr lang="ru-RU" sz="1600" dirty="0" err="1"/>
              <a:t>released</a:t>
            </a:r>
            <a:r>
              <a:rPr lang="ru-RU" sz="1600" dirty="0"/>
              <a:t> </a:t>
            </a:r>
            <a:r>
              <a:rPr lang="ru-RU" sz="1600" dirty="0" err="1"/>
              <a:t>code</a:t>
            </a:r>
            <a:r>
              <a:rPr lang="ru-RU" sz="1600" dirty="0"/>
              <a:t> </a:t>
            </a:r>
            <a:r>
              <a:rPr lang="ru-RU" sz="1600" dirty="0" err="1"/>
              <a:t>in</a:t>
            </a:r>
            <a:r>
              <a:rPr lang="ru-RU" sz="1600" dirty="0"/>
              <a:t> </a:t>
            </a:r>
            <a:r>
              <a:rPr lang="ru-RU" sz="1600" dirty="0" err="1"/>
              <a:t>Colab</a:t>
            </a:r>
            <a:r>
              <a:rPr lang="ru-RU" sz="1600" dirty="0"/>
              <a:t>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reproduce</a:t>
            </a:r>
            <a:r>
              <a:rPr lang="ru-RU" sz="1600" dirty="0"/>
              <a:t> </a:t>
            </a:r>
            <a:r>
              <a:rPr lang="ru-RU" sz="1600" dirty="0" err="1"/>
              <a:t>the</a:t>
            </a:r>
            <a:r>
              <a:rPr lang="ru-RU" sz="1600" dirty="0"/>
              <a:t> </a:t>
            </a:r>
            <a:r>
              <a:rPr lang="ru-RU" sz="1600" dirty="0" err="1"/>
              <a:t>main</a:t>
            </a:r>
            <a:r>
              <a:rPr lang="ru-RU" sz="1600" dirty="0"/>
              <a:t> </a:t>
            </a:r>
            <a:r>
              <a:rPr lang="ru-RU" sz="1600" dirty="0" err="1"/>
              <a:t>training</a:t>
            </a:r>
            <a:r>
              <a:rPr lang="ru-RU" sz="1600" dirty="0"/>
              <a:t>, </a:t>
            </a:r>
            <a:r>
              <a:rPr lang="ru-RU" sz="1600" dirty="0" err="1"/>
              <a:t>evaluation</a:t>
            </a:r>
            <a:r>
              <a:rPr lang="ru-RU" sz="1600" dirty="0"/>
              <a:t>,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visualization</a:t>
            </a:r>
            <a:r>
              <a:rPr lang="ru-RU" sz="1600" dirty="0"/>
              <a:t> </a:t>
            </a:r>
            <a:r>
              <a:rPr lang="ru-RU" sz="1600" dirty="0" err="1"/>
              <a:t>results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903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C538-F51C-4F5F-043B-4F70D2CD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BF9FB-B32C-AB19-4191-03C53194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en-US" b="1" dirty="0"/>
              <a:t>Theoretical Framework </a:t>
            </a:r>
            <a:br>
              <a:rPr lang="en-US" b="1" dirty="0"/>
            </a:br>
            <a:r>
              <a:rPr lang="ru-RU" dirty="0"/>
              <a:t>From </a:t>
            </a:r>
            <a:r>
              <a:rPr lang="ru-RU" dirty="0" err="1"/>
              <a:t>GANs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Conditional</a:t>
            </a:r>
            <a:r>
              <a:rPr lang="ru-RU" dirty="0"/>
              <a:t> </a:t>
            </a:r>
            <a:r>
              <a:rPr lang="ru-RU" dirty="0" err="1"/>
              <a:t>GANs</a:t>
            </a:r>
            <a:endParaRPr lang="en-US" b="1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D7C73A2-C0DA-CB43-CF01-49BAF1232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2204864"/>
            <a:ext cx="9721080" cy="282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0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4A05-59F4-0989-F4BB-A570D3B3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4D40CB-42CB-128D-6CE9-4861C3A6E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16832"/>
            <a:ext cx="9504858" cy="4249019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/>
              <a:t>The </a:t>
            </a:r>
            <a:r>
              <a:rPr lang="ru-RU" sz="1400" b="1" dirty="0" err="1"/>
              <a:t>paper</a:t>
            </a:r>
            <a:r>
              <a:rPr lang="ru-RU" sz="1400" b="1" dirty="0"/>
              <a:t> </a:t>
            </a:r>
            <a:r>
              <a:rPr lang="ru-RU" sz="1400" b="1" dirty="0" err="1"/>
              <a:t>adapts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GAN </a:t>
            </a:r>
            <a:r>
              <a:rPr lang="ru-RU" sz="1400" b="1" dirty="0" err="1"/>
              <a:t>framework</a:t>
            </a:r>
            <a:r>
              <a:rPr lang="ru-RU" sz="1400" b="1" dirty="0"/>
              <a:t> </a:t>
            </a:r>
            <a:r>
              <a:rPr lang="ru-RU" sz="1400" b="1" dirty="0" err="1"/>
              <a:t>into</a:t>
            </a:r>
            <a:r>
              <a:rPr lang="ru-RU" sz="1400" b="1" dirty="0"/>
              <a:t> a </a:t>
            </a:r>
            <a:r>
              <a:rPr lang="ru-RU" sz="1400" b="1" dirty="0" err="1"/>
              <a:t>conditional</a:t>
            </a:r>
            <a:r>
              <a:rPr lang="ru-RU" sz="1400" b="1" dirty="0"/>
              <a:t> </a:t>
            </a:r>
            <a:r>
              <a:rPr lang="ru-RU" sz="1400" b="1" dirty="0" err="1"/>
              <a:t>architecture</a:t>
            </a:r>
            <a:r>
              <a:rPr lang="ru-RU" sz="1400" b="1" dirty="0"/>
              <a:t> </a:t>
            </a:r>
            <a:r>
              <a:rPr lang="ru-RU" sz="1400" b="1" dirty="0" err="1"/>
              <a:t>for</a:t>
            </a:r>
            <a:r>
              <a:rPr lang="ru-RU" sz="1400" b="1" dirty="0"/>
              <a:t> </a:t>
            </a:r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mocap</a:t>
            </a:r>
            <a:r>
              <a:rPr lang="ru-RU" sz="1400" b="1" dirty="0"/>
              <a:t> </a:t>
            </a:r>
            <a:r>
              <a:rPr lang="ru-RU" sz="1400" b="1" dirty="0" err="1"/>
              <a:t>generation</a:t>
            </a:r>
            <a:r>
              <a:rPr lang="ru-RU" sz="1400" b="1" dirty="0"/>
              <a:t>.</a:t>
            </a:r>
            <a:r>
              <a:rPr lang="en-US" sz="1400" b="1" dirty="0"/>
              <a:t>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2024)</a:t>
            </a:r>
            <a:endParaRPr lang="ru-RU" sz="1400" dirty="0"/>
          </a:p>
          <a:p>
            <a:r>
              <a:rPr lang="ru-RU" sz="1400" b="1" dirty="0" err="1"/>
              <a:t>Generator</a:t>
            </a:r>
            <a:r>
              <a:rPr lang="ru-RU" sz="1400" b="1" dirty="0"/>
              <a:t> </a:t>
            </a:r>
            <a:r>
              <a:rPr lang="ru-RU" sz="1400" b="1" dirty="0" err="1"/>
              <a:t>as</a:t>
            </a:r>
            <a:r>
              <a:rPr lang="ru-RU" sz="1400" b="1" dirty="0"/>
              <a:t> </a:t>
            </a:r>
            <a:r>
              <a:rPr lang="ru-RU" sz="1400" b="1" dirty="0" err="1"/>
              <a:t>an</a:t>
            </a:r>
            <a:r>
              <a:rPr lang="ru-RU" sz="1400" b="1" dirty="0"/>
              <a:t> </a:t>
            </a:r>
            <a:r>
              <a:rPr lang="ru-RU" sz="1400" b="1" dirty="0" err="1"/>
              <a:t>autoencoder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generator</a:t>
            </a:r>
            <a:r>
              <a:rPr lang="ru-RU" sz="1400" dirty="0"/>
              <a:t> </a:t>
            </a:r>
            <a:r>
              <a:rPr lang="ru-RU" sz="1400" dirty="0" err="1"/>
              <a:t>consists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an</a:t>
            </a:r>
            <a:r>
              <a:rPr lang="ru-RU" sz="1400" dirty="0"/>
              <a:t> </a:t>
            </a:r>
            <a:r>
              <a:rPr lang="ru-RU" sz="1400" b="1" dirty="0" err="1"/>
              <a:t>encoder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a </a:t>
            </a:r>
            <a:r>
              <a:rPr lang="ru-RU" sz="1400" b="1" dirty="0" err="1"/>
              <a:t>decoder</a:t>
            </a:r>
            <a:r>
              <a:rPr lang="ru-RU" sz="1400" dirty="0"/>
              <a:t>. The </a:t>
            </a:r>
            <a:r>
              <a:rPr lang="ru-RU" sz="1400" dirty="0" err="1"/>
              <a:t>encoder</a:t>
            </a:r>
            <a:r>
              <a:rPr lang="ru-RU" sz="1400" dirty="0"/>
              <a:t> </a:t>
            </a:r>
            <a:r>
              <a:rPr lang="ru-RU" sz="1400" dirty="0" err="1"/>
              <a:t>compresses</a:t>
            </a:r>
            <a:r>
              <a:rPr lang="ru-RU" sz="1400" dirty="0"/>
              <a:t> </a:t>
            </a:r>
            <a:r>
              <a:rPr lang="ru-RU" sz="1400" dirty="0" err="1"/>
              <a:t>real</a:t>
            </a:r>
            <a:r>
              <a:rPr lang="ru-RU" sz="1400" dirty="0"/>
              <a:t> </a:t>
            </a:r>
            <a:r>
              <a:rPr lang="ru-RU" sz="1400" dirty="0" err="1"/>
              <a:t>mocap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into</a:t>
            </a:r>
            <a:r>
              <a:rPr lang="ru-RU" sz="1400" dirty="0"/>
              <a:t> </a:t>
            </a:r>
            <a:r>
              <a:rPr lang="ru-RU" sz="1400" b="1" dirty="0"/>
              <a:t>a </a:t>
            </a:r>
            <a:r>
              <a:rPr lang="ru-RU" sz="1400" b="1" dirty="0" err="1"/>
              <a:t>latent</a:t>
            </a:r>
            <a:r>
              <a:rPr lang="ru-RU" sz="1400" b="1" dirty="0"/>
              <a:t> </a:t>
            </a:r>
            <a:r>
              <a:rPr lang="ru-RU" sz="1400" b="1" dirty="0" err="1"/>
              <a:t>vector</a:t>
            </a:r>
            <a:r>
              <a:rPr lang="ru-RU" sz="1400" dirty="0"/>
              <a:t>,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decoder</a:t>
            </a:r>
            <a:r>
              <a:rPr lang="ru-RU" sz="1400" dirty="0"/>
              <a:t> </a:t>
            </a:r>
            <a:r>
              <a:rPr lang="ru-RU" sz="1400" dirty="0" err="1"/>
              <a:t>reconstructs</a:t>
            </a:r>
            <a:r>
              <a:rPr lang="ru-RU" sz="1400" dirty="0"/>
              <a:t> </a:t>
            </a:r>
            <a:r>
              <a:rPr lang="ru-RU" sz="1400" dirty="0" err="1"/>
              <a:t>mocap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this</a:t>
            </a:r>
            <a:r>
              <a:rPr lang="ru-RU" sz="1400" dirty="0"/>
              <a:t> </a:t>
            </a:r>
            <a:r>
              <a:rPr lang="ru-RU" sz="1400" dirty="0" err="1"/>
              <a:t>latent</a:t>
            </a:r>
            <a:r>
              <a:rPr lang="ru-RU" sz="1400" dirty="0"/>
              <a:t> </a:t>
            </a:r>
            <a:r>
              <a:rPr lang="ru-RU" sz="1400" dirty="0" err="1"/>
              <a:t>representation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Condition</a:t>
            </a:r>
            <a:r>
              <a:rPr lang="ru-RU" sz="1400" b="1" dirty="0"/>
              <a:t> </a:t>
            </a:r>
            <a:r>
              <a:rPr lang="ru-RU" sz="1400" b="1" dirty="0" err="1"/>
              <a:t>information</a:t>
            </a:r>
            <a:r>
              <a:rPr lang="ru-RU" sz="1400" b="1" dirty="0"/>
              <a:t> </a:t>
            </a:r>
            <a:r>
              <a:rPr lang="ru-RU" sz="1400" b="1" dirty="0" err="1"/>
              <a:t>is</a:t>
            </a:r>
            <a:r>
              <a:rPr lang="ru-RU" sz="1400" b="1" dirty="0"/>
              <a:t> </a:t>
            </a:r>
            <a:r>
              <a:rPr lang="ru-RU" sz="1400" b="1" dirty="0" err="1"/>
              <a:t>added</a:t>
            </a:r>
            <a:r>
              <a:rPr lang="ru-RU" sz="1400" b="1" dirty="0"/>
              <a:t> </a:t>
            </a:r>
            <a:r>
              <a:rPr lang="ru-RU" sz="1400" b="1" dirty="0" err="1"/>
              <a:t>to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latent</a:t>
            </a:r>
            <a:r>
              <a:rPr lang="ru-RU" sz="1400" b="1" dirty="0"/>
              <a:t> </a:t>
            </a:r>
            <a:r>
              <a:rPr lang="ru-RU" sz="1400" b="1" dirty="0" err="1"/>
              <a:t>vector</a:t>
            </a:r>
            <a:r>
              <a:rPr lang="en-US" sz="1400" b="1" dirty="0"/>
              <a:t>: </a:t>
            </a:r>
            <a:r>
              <a:rPr lang="ru-RU" sz="1400" dirty="0" err="1"/>
              <a:t>Subject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characteristics</a:t>
            </a:r>
            <a:r>
              <a:rPr lang="ru-RU" sz="1400" dirty="0"/>
              <a:t> </a:t>
            </a:r>
            <a:r>
              <a:rPr lang="ru-RU" sz="1400" dirty="0" err="1"/>
              <a:t>are</a:t>
            </a:r>
            <a:r>
              <a:rPr lang="ru-RU" sz="1400" dirty="0"/>
              <a:t> </a:t>
            </a:r>
            <a:r>
              <a:rPr lang="ru-RU" sz="1400" dirty="0" err="1"/>
              <a:t>concatenated</a:t>
            </a:r>
            <a:r>
              <a:rPr lang="ru-RU" sz="1400" dirty="0"/>
              <a:t> </a:t>
            </a:r>
            <a:r>
              <a:rPr lang="ru-RU" sz="1400" dirty="0" err="1"/>
              <a:t>with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latent</a:t>
            </a:r>
            <a:r>
              <a:rPr lang="ru-RU" sz="1400" dirty="0"/>
              <a:t> </a:t>
            </a:r>
            <a:r>
              <a:rPr lang="ru-RU" sz="1400" dirty="0" err="1"/>
              <a:t>representation</a:t>
            </a:r>
            <a:r>
              <a:rPr lang="ru-RU" sz="1400" dirty="0"/>
              <a:t> </a:t>
            </a:r>
            <a:r>
              <a:rPr lang="ru-RU" sz="1400" dirty="0" err="1"/>
              <a:t>before</a:t>
            </a:r>
            <a:r>
              <a:rPr lang="ru-RU" sz="1400" dirty="0"/>
              <a:t> </a:t>
            </a:r>
            <a:r>
              <a:rPr lang="ru-RU" sz="1400" dirty="0" err="1"/>
              <a:t>reconstruction</a:t>
            </a:r>
            <a:r>
              <a:rPr lang="ru-RU" sz="1400" dirty="0"/>
              <a:t>.</a:t>
            </a:r>
          </a:p>
          <a:p>
            <a:r>
              <a:rPr lang="ru-RU" sz="1400" b="1" dirty="0"/>
              <a:t>The </a:t>
            </a:r>
            <a:r>
              <a:rPr lang="ru-RU" sz="1400" b="1" dirty="0" err="1"/>
              <a:t>discriminator</a:t>
            </a:r>
            <a:r>
              <a:rPr lang="ru-RU" sz="1400" b="1" dirty="0"/>
              <a:t> </a:t>
            </a:r>
            <a:r>
              <a:rPr lang="ru-RU" sz="1400" b="1" dirty="0" err="1"/>
              <a:t>works</a:t>
            </a:r>
            <a:r>
              <a:rPr lang="ru-RU" sz="1400" b="1" dirty="0"/>
              <a:t> </a:t>
            </a:r>
            <a:r>
              <a:rPr lang="ru-RU" sz="1400" b="1" dirty="0" err="1"/>
              <a:t>in</a:t>
            </a:r>
            <a:r>
              <a:rPr lang="ru-RU" sz="1400" b="1" dirty="0"/>
              <a:t> </a:t>
            </a:r>
            <a:r>
              <a:rPr lang="ru-RU" sz="1400" b="1" dirty="0" err="1"/>
              <a:t>latent</a:t>
            </a:r>
            <a:r>
              <a:rPr lang="ru-RU" sz="1400" b="1" dirty="0"/>
              <a:t> </a:t>
            </a:r>
            <a:r>
              <a:rPr lang="ru-RU" sz="1400" b="1" dirty="0" err="1"/>
              <a:t>space</a:t>
            </a:r>
            <a:r>
              <a:rPr lang="en-US" sz="1400" b="1" dirty="0"/>
              <a:t>: </a:t>
            </a:r>
            <a:r>
              <a:rPr lang="ru-RU" sz="1400" dirty="0"/>
              <a:t>It </a:t>
            </a:r>
            <a:r>
              <a:rPr lang="ru-RU" sz="1400" dirty="0" err="1"/>
              <a:t>learns</a:t>
            </a:r>
            <a:r>
              <a:rPr lang="ru-RU" sz="1400" dirty="0"/>
              <a:t> </a:t>
            </a:r>
            <a:r>
              <a:rPr lang="ru-RU" sz="1400" dirty="0" err="1"/>
              <a:t>to</a:t>
            </a:r>
            <a:r>
              <a:rPr lang="ru-RU" sz="1400" dirty="0"/>
              <a:t> </a:t>
            </a:r>
            <a:r>
              <a:rPr lang="ru-RU" sz="1400" dirty="0" err="1"/>
              <a:t>distinguish</a:t>
            </a:r>
            <a:r>
              <a:rPr lang="ru-RU" sz="1400" dirty="0"/>
              <a:t> </a:t>
            </a:r>
            <a:r>
              <a:rPr lang="ru-RU" sz="1400" dirty="0" err="1"/>
              <a:t>encoded</a:t>
            </a:r>
            <a:r>
              <a:rPr lang="ru-RU" sz="1400" dirty="0"/>
              <a:t> </a:t>
            </a:r>
            <a:r>
              <a:rPr lang="ru-RU" sz="1400" dirty="0" err="1"/>
              <a:t>latent</a:t>
            </a:r>
            <a:r>
              <a:rPr lang="ru-RU" sz="1400" dirty="0"/>
              <a:t> </a:t>
            </a:r>
            <a:r>
              <a:rPr lang="ru-RU" sz="1400" dirty="0" err="1"/>
              <a:t>vectors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random</a:t>
            </a:r>
            <a:r>
              <a:rPr lang="ru-RU" sz="1400" dirty="0"/>
              <a:t> </a:t>
            </a:r>
            <a:r>
              <a:rPr lang="ru-RU" sz="1400" dirty="0" err="1"/>
              <a:t>latent</a:t>
            </a:r>
            <a:r>
              <a:rPr lang="ru-RU" sz="1400" dirty="0"/>
              <a:t> </a:t>
            </a:r>
            <a:r>
              <a:rPr lang="ru-RU" sz="1400" dirty="0" err="1"/>
              <a:t>vectors</a:t>
            </a:r>
            <a:r>
              <a:rPr lang="ru-RU" sz="1400" dirty="0"/>
              <a:t>, </a:t>
            </a:r>
            <a:r>
              <a:rPr lang="ru-RU" sz="1400" dirty="0" err="1"/>
              <a:t>both</a:t>
            </a:r>
            <a:r>
              <a:rPr lang="ru-RU" sz="1400" dirty="0"/>
              <a:t> </a:t>
            </a:r>
            <a:r>
              <a:rPr lang="ru-RU" sz="1400" dirty="0" err="1"/>
              <a:t>combined</a:t>
            </a:r>
            <a:r>
              <a:rPr lang="ru-RU" sz="1400" dirty="0"/>
              <a:t> </a:t>
            </a:r>
            <a:r>
              <a:rPr lang="ru-RU" sz="1400" dirty="0" err="1"/>
              <a:t>with</a:t>
            </a:r>
            <a:r>
              <a:rPr lang="ru-RU" sz="1400" dirty="0"/>
              <a:t> </a:t>
            </a:r>
            <a:r>
              <a:rPr lang="ru-RU" sz="1400" dirty="0" err="1"/>
              <a:t>condition</a:t>
            </a:r>
            <a:r>
              <a:rPr lang="ru-RU" sz="1400" dirty="0"/>
              <a:t> </a:t>
            </a:r>
            <a:r>
              <a:rPr lang="ru-RU" sz="1400" dirty="0" err="1"/>
              <a:t>information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After</a:t>
            </a:r>
            <a:r>
              <a:rPr lang="ru-RU" sz="1400" b="1" dirty="0"/>
              <a:t> </a:t>
            </a:r>
            <a:r>
              <a:rPr lang="ru-RU" sz="1400" b="1" dirty="0" err="1"/>
              <a:t>training</a:t>
            </a:r>
            <a:r>
              <a:rPr lang="ru-RU" sz="1400" b="1" dirty="0"/>
              <a:t>,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decoder</a:t>
            </a:r>
            <a:r>
              <a:rPr lang="ru-RU" sz="1400" b="1" dirty="0"/>
              <a:t> </a:t>
            </a:r>
            <a:r>
              <a:rPr lang="ru-RU" sz="1400" b="1" dirty="0" err="1"/>
              <a:t>becomes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generator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decoder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generate</a:t>
            </a:r>
            <a:r>
              <a:rPr lang="ru-RU" sz="1400" dirty="0"/>
              <a:t>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mocap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a </a:t>
            </a:r>
            <a:r>
              <a:rPr lang="ru-RU" sz="1400" dirty="0" err="1"/>
              <a:t>random</a:t>
            </a:r>
            <a:r>
              <a:rPr lang="ru-RU" sz="1400" dirty="0"/>
              <a:t> </a:t>
            </a:r>
            <a:r>
              <a:rPr lang="ru-RU" sz="1400" dirty="0" err="1"/>
              <a:t>latent</a:t>
            </a:r>
            <a:r>
              <a:rPr lang="ru-RU" sz="1400" dirty="0"/>
              <a:t> </a:t>
            </a:r>
            <a:r>
              <a:rPr lang="ru-RU" sz="1400" dirty="0" err="1"/>
              <a:t>vector</a:t>
            </a:r>
            <a:r>
              <a:rPr lang="ru-RU" sz="1400" dirty="0"/>
              <a:t> </a:t>
            </a:r>
            <a:r>
              <a:rPr lang="ru-RU" sz="1400" dirty="0" err="1"/>
              <a:t>plus</a:t>
            </a:r>
            <a:r>
              <a:rPr lang="ru-RU" sz="1400" dirty="0"/>
              <a:t> </a:t>
            </a:r>
            <a:r>
              <a:rPr lang="ru-RU" sz="1400" dirty="0" err="1"/>
              <a:t>selected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.</a:t>
            </a:r>
          </a:p>
          <a:p>
            <a:r>
              <a:rPr lang="ru-RU" sz="1400" b="1" dirty="0" err="1"/>
              <a:t>This</a:t>
            </a:r>
            <a:r>
              <a:rPr lang="ru-RU" sz="1400" b="1" dirty="0"/>
              <a:t> </a:t>
            </a:r>
            <a:r>
              <a:rPr lang="ru-RU" sz="1400" b="1" dirty="0" err="1"/>
              <a:t>allows</a:t>
            </a:r>
            <a:r>
              <a:rPr lang="ru-RU" sz="1400" b="1" dirty="0"/>
              <a:t> </a:t>
            </a:r>
            <a:r>
              <a:rPr lang="ru-RU" sz="1400" b="1" dirty="0" err="1"/>
              <a:t>controlled</a:t>
            </a:r>
            <a:r>
              <a:rPr lang="ru-RU" sz="1400" b="1" dirty="0"/>
              <a:t> </a:t>
            </a:r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data</a:t>
            </a:r>
            <a:r>
              <a:rPr lang="ru-RU" sz="1400" b="1" dirty="0"/>
              <a:t> </a:t>
            </a:r>
            <a:r>
              <a:rPr lang="ru-RU" sz="1400" b="1" dirty="0" err="1"/>
              <a:t>generation</a:t>
            </a:r>
            <a:r>
              <a:rPr lang="en-US" sz="1400" b="1" dirty="0"/>
              <a:t>: </a:t>
            </a:r>
            <a:r>
              <a:rPr lang="ru-RU" sz="1400" dirty="0"/>
              <a:t>For </a:t>
            </a:r>
            <a:r>
              <a:rPr lang="ru-RU" sz="1400" dirty="0" err="1"/>
              <a:t>example</a:t>
            </a:r>
            <a:r>
              <a:rPr lang="ru-RU" sz="1400" dirty="0"/>
              <a:t>,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model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generate</a:t>
            </a:r>
            <a:r>
              <a:rPr lang="ru-RU" sz="1400" dirty="0"/>
              <a:t> </a:t>
            </a:r>
            <a:r>
              <a:rPr lang="ru-RU" sz="1400" dirty="0" err="1"/>
              <a:t>walking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a </a:t>
            </a:r>
            <a:r>
              <a:rPr lang="ru-RU" sz="1400" dirty="0" err="1"/>
              <a:t>chosen</a:t>
            </a:r>
            <a:r>
              <a:rPr lang="ru-RU" sz="1400" dirty="0"/>
              <a:t> </a:t>
            </a:r>
            <a:r>
              <a:rPr lang="ru-RU" sz="1400" dirty="0" err="1"/>
              <a:t>walking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, </a:t>
            </a:r>
            <a:r>
              <a:rPr lang="ru-RU" sz="1400" dirty="0" err="1"/>
              <a:t>body</a:t>
            </a:r>
            <a:r>
              <a:rPr lang="ru-RU" sz="1400" dirty="0"/>
              <a:t> </a:t>
            </a:r>
            <a:r>
              <a:rPr lang="ru-RU" sz="1400" dirty="0" err="1"/>
              <a:t>mass</a:t>
            </a:r>
            <a:r>
              <a:rPr lang="ru-RU" sz="1400" dirty="0"/>
              <a:t>, </a:t>
            </a:r>
            <a:r>
              <a:rPr lang="ru-RU" sz="1400" dirty="0" err="1"/>
              <a:t>or</a:t>
            </a:r>
            <a:r>
              <a:rPr lang="ru-RU" sz="1400" dirty="0"/>
              <a:t> </a:t>
            </a:r>
            <a:r>
              <a:rPr lang="ru-RU" sz="1400" dirty="0" err="1"/>
              <a:t>combination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 </a:t>
            </a:r>
            <a:r>
              <a:rPr lang="ru-RU" sz="1400" dirty="0" err="1"/>
              <a:t>characteristics</a:t>
            </a:r>
            <a:r>
              <a:rPr lang="ru-RU" sz="1400" dirty="0"/>
              <a:t>.</a:t>
            </a:r>
            <a:br>
              <a:rPr lang="ru-RU" sz="1400" dirty="0"/>
            </a:br>
            <a:endParaRPr lang="ru-RU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77BB9A-D675-E05F-D376-2C4F741E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en-US" b="1" dirty="0"/>
              <a:t>Theoretical Framework </a:t>
            </a:r>
            <a:br>
              <a:rPr lang="en-US" b="1" dirty="0"/>
            </a:br>
            <a:r>
              <a:rPr lang="ru-RU" dirty="0" err="1"/>
              <a:t>cGAN</a:t>
            </a:r>
            <a:r>
              <a:rPr lang="ru-RU" dirty="0"/>
              <a:t> Architecture </a:t>
            </a:r>
            <a:r>
              <a:rPr lang="ru-RU" dirty="0" err="1"/>
              <a:t>Used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Paper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756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7D79-277E-4EB1-5EBA-AC69BE09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EEE1421-9909-03BA-D9C3-EEDB6AF6ACC6}"/>
              </a:ext>
            </a:extLst>
          </p:cNvPr>
          <p:cNvSpPr/>
          <p:nvPr/>
        </p:nvSpPr>
        <p:spPr>
          <a:xfrm>
            <a:off x="1920240" y="2050504"/>
            <a:ext cx="429768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33645F-1D16-CE11-FEF0-9F3C76112208}"/>
              </a:ext>
            </a:extLst>
          </p:cNvPr>
          <p:cNvSpPr/>
          <p:nvPr/>
        </p:nvSpPr>
        <p:spPr>
          <a:xfrm>
            <a:off x="2084831" y="1867624"/>
            <a:ext cx="1325880" cy="384048"/>
          </a:xfrm>
          <a:prstGeom prst="roundRect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6EF12-1C51-9B4B-F98E-8F34D26AF4EA}"/>
              </a:ext>
            </a:extLst>
          </p:cNvPr>
          <p:cNvSpPr txBox="1"/>
          <p:nvPr/>
        </p:nvSpPr>
        <p:spPr>
          <a:xfrm>
            <a:off x="2176272" y="2370544"/>
            <a:ext cx="3840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232323"/>
                </a:solidFill>
                <a:latin typeface="Calibri"/>
              </a:rPr>
              <a:t>Public walking mocap dataset </a:t>
            </a:r>
            <a:r>
              <a:rPr sz="1050" i="1" dirty="0">
                <a:solidFill>
                  <a:srgbClr val="5F5F5F"/>
                </a:solidFill>
                <a:latin typeface="Calibri"/>
              </a:rPr>
              <a:t>(Schreiber &amp; </a:t>
            </a:r>
            <a:r>
              <a:rPr sz="1050" i="1" dirty="0" err="1">
                <a:solidFill>
                  <a:srgbClr val="5F5F5F"/>
                </a:solidFill>
                <a:latin typeface="Calibri"/>
              </a:rPr>
              <a:t>Moissenet</a:t>
            </a:r>
            <a:r>
              <a:rPr sz="1050" i="1" dirty="0">
                <a:solidFill>
                  <a:srgbClr val="5F5F5F"/>
                </a:solidFill>
                <a:latin typeface="Calibri"/>
              </a:rPr>
              <a:t>, 2019; Bicer et al., 2024)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232323"/>
                </a:solidFill>
                <a:latin typeface="Calibri"/>
              </a:rPr>
              <a:t>Training: </a:t>
            </a:r>
          </a:p>
          <a:p>
            <a:pPr lvl="1">
              <a:spcAft>
                <a:spcPts val="800"/>
              </a:spcAft>
            </a:pPr>
            <a:r>
              <a:rPr sz="1200" dirty="0">
                <a:solidFill>
                  <a:srgbClr val="232323"/>
                </a:solidFill>
                <a:latin typeface="Calibri"/>
              </a:rPr>
              <a:t>733 trials, 46 subjects
21 females / 25 males
walking speed: 0.18–2.04 m/s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232323"/>
                </a:solidFill>
                <a:latin typeface="Calibri"/>
              </a:rPr>
              <a:t>Test: </a:t>
            </a:r>
          </a:p>
          <a:p>
            <a:pPr lvl="1">
              <a:spcAft>
                <a:spcPts val="800"/>
              </a:spcAft>
            </a:pPr>
            <a:r>
              <a:rPr sz="1200" dirty="0">
                <a:solidFill>
                  <a:srgbClr val="232323"/>
                </a:solidFill>
                <a:latin typeface="Calibri"/>
              </a:rPr>
              <a:t>47 trials, 3 unseen subjects
selected as extreme cases
up to 2.36 m/s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3DC367-76FB-C1B0-9858-B45E29A210D3}"/>
              </a:ext>
            </a:extLst>
          </p:cNvPr>
          <p:cNvSpPr/>
          <p:nvPr/>
        </p:nvSpPr>
        <p:spPr>
          <a:xfrm>
            <a:off x="6400800" y="2050504"/>
            <a:ext cx="516636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94A229-9C31-5B71-91DC-68815CE0D728}"/>
              </a:ext>
            </a:extLst>
          </p:cNvPr>
          <p:cNvSpPr/>
          <p:nvPr/>
        </p:nvSpPr>
        <p:spPr>
          <a:xfrm>
            <a:off x="6565392" y="1867624"/>
            <a:ext cx="2057400" cy="384048"/>
          </a:xfrm>
          <a:prstGeom prst="roundRect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Extracted features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98EC37-99B9-FDC8-4354-F08D6F87DA49}"/>
              </a:ext>
            </a:extLst>
          </p:cNvPr>
          <p:cNvSpPr/>
          <p:nvPr/>
        </p:nvSpPr>
        <p:spPr>
          <a:xfrm>
            <a:off x="6629400" y="2416264"/>
            <a:ext cx="2148840" cy="658368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Marker trajectories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747C10-23D1-C7E4-04A7-E90A23397A6D}"/>
              </a:ext>
            </a:extLst>
          </p:cNvPr>
          <p:cNvSpPr/>
          <p:nvPr/>
        </p:nvSpPr>
        <p:spPr>
          <a:xfrm>
            <a:off x="9098280" y="2416264"/>
            <a:ext cx="2148840" cy="658368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Pelvis and right-leg kinematics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D1452C3-966E-56FB-CAC1-2ECC7999EECF}"/>
              </a:ext>
            </a:extLst>
          </p:cNvPr>
          <p:cNvSpPr/>
          <p:nvPr/>
        </p:nvSpPr>
        <p:spPr>
          <a:xfrm>
            <a:off x="6629400" y="3330664"/>
            <a:ext cx="2148840" cy="658368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ru-RU" sz="1200" b="1" dirty="0" err="1">
                <a:solidFill>
                  <a:srgbClr val="003F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Right-leg</a:t>
            </a:r>
            <a:r>
              <a:rPr lang="ru-RU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200" b="1" dirty="0">
                <a:solidFill>
                  <a:srgbClr val="0443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200" b="1" dirty="0">
                <a:solidFill>
                  <a:srgbClr val="0443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1200" b="1" dirty="0">
                <a:solidFill>
                  <a:srgbClr val="04437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ground reaction forces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09EAED5-33A9-1CCC-C2C5-00B41C9B69D2}"/>
              </a:ext>
            </a:extLst>
          </p:cNvPr>
          <p:cNvSpPr/>
          <p:nvPr/>
        </p:nvSpPr>
        <p:spPr>
          <a:xfrm>
            <a:off x="9098280" y="3330664"/>
            <a:ext cx="2148840" cy="658368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Time-normalized gait cycles: 0–100%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CCDA12-4DA9-2BC8-5EED-E5F5709A2FC9}"/>
              </a:ext>
            </a:extLst>
          </p:cNvPr>
          <p:cNvSpPr txBox="1"/>
          <p:nvPr/>
        </p:nvSpPr>
        <p:spPr>
          <a:xfrm>
            <a:off x="6720840" y="4245064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>
                <a:solidFill>
                  <a:srgbClr val="5F5F5F"/>
                </a:solidFill>
                <a:latin typeface="Calibri"/>
              </a:rPr>
              <a:t>All gait cycles were normalized to make trials directly comparable.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9E4FF9-FA34-D704-B11D-2672DE903BB7}"/>
              </a:ext>
            </a:extLst>
          </p:cNvPr>
          <p:cNvSpPr txBox="1"/>
          <p:nvPr/>
        </p:nvSpPr>
        <p:spPr>
          <a:xfrm>
            <a:off x="1920240" y="527833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44374"/>
                </a:solidFill>
                <a:latin typeface="Calibri"/>
              </a:rPr>
              <a:t>Conditions: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98B716A-98C9-ABCA-7210-F23019D4A6C6}"/>
              </a:ext>
            </a:extLst>
          </p:cNvPr>
          <p:cNvSpPr/>
          <p:nvPr/>
        </p:nvSpPr>
        <p:spPr>
          <a:xfrm>
            <a:off x="2971800" y="5205184"/>
            <a:ext cx="731520" cy="384048"/>
          </a:xfrm>
          <a:prstGeom prst="roundRect">
            <a:avLst/>
          </a:prstGeom>
          <a:solidFill>
            <a:srgbClr val="DBEFF6"/>
          </a:solidFill>
          <a:ln w="10160">
            <a:solidFill>
              <a:srgbClr val="1CA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4B30DF5-7273-E2C1-5323-9D7E49F04B06}"/>
              </a:ext>
            </a:extLst>
          </p:cNvPr>
          <p:cNvSpPr/>
          <p:nvPr/>
        </p:nvSpPr>
        <p:spPr>
          <a:xfrm>
            <a:off x="3840480" y="5205184"/>
            <a:ext cx="685800" cy="384048"/>
          </a:xfrm>
          <a:prstGeom prst="roundRect">
            <a:avLst/>
          </a:prstGeom>
          <a:solidFill>
            <a:srgbClr val="D1E9F6"/>
          </a:solidFill>
          <a:ln w="10160">
            <a:solidFill>
              <a:srgbClr val="1CA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sex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19C0F1C-EC0E-938F-91F5-C13EAECA83E0}"/>
              </a:ext>
            </a:extLst>
          </p:cNvPr>
          <p:cNvSpPr/>
          <p:nvPr/>
        </p:nvSpPr>
        <p:spPr>
          <a:xfrm>
            <a:off x="4663440" y="5205184"/>
            <a:ext cx="868680" cy="384048"/>
          </a:xfrm>
          <a:prstGeom prst="roundRect">
            <a:avLst/>
          </a:prstGeom>
          <a:solidFill>
            <a:srgbClr val="DBEFF6"/>
          </a:solidFill>
          <a:ln w="10160">
            <a:solidFill>
              <a:srgbClr val="1CA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mass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F45424A-7504-1E3B-5D4A-26073E56FD4D}"/>
              </a:ext>
            </a:extLst>
          </p:cNvPr>
          <p:cNvSpPr/>
          <p:nvPr/>
        </p:nvSpPr>
        <p:spPr>
          <a:xfrm>
            <a:off x="5669280" y="5205184"/>
            <a:ext cx="1234440" cy="384048"/>
          </a:xfrm>
          <a:prstGeom prst="roundRect">
            <a:avLst/>
          </a:prstGeom>
          <a:solidFill>
            <a:srgbClr val="D1E9F6"/>
          </a:solidFill>
          <a:ln w="10160">
            <a:solidFill>
              <a:srgbClr val="1CA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leg length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2E68E3F-9E0F-6A82-1A60-355A3AF0800D}"/>
              </a:ext>
            </a:extLst>
          </p:cNvPr>
          <p:cNvSpPr/>
          <p:nvPr/>
        </p:nvSpPr>
        <p:spPr>
          <a:xfrm>
            <a:off x="7040880" y="5205184"/>
            <a:ext cx="1417320" cy="384048"/>
          </a:xfrm>
          <a:prstGeom prst="roundRect">
            <a:avLst/>
          </a:prstGeom>
          <a:solidFill>
            <a:srgbClr val="DBEFF6"/>
          </a:solidFill>
          <a:ln w="10160">
            <a:solidFill>
              <a:srgbClr val="1CA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44374"/>
                </a:solidFill>
                <a:latin typeface="Calibri"/>
              </a:rPr>
              <a:t>walking speed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C6858C-9828-2238-BA11-49CA1EDD0978}"/>
              </a:ext>
            </a:extLst>
          </p:cNvPr>
          <p:cNvSpPr txBox="1"/>
          <p:nvPr/>
        </p:nvSpPr>
        <p:spPr>
          <a:xfrm>
            <a:off x="1920240" y="58909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5F5F5F"/>
                </a:solidFill>
                <a:latin typeface="Calibri"/>
              </a:rPr>
              <a:t>Sources: Schreiber &amp; </a:t>
            </a:r>
            <a:r>
              <a:rPr sz="900" i="1" dirty="0" err="1">
                <a:solidFill>
                  <a:srgbClr val="5F5F5F"/>
                </a:solidFill>
                <a:latin typeface="Calibri"/>
              </a:rPr>
              <a:t>Moissenet</a:t>
            </a:r>
            <a:r>
              <a:rPr sz="900" i="1" dirty="0">
                <a:solidFill>
                  <a:srgbClr val="5F5F5F"/>
                </a:solidFill>
                <a:latin typeface="Calibri"/>
              </a:rPr>
              <a:t> (2019); Bicer et al. (2024)</a:t>
            </a:r>
          </a:p>
        </p:txBody>
      </p:sp>
      <p:sp>
        <p:nvSpPr>
          <p:cNvPr id="31" name="Titel 1">
            <a:extLst>
              <a:ext uri="{FF2B5EF4-FFF2-40B4-BE49-F238E27FC236}">
                <a16:creationId xmlns:a16="http://schemas.microsoft.com/office/drawing/2014/main" id="{0E5BA97A-7CE3-6991-0EDE-629DA0B9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Dataset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Conditions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252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1F223-8F51-A0A8-275F-AC643666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140DF-BCA9-5772-112F-963A5343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3"/>
            <a:ext cx="9217656" cy="1131555"/>
          </a:xfrm>
        </p:spPr>
        <p:txBody>
          <a:bodyPr/>
          <a:lstStyle/>
          <a:p>
            <a:r>
              <a:rPr lang="ru-RU" b="1" dirty="0" err="1"/>
              <a:t>Reproduction</a:t>
            </a:r>
            <a:r>
              <a:rPr lang="ru-RU" b="1" dirty="0"/>
              <a:t> </a:t>
            </a:r>
            <a:r>
              <a:rPr lang="ru-RU" b="1" dirty="0" err="1"/>
              <a:t>Workflow</a:t>
            </a:r>
            <a:br>
              <a:rPr lang="ru-RU" b="1" dirty="0"/>
            </a:br>
            <a:r>
              <a:rPr lang="ru-RU" dirty="0"/>
              <a:t>From </a:t>
            </a:r>
            <a:r>
              <a:rPr lang="ru-RU" dirty="0" err="1"/>
              <a:t>Original</a:t>
            </a:r>
            <a:r>
              <a:rPr lang="ru-RU" dirty="0"/>
              <a:t> </a:t>
            </a:r>
            <a:r>
              <a:rPr lang="ru-RU" dirty="0" err="1"/>
              <a:t>Repository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Reproduced</a:t>
            </a:r>
            <a:r>
              <a:rPr lang="ru-RU" dirty="0"/>
              <a:t> </a:t>
            </a:r>
            <a:r>
              <a:rPr lang="ru-RU" dirty="0" err="1"/>
              <a:t>Results</a:t>
            </a:r>
            <a:br>
              <a:rPr lang="en-US" dirty="0"/>
            </a:br>
            <a:r>
              <a:rPr lang="en-US" dirty="0"/>
              <a:t>P</a:t>
            </a:r>
            <a:r>
              <a:rPr lang="ru-RU" dirty="0" err="1"/>
              <a:t>ipeline</a:t>
            </a:r>
            <a:endParaRPr lang="ru-RU" dirty="0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F4AB2D7D-8371-46F1-9A7C-FDFF2153EF15}"/>
              </a:ext>
            </a:extLst>
          </p:cNvPr>
          <p:cNvSpPr/>
          <p:nvPr/>
        </p:nvSpPr>
        <p:spPr>
          <a:xfrm>
            <a:off x="2041695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1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Environment
setup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Python, PyTorch,
CUDA/GPU check</a:t>
            </a:r>
          </a:p>
        </p:txBody>
      </p:sp>
      <p:sp>
        <p:nvSpPr>
          <p:cNvPr id="8" name="Isosceles Triangle 10">
            <a:extLst>
              <a:ext uri="{FF2B5EF4-FFF2-40B4-BE49-F238E27FC236}">
                <a16:creationId xmlns:a16="http://schemas.microsoft.com/office/drawing/2014/main" id="{3CB9AE12-747A-E946-B27F-F549CF7BE742}"/>
              </a:ext>
            </a:extLst>
          </p:cNvPr>
          <p:cNvSpPr/>
          <p:nvPr/>
        </p:nvSpPr>
        <p:spPr>
          <a:xfrm rot="5400000">
            <a:off x="3596176" y="2856312"/>
            <a:ext cx="146304" cy="182880"/>
          </a:xfrm>
          <a:prstGeom prst="triangle">
            <a:avLst/>
          </a:prstGeom>
          <a:solidFill>
            <a:srgbClr val="00A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2CBBE2D1-8DDB-0B62-DAC8-10FB1179BF9E}"/>
              </a:ext>
            </a:extLst>
          </p:cNvPr>
          <p:cNvSpPr/>
          <p:nvPr/>
        </p:nvSpPr>
        <p:spPr>
          <a:xfrm>
            <a:off x="3751624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2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Repository
preparation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Clone repo and set
working directory</a:t>
            </a:r>
          </a:p>
        </p:txBody>
      </p:sp>
      <p:sp>
        <p:nvSpPr>
          <p:cNvPr id="10" name="Isosceles Triangle 12">
            <a:extLst>
              <a:ext uri="{FF2B5EF4-FFF2-40B4-BE49-F238E27FC236}">
                <a16:creationId xmlns:a16="http://schemas.microsoft.com/office/drawing/2014/main" id="{A9E8C375-B232-0B0B-1BD1-141AE9C4A963}"/>
              </a:ext>
            </a:extLst>
          </p:cNvPr>
          <p:cNvSpPr/>
          <p:nvPr/>
        </p:nvSpPr>
        <p:spPr>
          <a:xfrm rot="5400000">
            <a:off x="5306104" y="2856312"/>
            <a:ext cx="146304" cy="182880"/>
          </a:xfrm>
          <a:prstGeom prst="triangle">
            <a:avLst/>
          </a:prstGeom>
          <a:solidFill>
            <a:srgbClr val="00A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7550D997-81B0-8216-FB55-2237D73C653D}"/>
              </a:ext>
            </a:extLst>
          </p:cNvPr>
          <p:cNvSpPr/>
          <p:nvPr/>
        </p:nvSpPr>
        <p:spPr>
          <a:xfrm>
            <a:off x="5461552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3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Dependencies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Install spm1d,
ezc3d, statsmodels</a:t>
            </a:r>
          </a:p>
        </p:txBody>
      </p:sp>
      <p:sp>
        <p:nvSpPr>
          <p:cNvPr id="12" name="Isosceles Triangle 14">
            <a:extLst>
              <a:ext uri="{FF2B5EF4-FFF2-40B4-BE49-F238E27FC236}">
                <a16:creationId xmlns:a16="http://schemas.microsoft.com/office/drawing/2014/main" id="{57735553-B10B-805C-1754-96F7559C197B}"/>
              </a:ext>
            </a:extLst>
          </p:cNvPr>
          <p:cNvSpPr/>
          <p:nvPr/>
        </p:nvSpPr>
        <p:spPr>
          <a:xfrm rot="5400000">
            <a:off x="7016032" y="2856312"/>
            <a:ext cx="146304" cy="182880"/>
          </a:xfrm>
          <a:prstGeom prst="triangle">
            <a:avLst/>
          </a:prstGeom>
          <a:solidFill>
            <a:srgbClr val="00A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F5691F70-8D0D-4AA6-2A6F-67E306CF50C7}"/>
              </a:ext>
            </a:extLst>
          </p:cNvPr>
          <p:cNvSpPr/>
          <p:nvPr/>
        </p:nvSpPr>
        <p:spPr>
          <a:xfrm>
            <a:off x="7171480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4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Test training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10-epoch WS-cGAN
pipeline check</a:t>
            </a:r>
          </a:p>
        </p:txBody>
      </p:sp>
      <p:sp>
        <p:nvSpPr>
          <p:cNvPr id="14" name="Isosceles Triangle 16">
            <a:extLst>
              <a:ext uri="{FF2B5EF4-FFF2-40B4-BE49-F238E27FC236}">
                <a16:creationId xmlns:a16="http://schemas.microsoft.com/office/drawing/2014/main" id="{DD493B3B-8933-4C06-11FD-914493B63135}"/>
              </a:ext>
            </a:extLst>
          </p:cNvPr>
          <p:cNvSpPr/>
          <p:nvPr/>
        </p:nvSpPr>
        <p:spPr>
          <a:xfrm rot="5400000">
            <a:off x="8725960" y="2856312"/>
            <a:ext cx="146304" cy="182880"/>
          </a:xfrm>
          <a:prstGeom prst="triangle">
            <a:avLst/>
          </a:prstGeom>
          <a:solidFill>
            <a:srgbClr val="00A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82BA0DEA-C960-85DA-11D0-6B8F3223F1F6}"/>
              </a:ext>
            </a:extLst>
          </p:cNvPr>
          <p:cNvSpPr/>
          <p:nvPr/>
        </p:nvSpPr>
        <p:spPr>
          <a:xfrm>
            <a:off x="8881408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5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Full training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WS-cGAN, 3000
epochs, walking speed</a:t>
            </a:r>
          </a:p>
        </p:txBody>
      </p:sp>
      <p:sp>
        <p:nvSpPr>
          <p:cNvPr id="16" name="Isosceles Triangle 18">
            <a:extLst>
              <a:ext uri="{FF2B5EF4-FFF2-40B4-BE49-F238E27FC236}">
                <a16:creationId xmlns:a16="http://schemas.microsoft.com/office/drawing/2014/main" id="{A02979F8-9851-4059-78F7-2C692A94D62F}"/>
              </a:ext>
            </a:extLst>
          </p:cNvPr>
          <p:cNvSpPr/>
          <p:nvPr/>
        </p:nvSpPr>
        <p:spPr>
          <a:xfrm rot="5400000">
            <a:off x="10435888" y="2856312"/>
            <a:ext cx="146304" cy="182880"/>
          </a:xfrm>
          <a:prstGeom prst="triangle">
            <a:avLst/>
          </a:prstGeom>
          <a:solidFill>
            <a:srgbClr val="00A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EF59CF81-09F3-F7B4-BD73-F055CF0AFAAE}"/>
              </a:ext>
            </a:extLst>
          </p:cNvPr>
          <p:cNvSpPr/>
          <p:nvPr/>
        </p:nvSpPr>
        <p:spPr>
          <a:xfrm>
            <a:off x="10591336" y="2517984"/>
            <a:ext cx="1481328" cy="886968"/>
          </a:xfrm>
          <a:prstGeom prst="roundRect">
            <a:avLst/>
          </a:prstGeom>
          <a:solidFill>
            <a:srgbClr val="DEF6FA"/>
          </a:solidFill>
          <a:ln w="15875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54864" rIns="45720" rtlCol="0" anchor="ctr"/>
          <a:lstStyle/>
          <a:p>
            <a:pPr algn="ctr"/>
            <a:r>
              <a:rPr sz="1200" b="1">
                <a:solidFill>
                  <a:srgbClr val="005C91"/>
                </a:solidFill>
                <a:latin typeface="Arial"/>
              </a:rPr>
              <a:t>6</a:t>
            </a:r>
          </a:p>
          <a:p>
            <a:pPr algn="ctr"/>
            <a:r>
              <a:rPr sz="1120" b="1">
                <a:solidFill>
                  <a:srgbClr val="232323"/>
                </a:solidFill>
                <a:latin typeface="Arial"/>
              </a:rPr>
              <a:t>Evaluation</a:t>
            </a:r>
          </a:p>
          <a:p>
            <a:pPr algn="ctr"/>
            <a:r>
              <a:rPr sz="810">
                <a:solidFill>
                  <a:srgbClr val="5F6A76"/>
                </a:solidFill>
                <a:latin typeface="Arial"/>
              </a:rPr>
              <a:t>Run scripts and
inspect figures/results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16D0A-305C-A860-EF8D-AF2A72A0772B}"/>
              </a:ext>
            </a:extLst>
          </p:cNvPr>
          <p:cNvSpPr txBox="1"/>
          <p:nvPr/>
        </p:nvSpPr>
        <p:spPr>
          <a:xfrm>
            <a:off x="2041695" y="357301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05C91"/>
                </a:solidFill>
                <a:latin typeface="Arial"/>
              </a:rPr>
              <a:t>What was reproduced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2076B-B78B-39A2-A1DC-48443EBE452E}"/>
              </a:ext>
            </a:extLst>
          </p:cNvPr>
          <p:cNvSpPr txBox="1"/>
          <p:nvPr/>
        </p:nvSpPr>
        <p:spPr>
          <a:xfrm>
            <a:off x="2041695" y="3902199"/>
            <a:ext cx="4983480" cy="179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dirty="0">
                <a:solidFill>
                  <a:srgbClr val="232323"/>
                </a:solidFill>
                <a:latin typeface="Arial"/>
              </a:rPr>
              <a:t>• Training dataset comparison</a:t>
            </a:r>
          </a:p>
          <a:p>
            <a:r>
              <a:rPr sz="1240" dirty="0">
                <a:solidFill>
                  <a:srgbClr val="232323"/>
                </a:solidFill>
                <a:latin typeface="Arial"/>
              </a:rPr>
              <a:t>• Dimensionless walking speed analysis</a:t>
            </a:r>
          </a:p>
          <a:p>
            <a:r>
              <a:rPr sz="1240" dirty="0">
                <a:solidFill>
                  <a:srgbClr val="232323"/>
                </a:solidFill>
                <a:latin typeface="Arial"/>
              </a:rPr>
              <a:t>• Literature findings replication</a:t>
            </a:r>
          </a:p>
          <a:p>
            <a:r>
              <a:rPr sz="1240" dirty="0">
                <a:solidFill>
                  <a:srgbClr val="232323"/>
                </a:solidFill>
                <a:latin typeface="Arial"/>
              </a:rPr>
              <a:t>• Subject-specific prediction for unseen test subjects</a:t>
            </a:r>
          </a:p>
          <a:p>
            <a:r>
              <a:rPr sz="1240" dirty="0">
                <a:solidFill>
                  <a:srgbClr val="232323"/>
                </a:solidFill>
                <a:latin typeface="Arial"/>
              </a:rPr>
              <a:t>• Dynamic consistency analysis</a:t>
            </a:r>
            <a:endParaRPr lang="ru-RU" sz="1240" dirty="0">
              <a:solidFill>
                <a:srgbClr val="232323"/>
              </a:solidFill>
              <a:latin typeface="Arial"/>
            </a:endParaRPr>
          </a:p>
          <a:p>
            <a:endParaRPr lang="ru-RU" sz="1240" dirty="0">
              <a:solidFill>
                <a:srgbClr val="232323"/>
              </a:solidFill>
              <a:latin typeface="Arial"/>
            </a:endParaRPr>
          </a:p>
          <a:p>
            <a:r>
              <a:rPr lang="ru-RU" sz="1200" b="1" dirty="0" err="1"/>
              <a:t>Colab</a:t>
            </a:r>
            <a:r>
              <a:rPr lang="ru-RU" sz="1200" b="1" dirty="0"/>
              <a:t> </a:t>
            </a:r>
            <a:r>
              <a:rPr lang="ru-RU" sz="1200" b="1" dirty="0" err="1"/>
              <a:t>compatibility</a:t>
            </a:r>
            <a:r>
              <a:rPr lang="ru-RU" sz="1200" b="1" dirty="0"/>
              <a:t> </a:t>
            </a:r>
            <a:r>
              <a:rPr lang="ru-RU" sz="1200" b="1" dirty="0" err="1"/>
              <a:t>fixes</a:t>
            </a:r>
            <a:br>
              <a:rPr lang="ru-RU" sz="1200" dirty="0"/>
            </a:br>
            <a:r>
              <a:rPr lang="ru-RU" sz="1200" dirty="0" err="1"/>
              <a:t>Updated</a:t>
            </a:r>
            <a:r>
              <a:rPr lang="ru-RU" sz="1200" dirty="0"/>
              <a:t> </a:t>
            </a:r>
            <a:r>
              <a:rPr lang="ru-RU" sz="1200" dirty="0" err="1"/>
              <a:t>missing</a:t>
            </a:r>
            <a:r>
              <a:rPr lang="ru-RU" sz="1200" dirty="0"/>
              <a:t> </a:t>
            </a:r>
            <a:r>
              <a:rPr lang="ru-RU" sz="1200" dirty="0" err="1"/>
              <a:t>imports</a:t>
            </a:r>
            <a:r>
              <a:rPr lang="ru-RU" sz="1200" dirty="0"/>
              <a:t>, </a:t>
            </a:r>
            <a:r>
              <a:rPr lang="ru-RU" sz="1200" dirty="0" err="1"/>
              <a:t>disabled</a:t>
            </a:r>
            <a:r>
              <a:rPr lang="ru-RU" sz="1200" dirty="0"/>
              <a:t> </a:t>
            </a:r>
            <a:r>
              <a:rPr lang="ru-RU" sz="1200" dirty="0" err="1"/>
              <a:t>problematic</a:t>
            </a:r>
            <a:r>
              <a:rPr lang="ru-RU" sz="1200" dirty="0"/>
              <a:t> </a:t>
            </a:r>
            <a:r>
              <a:rPr lang="ru-RU" sz="1200" dirty="0" err="1"/>
              <a:t>LaTeX</a:t>
            </a:r>
            <a:r>
              <a:rPr lang="ru-RU" sz="1200" dirty="0"/>
              <a:t> </a:t>
            </a:r>
            <a:r>
              <a:rPr lang="ru-RU" sz="1200" dirty="0" err="1"/>
              <a:t>rendering</a:t>
            </a:r>
            <a:r>
              <a:rPr lang="ru-RU" sz="1200" dirty="0"/>
              <a:t>, </a:t>
            </a:r>
            <a:r>
              <a:rPr lang="ru-RU" sz="1200" dirty="0" err="1"/>
              <a:t>and</a:t>
            </a:r>
            <a:r>
              <a:rPr lang="ru-RU" sz="1200" dirty="0"/>
              <a:t> </a:t>
            </a:r>
            <a:r>
              <a:rPr lang="ru-RU" sz="1200" dirty="0" err="1"/>
              <a:t>adjusted</a:t>
            </a:r>
            <a:r>
              <a:rPr lang="ru-RU" sz="1200" dirty="0"/>
              <a:t> </a:t>
            </a:r>
            <a:r>
              <a:rPr lang="ru-RU" sz="1200" dirty="0" err="1"/>
              <a:t>paths</a:t>
            </a:r>
            <a:r>
              <a:rPr lang="ru-RU" sz="1200" dirty="0"/>
              <a:t>/</a:t>
            </a:r>
            <a:r>
              <a:rPr lang="ru-RU" sz="1200" dirty="0" err="1"/>
              <a:t>output</a:t>
            </a:r>
            <a:r>
              <a:rPr lang="ru-RU" sz="1200" dirty="0"/>
              <a:t> </a:t>
            </a:r>
            <a:r>
              <a:rPr lang="ru-RU" sz="1200" dirty="0" err="1"/>
              <a:t>handling</a:t>
            </a:r>
            <a:r>
              <a:rPr lang="ru-RU" sz="1200" dirty="0"/>
              <a:t>.</a:t>
            </a:r>
            <a:endParaRPr sz="124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20" name="Rounded Rectangle 22">
            <a:extLst>
              <a:ext uri="{FF2B5EF4-FFF2-40B4-BE49-F238E27FC236}">
                <a16:creationId xmlns:a16="http://schemas.microsoft.com/office/drawing/2014/main" id="{FD19AE5D-D770-D35F-239B-C478D2CD5D68}"/>
              </a:ext>
            </a:extLst>
          </p:cNvPr>
          <p:cNvSpPr/>
          <p:nvPr/>
        </p:nvSpPr>
        <p:spPr>
          <a:xfrm>
            <a:off x="7253776" y="3789000"/>
            <a:ext cx="4096512" cy="1417320"/>
          </a:xfrm>
          <a:prstGeom prst="roundRect">
            <a:avLst/>
          </a:prstGeom>
          <a:solidFill>
            <a:srgbClr val="F2FAFC"/>
          </a:solidFill>
          <a:ln w="12700">
            <a:solidFill>
              <a:srgbClr val="00A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D27465-02AE-4995-BCFE-375F21F6F3C9}"/>
              </a:ext>
            </a:extLst>
          </p:cNvPr>
          <p:cNvSpPr txBox="1"/>
          <p:nvPr/>
        </p:nvSpPr>
        <p:spPr>
          <a:xfrm>
            <a:off x="7464088" y="3990168"/>
            <a:ext cx="370332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232323"/>
                </a:solidFill>
                <a:latin typeface="Courier New"/>
              </a:rPr>
              <a:t>train_cgan(
    label_col_contd=['walking_speed'],
    n_epochs=3000,
    model_name='wscgan'
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7D7D6-CEF1-BA63-DD22-96238A583AA9}"/>
              </a:ext>
            </a:extLst>
          </p:cNvPr>
          <p:cNvSpPr txBox="1"/>
          <p:nvPr/>
        </p:nvSpPr>
        <p:spPr>
          <a:xfrm>
            <a:off x="2041695" y="5733256"/>
            <a:ext cx="9253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70C0"/>
                </a:solidFill>
                <a:latin typeface="Arial"/>
              </a:rPr>
              <a:t>Takeaway: The original workflow was reproduced as an end-to-end pipeline: setup - training - compatibility fixes - evaluation - figures and results.</a:t>
            </a:r>
          </a:p>
        </p:txBody>
      </p:sp>
    </p:spTree>
    <p:extLst>
      <p:ext uri="{BB962C8B-B14F-4D97-AF65-F5344CB8AC3E}">
        <p14:creationId xmlns:p14="http://schemas.microsoft.com/office/powerpoint/2010/main" val="263403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58A3-C012-88F9-30F9-AC1CE3BE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5911D-F1D9-EF96-E116-0BFAD3B53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369218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endParaRPr lang="ru-RU" dirty="0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C2608080-AEA4-07B1-2846-0263284FEAAB}"/>
              </a:ext>
            </a:extLst>
          </p:cNvPr>
          <p:cNvSpPr/>
          <p:nvPr/>
        </p:nvSpPr>
        <p:spPr>
          <a:xfrm>
            <a:off x="1920240" y="1783080"/>
            <a:ext cx="256032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C99A206-C249-AD69-6B50-7B7D4A2A00E1}"/>
              </a:ext>
            </a:extLst>
          </p:cNvPr>
          <p:cNvSpPr/>
          <p:nvPr/>
        </p:nvSpPr>
        <p:spPr>
          <a:xfrm>
            <a:off x="1920240" y="1783080"/>
            <a:ext cx="2560320" cy="347472"/>
          </a:xfrm>
          <a:prstGeom prst="roundRect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Block 1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26523DF1-AE89-4F7F-F7D9-DB963EC94B88}"/>
              </a:ext>
            </a:extLst>
          </p:cNvPr>
          <p:cNvSpPr/>
          <p:nvPr/>
        </p:nvSpPr>
        <p:spPr>
          <a:xfrm>
            <a:off x="2029968" y="2240280"/>
            <a:ext cx="438912" cy="438912"/>
          </a:xfrm>
          <a:prstGeom prst="ellipse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E7DA0-8D61-8335-0237-D1A16CAE7A25}"/>
              </a:ext>
            </a:extLst>
          </p:cNvPr>
          <p:cNvSpPr txBox="1"/>
          <p:nvPr/>
        </p:nvSpPr>
        <p:spPr>
          <a:xfrm>
            <a:off x="2560320" y="2240280"/>
            <a:ext cx="1810512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44374"/>
                </a:solidFill>
                <a:latin typeface="Calibri"/>
              </a:rPr>
              <a:t>Training dataset
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96138-6849-E6DC-1967-698802708891}"/>
              </a:ext>
            </a:extLst>
          </p:cNvPr>
          <p:cNvSpPr txBox="1"/>
          <p:nvPr/>
        </p:nvSpPr>
        <p:spPr>
          <a:xfrm>
            <a:off x="2084832" y="2788920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dirty="0">
                <a:solidFill>
                  <a:srgbClr val="232323"/>
                </a:solidFill>
                <a:latin typeface="Calibri"/>
              </a:rPr>
              <a:t>Do synthetic trials match real training data?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5678843B-2688-B95D-81A0-C8C2214E7C69}"/>
              </a:ext>
            </a:extLst>
          </p:cNvPr>
          <p:cNvSpPr/>
          <p:nvPr/>
        </p:nvSpPr>
        <p:spPr>
          <a:xfrm>
            <a:off x="4892040" y="1783080"/>
            <a:ext cx="2560320" cy="1691640"/>
          </a:xfrm>
          <a:prstGeom prst="roundRect">
            <a:avLst/>
          </a:prstGeom>
          <a:solidFill>
            <a:srgbClr val="EBF5FA"/>
          </a:solidFill>
          <a:ln w="17780">
            <a:solidFill>
              <a:srgbClr val="A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77827133-3711-6DB3-146F-887225CA4D86}"/>
              </a:ext>
            </a:extLst>
          </p:cNvPr>
          <p:cNvSpPr/>
          <p:nvPr/>
        </p:nvSpPr>
        <p:spPr>
          <a:xfrm>
            <a:off x="4892040" y="1783080"/>
            <a:ext cx="2560320" cy="347472"/>
          </a:xfrm>
          <a:prstGeom prst="roundRect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Block 2</a:t>
            </a:r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F3A8EEE0-C880-BEFF-C3DE-3897F5C552DB}"/>
              </a:ext>
            </a:extLst>
          </p:cNvPr>
          <p:cNvSpPr/>
          <p:nvPr/>
        </p:nvSpPr>
        <p:spPr>
          <a:xfrm>
            <a:off x="5001768" y="2240280"/>
            <a:ext cx="438912" cy="438912"/>
          </a:xfrm>
          <a:prstGeom prst="ellipse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7EE7D8-D033-33B0-899C-55EC1E0B647B}"/>
              </a:ext>
            </a:extLst>
          </p:cNvPr>
          <p:cNvSpPr txBox="1"/>
          <p:nvPr/>
        </p:nvSpPr>
        <p:spPr>
          <a:xfrm>
            <a:off x="5532120" y="2240280"/>
            <a:ext cx="1810512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44374"/>
                </a:solidFill>
                <a:latin typeface="Calibri"/>
              </a:rPr>
              <a:t>Dimensionless
walking speed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559FD-74C4-A22E-9CF2-B8C7B4C8AA2C}"/>
              </a:ext>
            </a:extLst>
          </p:cNvPr>
          <p:cNvSpPr txBox="1"/>
          <p:nvPr/>
        </p:nvSpPr>
        <p:spPr>
          <a:xfrm>
            <a:off x="5056631" y="2788920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232323"/>
                </a:solidFill>
                <a:latin typeface="Calibri"/>
              </a:rPr>
              <a:t>Are speed-related gait patterns preserved?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C19B91A6-CFFE-804A-E07A-BFDFFD7F8476}"/>
              </a:ext>
            </a:extLst>
          </p:cNvPr>
          <p:cNvSpPr/>
          <p:nvPr/>
        </p:nvSpPr>
        <p:spPr>
          <a:xfrm>
            <a:off x="7863840" y="1783080"/>
            <a:ext cx="256032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D5211235-672C-885A-73B9-35BCC1531F7A}"/>
              </a:ext>
            </a:extLst>
          </p:cNvPr>
          <p:cNvSpPr/>
          <p:nvPr/>
        </p:nvSpPr>
        <p:spPr>
          <a:xfrm>
            <a:off x="7863840" y="1783080"/>
            <a:ext cx="2560320" cy="347472"/>
          </a:xfrm>
          <a:prstGeom prst="roundRect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Block 3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BD412412-DE79-1ECB-2AC9-14800339F72E}"/>
              </a:ext>
            </a:extLst>
          </p:cNvPr>
          <p:cNvSpPr/>
          <p:nvPr/>
        </p:nvSpPr>
        <p:spPr>
          <a:xfrm>
            <a:off x="7973567" y="2240280"/>
            <a:ext cx="438912" cy="438912"/>
          </a:xfrm>
          <a:prstGeom prst="ellipse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06E9C-3832-13A5-1BEB-DA6D5675230A}"/>
              </a:ext>
            </a:extLst>
          </p:cNvPr>
          <p:cNvSpPr txBox="1"/>
          <p:nvPr/>
        </p:nvSpPr>
        <p:spPr>
          <a:xfrm>
            <a:off x="8503919" y="2240280"/>
            <a:ext cx="1810512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44374"/>
                </a:solidFill>
                <a:latin typeface="Calibri"/>
              </a:rPr>
              <a:t>Literature
findings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D99F5C-CB77-F3BD-80EE-2710BC86682D}"/>
              </a:ext>
            </a:extLst>
          </p:cNvPr>
          <p:cNvSpPr txBox="1"/>
          <p:nvPr/>
        </p:nvSpPr>
        <p:spPr>
          <a:xfrm>
            <a:off x="8028431" y="2788920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232323"/>
                </a:solidFill>
                <a:latin typeface="Calibri"/>
              </a:rPr>
              <a:t>Can synthetic cohorts reproduce previous studies?</a:t>
            </a:r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E034CD0B-D49B-7DD9-27A1-87A18E3F93B5}"/>
              </a:ext>
            </a:extLst>
          </p:cNvPr>
          <p:cNvSpPr/>
          <p:nvPr/>
        </p:nvSpPr>
        <p:spPr>
          <a:xfrm>
            <a:off x="3410712" y="3886200"/>
            <a:ext cx="2560320" cy="1691640"/>
          </a:xfrm>
          <a:prstGeom prst="roundRect">
            <a:avLst/>
          </a:prstGeom>
          <a:solidFill>
            <a:srgbClr val="EBF5FA"/>
          </a:solidFill>
          <a:ln w="17780">
            <a:solidFill>
              <a:srgbClr val="A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8A78B0E5-F164-C054-5560-D9808621967C}"/>
              </a:ext>
            </a:extLst>
          </p:cNvPr>
          <p:cNvSpPr/>
          <p:nvPr/>
        </p:nvSpPr>
        <p:spPr>
          <a:xfrm>
            <a:off x="3410712" y="3886200"/>
            <a:ext cx="2560320" cy="347472"/>
          </a:xfrm>
          <a:prstGeom prst="roundRect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Block 4</a:t>
            </a:r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0F4BD051-6C46-03CF-EC6C-20CE4727E6F3}"/>
              </a:ext>
            </a:extLst>
          </p:cNvPr>
          <p:cNvSpPr/>
          <p:nvPr/>
        </p:nvSpPr>
        <p:spPr>
          <a:xfrm>
            <a:off x="3520440" y="4343400"/>
            <a:ext cx="438912" cy="438912"/>
          </a:xfrm>
          <a:prstGeom prst="ellipse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8FAD87-625E-EDC9-E40C-A7D27FA7C50E}"/>
              </a:ext>
            </a:extLst>
          </p:cNvPr>
          <p:cNvSpPr txBox="1"/>
          <p:nvPr/>
        </p:nvSpPr>
        <p:spPr>
          <a:xfrm>
            <a:off x="4050791" y="4343400"/>
            <a:ext cx="1810512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44374"/>
                </a:solidFill>
                <a:latin typeface="Calibri"/>
              </a:rPr>
              <a:t>Subject-specific
prediction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2A725C-9AF1-80A7-75C6-795E06A41988}"/>
              </a:ext>
            </a:extLst>
          </p:cNvPr>
          <p:cNvSpPr txBox="1"/>
          <p:nvPr/>
        </p:nvSpPr>
        <p:spPr>
          <a:xfrm>
            <a:off x="3575304" y="4892040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232323"/>
                </a:solidFill>
                <a:latin typeface="Calibri"/>
              </a:rPr>
              <a:t>How well does the model work on unseen subjects?</a:t>
            </a:r>
          </a:p>
        </p:txBody>
      </p:sp>
      <p:sp>
        <p:nvSpPr>
          <p:cNvPr id="27" name="Rounded Rectangle 28">
            <a:extLst>
              <a:ext uri="{FF2B5EF4-FFF2-40B4-BE49-F238E27FC236}">
                <a16:creationId xmlns:a16="http://schemas.microsoft.com/office/drawing/2014/main" id="{A334CCF7-2BF1-13FB-2133-EB14B8501F70}"/>
              </a:ext>
            </a:extLst>
          </p:cNvPr>
          <p:cNvSpPr/>
          <p:nvPr/>
        </p:nvSpPr>
        <p:spPr>
          <a:xfrm>
            <a:off x="6382512" y="3886200"/>
            <a:ext cx="256032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F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9">
            <a:extLst>
              <a:ext uri="{FF2B5EF4-FFF2-40B4-BE49-F238E27FC236}">
                <a16:creationId xmlns:a16="http://schemas.microsoft.com/office/drawing/2014/main" id="{1022183E-1D35-4BA7-34A2-C65D13C4FE0E}"/>
              </a:ext>
            </a:extLst>
          </p:cNvPr>
          <p:cNvSpPr/>
          <p:nvPr/>
        </p:nvSpPr>
        <p:spPr>
          <a:xfrm>
            <a:off x="6382512" y="3886200"/>
            <a:ext cx="2560320" cy="347472"/>
          </a:xfrm>
          <a:prstGeom prst="roundRect">
            <a:avLst/>
          </a:prstGeom>
          <a:solidFill>
            <a:srgbClr val="1CA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Block 5</a:t>
            </a:r>
          </a:p>
        </p:txBody>
      </p:sp>
      <p:sp>
        <p:nvSpPr>
          <p:cNvPr id="29" name="Oval 30">
            <a:extLst>
              <a:ext uri="{FF2B5EF4-FFF2-40B4-BE49-F238E27FC236}">
                <a16:creationId xmlns:a16="http://schemas.microsoft.com/office/drawing/2014/main" id="{4B7229C8-4FD1-3182-7790-0CAB35747AE1}"/>
              </a:ext>
            </a:extLst>
          </p:cNvPr>
          <p:cNvSpPr/>
          <p:nvPr/>
        </p:nvSpPr>
        <p:spPr>
          <a:xfrm>
            <a:off x="6492240" y="4343400"/>
            <a:ext cx="438912" cy="438912"/>
          </a:xfrm>
          <a:prstGeom prst="ellipse">
            <a:avLst/>
          </a:prstGeom>
          <a:solidFill>
            <a:srgbClr val="04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20FE36-2D30-DE6F-4DF3-D3239C3C9D01}"/>
              </a:ext>
            </a:extLst>
          </p:cNvPr>
          <p:cNvSpPr txBox="1"/>
          <p:nvPr/>
        </p:nvSpPr>
        <p:spPr>
          <a:xfrm>
            <a:off x="7022592" y="4343400"/>
            <a:ext cx="1810512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44374"/>
                </a:solidFill>
                <a:latin typeface="Calibri"/>
              </a:rPr>
              <a:t>Dynamic
consistency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0900CB-CE84-8A8B-4923-ECBF1D2A054E}"/>
              </a:ext>
            </a:extLst>
          </p:cNvPr>
          <p:cNvSpPr txBox="1"/>
          <p:nvPr/>
        </p:nvSpPr>
        <p:spPr>
          <a:xfrm>
            <a:off x="6547104" y="4892040"/>
            <a:ext cx="2240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232323"/>
                </a:solidFill>
                <a:latin typeface="Calibri"/>
              </a:rPr>
              <a:t>Are generated trials biomechanically plausible?</a:t>
            </a:r>
          </a:p>
        </p:txBody>
      </p:sp>
    </p:spTree>
    <p:extLst>
      <p:ext uri="{BB962C8B-B14F-4D97-AF65-F5344CB8AC3E}">
        <p14:creationId xmlns:p14="http://schemas.microsoft.com/office/powerpoint/2010/main" val="24530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0601-4063-8396-8FBB-664A2CEA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168215-691E-F0D8-9746-1490B71A7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4320480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Objective</a:t>
            </a:r>
            <a:r>
              <a:rPr lang="ru-RU" sz="1400" b="1" dirty="0"/>
              <a:t>:</a:t>
            </a:r>
            <a:br>
              <a:rPr lang="ru-RU" sz="1400" dirty="0"/>
            </a:br>
            <a:r>
              <a:rPr lang="ru-RU" sz="1400" dirty="0"/>
              <a:t>Test </a:t>
            </a:r>
            <a:r>
              <a:rPr lang="ru-RU" sz="1400" dirty="0" err="1"/>
              <a:t>whether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remain</a:t>
            </a:r>
            <a:r>
              <a:rPr lang="ru-RU" sz="1400" dirty="0"/>
              <a:t> </a:t>
            </a:r>
            <a:r>
              <a:rPr lang="ru-RU" sz="1400" dirty="0" err="1"/>
              <a:t>close</a:t>
            </a:r>
            <a:r>
              <a:rPr lang="ru-RU" sz="1400" dirty="0"/>
              <a:t> </a:t>
            </a:r>
            <a:r>
              <a:rPr lang="ru-RU" sz="1400" dirty="0" err="1"/>
              <a:t>to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training</a:t>
            </a:r>
            <a:r>
              <a:rPr lang="ru-RU" sz="1400" dirty="0"/>
              <a:t> </a:t>
            </a:r>
            <a:r>
              <a:rPr lang="ru-RU" sz="1400" dirty="0" err="1"/>
              <a:t>dataset</a:t>
            </a:r>
            <a:r>
              <a:rPr lang="ru-RU" sz="1400" dirty="0"/>
              <a:t>.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  <a:p>
            <a:r>
              <a:rPr lang="ru-RU" sz="1400" b="1" dirty="0" err="1"/>
              <a:t>Evaluation</a:t>
            </a:r>
            <a:r>
              <a:rPr lang="ru-RU" sz="1400" b="1" dirty="0"/>
              <a:t> </a:t>
            </a:r>
            <a:r>
              <a:rPr lang="ru-RU" sz="1400" b="1" dirty="0" err="1"/>
              <a:t>method</a:t>
            </a:r>
            <a:r>
              <a:rPr lang="en-US" sz="1400" b="1" dirty="0"/>
              <a:t>: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waveforms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compared</a:t>
            </a:r>
            <a:r>
              <a:rPr lang="ru-RU" sz="1400" dirty="0"/>
              <a:t> </a:t>
            </a:r>
            <a:r>
              <a:rPr lang="ru-RU" sz="1400" dirty="0" err="1"/>
              <a:t>using</a:t>
            </a:r>
            <a:r>
              <a:rPr lang="ru-RU" sz="1400" dirty="0"/>
              <a:t> 1D </a:t>
            </a:r>
            <a:r>
              <a:rPr lang="ru-RU" sz="1400" dirty="0" err="1"/>
              <a:t>statistical</a:t>
            </a:r>
            <a:r>
              <a:rPr lang="ru-RU" sz="1400" dirty="0"/>
              <a:t>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cycle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Entire</a:t>
            </a:r>
            <a:r>
              <a:rPr lang="ru-RU" sz="1400" b="1" dirty="0"/>
              <a:t> </a:t>
            </a:r>
            <a:r>
              <a:rPr lang="ru-RU" sz="1400" b="1" dirty="0" err="1"/>
              <a:t>training</a:t>
            </a:r>
            <a:r>
              <a:rPr lang="ru-RU" sz="1400" b="1" dirty="0"/>
              <a:t> </a:t>
            </a:r>
            <a:r>
              <a:rPr lang="ru-RU" sz="1400" b="1" dirty="0" err="1"/>
              <a:t>dataset</a:t>
            </a:r>
            <a:r>
              <a:rPr lang="en-US" sz="1400" b="1" dirty="0"/>
              <a:t>: </a:t>
            </a:r>
            <a:r>
              <a:rPr lang="ru-RU" sz="1400" dirty="0"/>
              <a:t>All </a:t>
            </a:r>
            <a:r>
              <a:rPr lang="ru-RU" sz="1400" dirty="0" err="1"/>
              <a:t>models</a:t>
            </a:r>
            <a:r>
              <a:rPr lang="ru-RU" sz="1400" dirty="0"/>
              <a:t> </a:t>
            </a:r>
            <a:r>
              <a:rPr lang="ru-RU" sz="1400" dirty="0" err="1"/>
              <a:t>produced</a:t>
            </a:r>
            <a:r>
              <a:rPr lang="ru-RU" sz="1400" dirty="0"/>
              <a:t> </a:t>
            </a:r>
            <a:r>
              <a:rPr lang="ru-RU" sz="1400" dirty="0" err="1"/>
              <a:t>reasonably</a:t>
            </a:r>
            <a:r>
              <a:rPr lang="ru-RU" sz="1400" dirty="0"/>
              <a:t> </a:t>
            </a:r>
            <a:r>
              <a:rPr lang="ru-RU" sz="1400" dirty="0" err="1"/>
              <a:t>similar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. The </a:t>
            </a:r>
            <a:r>
              <a:rPr lang="ru-RU" sz="1400" dirty="0" err="1"/>
              <a:t>lowest</a:t>
            </a:r>
            <a:r>
              <a:rPr lang="ru-RU" sz="1400" dirty="0"/>
              <a:t> </a:t>
            </a:r>
            <a:r>
              <a:rPr lang="ru-RU" sz="1400" dirty="0" err="1"/>
              <a:t>average</a:t>
            </a:r>
            <a:r>
              <a:rPr lang="ru-RU" sz="1400" dirty="0"/>
              <a:t> </a:t>
            </a:r>
            <a:r>
              <a:rPr lang="ru-RU" sz="1400" dirty="0" err="1"/>
              <a:t>difference</a:t>
            </a:r>
            <a:r>
              <a:rPr lang="ru-RU" sz="1400" dirty="0"/>
              <a:t> </a:t>
            </a:r>
            <a:r>
              <a:rPr lang="ru-RU" sz="1400" dirty="0" err="1"/>
              <a:t>was</a:t>
            </a:r>
            <a:r>
              <a:rPr lang="ru-RU" sz="1400" dirty="0"/>
              <a:t> </a:t>
            </a:r>
            <a:r>
              <a:rPr lang="ru-RU" sz="1400" dirty="0" err="1"/>
              <a:t>observed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b="1" dirty="0"/>
              <a:t>Sex/</a:t>
            </a:r>
            <a:r>
              <a:rPr lang="ru-RU" sz="1400" b="1" dirty="0" err="1"/>
              <a:t>sex-conditioned</a:t>
            </a:r>
            <a:r>
              <a:rPr lang="ru-RU" sz="1400" b="1" dirty="0"/>
              <a:t> </a:t>
            </a:r>
            <a:r>
              <a:rPr lang="ru-RU" sz="1400" b="1" dirty="0" err="1"/>
              <a:t>cGAN</a:t>
            </a:r>
            <a:r>
              <a:rPr lang="ru-RU" sz="1400" dirty="0"/>
              <a:t>: </a:t>
            </a:r>
            <a:r>
              <a:rPr lang="ru-RU" sz="1400" b="1" dirty="0"/>
              <a:t>2.4%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cycle</a:t>
            </a:r>
            <a:r>
              <a:rPr lang="ru-RU" sz="1400" dirty="0"/>
              <a:t>. </a:t>
            </a:r>
          </a:p>
          <a:p>
            <a:r>
              <a:rPr lang="ru-RU" sz="1400" b="1" dirty="0"/>
              <a:t>Multi-</a:t>
            </a:r>
            <a:r>
              <a:rPr lang="ru-RU" sz="1400" b="1" dirty="0" err="1"/>
              <a:t>cGAN</a:t>
            </a:r>
            <a:r>
              <a:rPr lang="ru-RU" sz="1400" b="1" dirty="0"/>
              <a:t> </a:t>
            </a:r>
            <a:r>
              <a:rPr lang="ru-RU" sz="1400" b="1" dirty="0" err="1"/>
              <a:t>performance</a:t>
            </a:r>
            <a:r>
              <a:rPr lang="en-US" sz="1400" b="1" dirty="0"/>
              <a:t>: </a:t>
            </a:r>
            <a:r>
              <a:rPr lang="ru-RU" sz="1400" dirty="0"/>
              <a:t>The 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also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strong</a:t>
            </a:r>
            <a:r>
              <a:rPr lang="ru-RU" sz="1400" dirty="0"/>
              <a:t> </a:t>
            </a:r>
            <a:r>
              <a:rPr lang="ru-RU" sz="1400" dirty="0" err="1"/>
              <a:t>agreement</a:t>
            </a:r>
            <a:r>
              <a:rPr lang="ru-RU" sz="1400" dirty="0"/>
              <a:t> </a:t>
            </a:r>
            <a:r>
              <a:rPr lang="ru-RU" sz="1400" dirty="0" err="1"/>
              <a:t>with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dataset</a:t>
            </a:r>
            <a:r>
              <a:rPr lang="ru-RU" sz="1400" dirty="0"/>
              <a:t>: </a:t>
            </a:r>
            <a:r>
              <a:rPr lang="ru-RU" sz="1400" b="1" dirty="0"/>
              <a:t>2.8% </a:t>
            </a:r>
            <a:r>
              <a:rPr lang="ru-RU" sz="1400" b="1" dirty="0" err="1"/>
              <a:t>average</a:t>
            </a:r>
            <a:r>
              <a:rPr lang="ru-RU" sz="1400" b="1" dirty="0"/>
              <a:t> </a:t>
            </a:r>
            <a:r>
              <a:rPr lang="ru-RU" sz="1400" b="1" dirty="0" err="1"/>
              <a:t>difference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IK </a:t>
            </a:r>
            <a:r>
              <a:rPr lang="ru-RU" sz="1400" dirty="0" err="1"/>
              <a:t>and</a:t>
            </a:r>
            <a:r>
              <a:rPr lang="ru-RU" sz="1400" dirty="0"/>
              <a:t> GRF. </a:t>
            </a:r>
          </a:p>
          <a:p>
            <a:r>
              <a:rPr lang="ru-RU" sz="1400" b="1" dirty="0" err="1"/>
              <a:t>Constrained</a:t>
            </a:r>
            <a:r>
              <a:rPr lang="ru-RU" sz="1400" b="1" dirty="0"/>
              <a:t> </a:t>
            </a:r>
            <a:r>
              <a:rPr lang="ru-RU" sz="1400" b="1" dirty="0" err="1"/>
              <a:t>subset</a:t>
            </a:r>
            <a:r>
              <a:rPr lang="en-US" sz="1400" b="1" dirty="0"/>
              <a:t>: </a:t>
            </a:r>
            <a:r>
              <a:rPr lang="ru-RU" sz="1400" dirty="0"/>
              <a:t>For a </a:t>
            </a:r>
            <a:r>
              <a:rPr lang="ru-RU" sz="1400" dirty="0" err="1"/>
              <a:t>restricted</a:t>
            </a:r>
            <a:r>
              <a:rPr lang="ru-RU" sz="1400" dirty="0"/>
              <a:t> </a:t>
            </a:r>
            <a:r>
              <a:rPr lang="ru-RU" sz="1400" dirty="0" err="1"/>
              <a:t>range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/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,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b="1" dirty="0"/>
              <a:t>Multi-</a:t>
            </a:r>
            <a:r>
              <a:rPr lang="ru-RU" sz="1400" b="1" dirty="0" err="1"/>
              <a:t>cGAN</a:t>
            </a:r>
            <a:r>
              <a:rPr lang="ru-RU" sz="1400" b="1" dirty="0"/>
              <a:t> </a:t>
            </a:r>
            <a:r>
              <a:rPr lang="ru-RU" sz="1400" b="1" dirty="0" err="1"/>
              <a:t>performed</a:t>
            </a:r>
            <a:r>
              <a:rPr lang="ru-RU" sz="1400" b="1" dirty="0"/>
              <a:t> </a:t>
            </a:r>
            <a:r>
              <a:rPr lang="ru-RU" sz="1400" b="1" dirty="0" err="1"/>
              <a:t>best</a:t>
            </a:r>
            <a:r>
              <a:rPr lang="ru-RU" sz="1400" dirty="0"/>
              <a:t>: </a:t>
            </a:r>
            <a:r>
              <a:rPr lang="ru-RU" sz="1400" b="1" dirty="0"/>
              <a:t>7.0% </a:t>
            </a:r>
            <a:r>
              <a:rPr lang="ru-RU" sz="1400" b="1" dirty="0" err="1"/>
              <a:t>average</a:t>
            </a:r>
            <a:r>
              <a:rPr lang="ru-RU" sz="1400" b="1" dirty="0"/>
              <a:t> </a:t>
            </a:r>
            <a:r>
              <a:rPr lang="ru-RU" sz="1400" b="1" dirty="0" err="1"/>
              <a:t>difference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Interpretation</a:t>
            </a:r>
            <a:r>
              <a:rPr lang="en-US" sz="1400" b="1" dirty="0"/>
              <a:t>: </a:t>
            </a:r>
            <a:r>
              <a:rPr lang="ru-RU" sz="1400" dirty="0"/>
              <a:t>Single-</a:t>
            </a:r>
            <a:r>
              <a:rPr lang="ru-RU" sz="1400" dirty="0" err="1"/>
              <a:t>condition</a:t>
            </a:r>
            <a:r>
              <a:rPr lang="ru-RU" sz="1400" dirty="0"/>
              <a:t> </a:t>
            </a:r>
            <a:r>
              <a:rPr lang="ru-RU" sz="1400" dirty="0" err="1"/>
              <a:t>models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reproduce</a:t>
            </a:r>
            <a:r>
              <a:rPr lang="ru-RU" sz="1400" dirty="0"/>
              <a:t> </a:t>
            </a:r>
            <a:r>
              <a:rPr lang="ru-RU" sz="1400" dirty="0" err="1"/>
              <a:t>broad</a:t>
            </a:r>
            <a:r>
              <a:rPr lang="ru-RU" sz="1400" dirty="0"/>
              <a:t> </a:t>
            </a:r>
            <a:r>
              <a:rPr lang="ru-RU" sz="1400" dirty="0" err="1"/>
              <a:t>dataset</a:t>
            </a:r>
            <a:r>
              <a:rPr lang="ru-RU" sz="1400" dirty="0"/>
              <a:t> </a:t>
            </a:r>
            <a:r>
              <a:rPr lang="ru-RU" sz="1400" dirty="0" err="1"/>
              <a:t>characteristics</a:t>
            </a:r>
            <a:r>
              <a:rPr lang="ru-RU" sz="1400" dirty="0"/>
              <a:t>, </a:t>
            </a:r>
            <a:r>
              <a:rPr lang="ru-RU" sz="1400" dirty="0" err="1"/>
              <a:t>while</a:t>
            </a:r>
            <a:r>
              <a:rPr lang="ru-RU" sz="1400" dirty="0"/>
              <a:t> 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becomes</a:t>
            </a:r>
            <a:r>
              <a:rPr lang="ru-RU" sz="1400" dirty="0"/>
              <a:t> </a:t>
            </a:r>
            <a:r>
              <a:rPr lang="ru-RU" sz="1400" dirty="0" err="1"/>
              <a:t>especially</a:t>
            </a:r>
            <a:r>
              <a:rPr lang="ru-RU" sz="1400" dirty="0"/>
              <a:t> </a:t>
            </a:r>
            <a:r>
              <a:rPr lang="ru-RU" sz="1400" dirty="0" err="1"/>
              <a:t>useful</a:t>
            </a:r>
            <a:r>
              <a:rPr lang="ru-RU" sz="1400" dirty="0"/>
              <a:t> </a:t>
            </a:r>
            <a:r>
              <a:rPr lang="ru-RU" sz="1400" dirty="0" err="1"/>
              <a:t>when</a:t>
            </a:r>
            <a:r>
              <a:rPr lang="ru-RU" sz="1400" dirty="0"/>
              <a:t> </a:t>
            </a:r>
            <a:r>
              <a:rPr lang="ru-RU" sz="1400" dirty="0" err="1"/>
              <a:t>several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 </a:t>
            </a:r>
            <a:r>
              <a:rPr lang="ru-RU" sz="1400" dirty="0" err="1"/>
              <a:t>must</a:t>
            </a:r>
            <a:r>
              <a:rPr lang="ru-RU" sz="1400" dirty="0"/>
              <a:t> </a:t>
            </a:r>
            <a:r>
              <a:rPr lang="ru-RU" sz="1400" dirty="0" err="1"/>
              <a:t>be</a:t>
            </a:r>
            <a:r>
              <a:rPr lang="ru-RU" sz="1400" dirty="0"/>
              <a:t> </a:t>
            </a:r>
            <a:r>
              <a:rPr lang="ru-RU" sz="1400" dirty="0" err="1"/>
              <a:t>controlled</a:t>
            </a:r>
            <a:r>
              <a:rPr lang="ru-RU" sz="1400" dirty="0"/>
              <a:t> </a:t>
            </a:r>
            <a:r>
              <a:rPr lang="ru-RU" sz="1400" dirty="0" err="1"/>
              <a:t>together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622DA0-232F-BD96-9DCE-F40AB339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</a:t>
            </a:r>
            <a:br>
              <a:rPr lang="ru-RU" b="1" dirty="0"/>
            </a:br>
            <a:r>
              <a:rPr lang="ru-RU" dirty="0" err="1"/>
              <a:t>Training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 </a:t>
            </a:r>
            <a:r>
              <a:rPr lang="ru-RU" dirty="0" err="1"/>
              <a:t>Characteristics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4303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14AD-D384-65FB-76ED-EC1BD933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0C7F5-038D-88D1-1BF5-AE997766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</a:t>
            </a:r>
            <a:br>
              <a:rPr lang="ru-RU" b="1" dirty="0"/>
            </a:br>
            <a:r>
              <a:rPr lang="ru-RU" dirty="0" err="1"/>
              <a:t>Training</a:t>
            </a:r>
            <a:r>
              <a:rPr lang="ru-RU" dirty="0"/>
              <a:t> </a:t>
            </a:r>
            <a:r>
              <a:rPr lang="ru-RU" dirty="0" err="1"/>
              <a:t>Dataset</a:t>
            </a:r>
            <a:r>
              <a:rPr lang="ru-RU" dirty="0"/>
              <a:t> </a:t>
            </a:r>
            <a:r>
              <a:rPr lang="ru-RU" dirty="0" err="1"/>
              <a:t>Characteristics</a:t>
            </a:r>
            <a:endParaRPr lang="ru-RU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0D887A7-29A3-DD90-35E0-2E932BB86F0D}"/>
              </a:ext>
            </a:extLst>
          </p:cNvPr>
          <p:cNvSpPr txBox="1">
            <a:spLocks/>
          </p:cNvSpPr>
          <p:nvPr/>
        </p:nvSpPr>
        <p:spPr>
          <a:xfrm>
            <a:off x="2062920" y="1954870"/>
            <a:ext cx="9442064" cy="5380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5425" indent="-2254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9500" indent="-1841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4000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4850" indent="-177800" algn="l" defTabSz="62865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‒"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200" b="1" dirty="0" err="1"/>
              <a:t>Takeaway</a:t>
            </a:r>
            <a:r>
              <a:rPr lang="ru-RU" sz="1200" b="1" dirty="0"/>
              <a:t>:</a:t>
            </a:r>
            <a:r>
              <a:rPr lang="en-US" sz="1200" b="1" dirty="0"/>
              <a:t> </a:t>
            </a:r>
            <a:r>
              <a:rPr lang="ru-RU" sz="1200" dirty="0"/>
              <a:t>The </a:t>
            </a:r>
            <a:r>
              <a:rPr lang="ru-RU" sz="1200" dirty="0" err="1"/>
              <a:t>reproduced</a:t>
            </a:r>
            <a:r>
              <a:rPr lang="ru-RU" sz="1200" dirty="0"/>
              <a:t> </a:t>
            </a:r>
            <a:r>
              <a:rPr lang="ru-RU" sz="1200" dirty="0" err="1"/>
              <a:t>results</a:t>
            </a:r>
            <a:r>
              <a:rPr lang="ru-RU" sz="1200" dirty="0"/>
              <a:t> </a:t>
            </a:r>
            <a:r>
              <a:rPr lang="ru-RU" sz="1200" dirty="0" err="1"/>
              <a:t>confirm</a:t>
            </a:r>
            <a:r>
              <a:rPr lang="ru-RU" sz="1200" dirty="0"/>
              <a:t> </a:t>
            </a:r>
            <a:r>
              <a:rPr lang="ru-RU" sz="1200" dirty="0" err="1"/>
              <a:t>that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cGAN</a:t>
            </a:r>
            <a:r>
              <a:rPr lang="ru-RU" sz="1200" dirty="0"/>
              <a:t> </a:t>
            </a:r>
            <a:r>
              <a:rPr lang="ru-RU" sz="1200" dirty="0" err="1"/>
              <a:t>models</a:t>
            </a:r>
            <a:r>
              <a:rPr lang="ru-RU" sz="1200" dirty="0"/>
              <a:t> </a:t>
            </a:r>
            <a:r>
              <a:rPr lang="ru-RU" sz="1200" dirty="0" err="1"/>
              <a:t>can</a:t>
            </a:r>
            <a:r>
              <a:rPr lang="ru-RU" sz="1200" dirty="0"/>
              <a:t> </a:t>
            </a:r>
            <a:r>
              <a:rPr lang="ru-RU" sz="1200" dirty="0" err="1"/>
              <a:t>generate</a:t>
            </a:r>
            <a:r>
              <a:rPr lang="ru-RU" sz="1200" dirty="0"/>
              <a:t> </a:t>
            </a:r>
            <a:r>
              <a:rPr lang="ru-RU" sz="1200" dirty="0" err="1"/>
              <a:t>synthetic</a:t>
            </a:r>
            <a:r>
              <a:rPr lang="ru-RU" sz="1200" dirty="0"/>
              <a:t> </a:t>
            </a:r>
            <a:r>
              <a:rPr lang="ru-RU" sz="1200" dirty="0" err="1"/>
              <a:t>walking</a:t>
            </a:r>
            <a:r>
              <a:rPr lang="ru-RU" sz="1200" dirty="0"/>
              <a:t> </a:t>
            </a:r>
            <a:r>
              <a:rPr lang="ru-RU" sz="1200" dirty="0" err="1"/>
              <a:t>trials</a:t>
            </a:r>
            <a:r>
              <a:rPr lang="ru-RU" sz="1200" dirty="0"/>
              <a:t> </a:t>
            </a:r>
            <a:r>
              <a:rPr lang="ru-RU" sz="1200" dirty="0" err="1"/>
              <a:t>that</a:t>
            </a:r>
            <a:r>
              <a:rPr lang="ru-RU" sz="1200" dirty="0"/>
              <a:t> </a:t>
            </a:r>
            <a:r>
              <a:rPr lang="ru-RU" sz="1200" dirty="0" err="1"/>
              <a:t>are</a:t>
            </a:r>
            <a:r>
              <a:rPr lang="ru-RU" sz="1200" dirty="0"/>
              <a:t> </a:t>
            </a:r>
            <a:r>
              <a:rPr lang="ru-RU" sz="1200" dirty="0" err="1"/>
              <a:t>statistically</a:t>
            </a:r>
            <a:r>
              <a:rPr lang="ru-RU" sz="1200" dirty="0"/>
              <a:t> </a:t>
            </a:r>
            <a:r>
              <a:rPr lang="ru-RU" sz="1200" dirty="0" err="1"/>
              <a:t>close</a:t>
            </a:r>
            <a:r>
              <a:rPr lang="ru-RU" sz="1200" dirty="0"/>
              <a:t> </a:t>
            </a:r>
            <a:r>
              <a:rPr lang="ru-RU" sz="1200" dirty="0" err="1"/>
              <a:t>to</a:t>
            </a:r>
            <a:r>
              <a:rPr lang="ru-RU" sz="1200" dirty="0"/>
              <a:t> </a:t>
            </a:r>
            <a:r>
              <a:rPr lang="ru-RU" sz="1200" dirty="0" err="1"/>
              <a:t>real</a:t>
            </a:r>
            <a:r>
              <a:rPr lang="ru-RU" sz="1200" dirty="0"/>
              <a:t> </a:t>
            </a:r>
            <a:r>
              <a:rPr lang="ru-RU" sz="1200" dirty="0" err="1"/>
              <a:t>mocap</a:t>
            </a:r>
            <a:r>
              <a:rPr lang="ru-RU" sz="1200" dirty="0"/>
              <a:t> </a:t>
            </a:r>
            <a:r>
              <a:rPr lang="ru-RU" sz="1200" dirty="0" err="1"/>
              <a:t>data</a:t>
            </a:r>
            <a:r>
              <a:rPr lang="ru-RU" sz="1200" dirty="0"/>
              <a:t>.</a:t>
            </a:r>
            <a:r>
              <a:rPr lang="en-US" sz="1200" dirty="0"/>
              <a:t> </a:t>
            </a:r>
            <a:r>
              <a:rPr lang="ru-RU" sz="1200" i="1" dirty="0"/>
              <a:t>(</a:t>
            </a:r>
            <a:r>
              <a:rPr lang="ru-RU" sz="1200" i="1" dirty="0" err="1"/>
              <a:t>Bicer</a:t>
            </a:r>
            <a:r>
              <a:rPr lang="ru-RU" sz="1200" i="1" dirty="0"/>
              <a:t> </a:t>
            </a:r>
            <a:r>
              <a:rPr lang="ru-RU" sz="1200" i="1" dirty="0" err="1"/>
              <a:t>et</a:t>
            </a:r>
            <a:r>
              <a:rPr lang="ru-RU" sz="1200" i="1" dirty="0"/>
              <a:t> </a:t>
            </a:r>
            <a:r>
              <a:rPr lang="ru-RU" sz="1200" i="1" dirty="0" err="1"/>
              <a:t>al</a:t>
            </a:r>
            <a:r>
              <a:rPr lang="ru-RU" sz="1200" i="1" dirty="0"/>
              <a:t>., 2024; </a:t>
            </a:r>
            <a:r>
              <a:rPr lang="ru-RU" sz="1200" i="1" dirty="0" err="1"/>
              <a:t>our</a:t>
            </a:r>
            <a:r>
              <a:rPr lang="ru-RU" sz="1200" i="1" dirty="0"/>
              <a:t> </a:t>
            </a:r>
            <a:r>
              <a:rPr lang="ru-RU" sz="1200" i="1" dirty="0" err="1"/>
              <a:t>reproduction</a:t>
            </a:r>
            <a:r>
              <a:rPr lang="ru-RU" sz="1200" i="1" dirty="0"/>
              <a:t> </a:t>
            </a:r>
            <a:r>
              <a:rPr lang="ru-RU" sz="1200" i="1" dirty="0" err="1"/>
              <a:t>notebook</a:t>
            </a:r>
            <a:r>
              <a:rPr lang="ru-RU" sz="1200" i="1" dirty="0"/>
              <a:t>)</a:t>
            </a:r>
            <a:br>
              <a:rPr lang="ru-RU" sz="1200" dirty="0"/>
            </a:br>
            <a:endParaRPr lang="ru-RU" sz="12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9C3191-4752-A04F-B168-B0045FC93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54" y="2492896"/>
            <a:ext cx="7247090" cy="37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1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B732-CAA0-C8C6-B5A1-A4D7F1A8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D99504-9A75-1EA4-11A5-0D133DF17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4320480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Objective</a:t>
            </a:r>
            <a:r>
              <a:rPr lang="ru-RU" sz="1400" b="1" dirty="0"/>
              <a:t>:</a:t>
            </a:r>
            <a:br>
              <a:rPr lang="ru-RU" sz="1400" dirty="0"/>
            </a:br>
            <a:r>
              <a:rPr lang="ru-RU" sz="1400" dirty="0"/>
              <a:t>To </a:t>
            </a:r>
            <a:r>
              <a:rPr lang="ru-RU" sz="1400" dirty="0" err="1"/>
              <a:t>evaluate</a:t>
            </a:r>
            <a:r>
              <a:rPr lang="ru-RU" sz="1400" dirty="0"/>
              <a:t> </a:t>
            </a:r>
            <a:r>
              <a:rPr lang="ru-RU" sz="1400" dirty="0" err="1"/>
              <a:t>whether</a:t>
            </a:r>
            <a:r>
              <a:rPr lang="ru-RU" sz="1400" dirty="0"/>
              <a:t> 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reproduce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patterns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different</a:t>
            </a:r>
            <a:r>
              <a:rPr lang="ru-RU" sz="1400" dirty="0"/>
              <a:t> </a:t>
            </a:r>
            <a:r>
              <a:rPr lang="ru-RU" sz="1400" dirty="0" err="1"/>
              <a:t>normalized</a:t>
            </a:r>
            <a:r>
              <a:rPr lang="ru-RU" sz="1400" dirty="0"/>
              <a:t> </a:t>
            </a:r>
            <a:r>
              <a:rPr lang="ru-RU" sz="1400" dirty="0" err="1"/>
              <a:t>walking-speed</a:t>
            </a:r>
            <a:r>
              <a:rPr lang="ru-RU" sz="1400" dirty="0"/>
              <a:t> </a:t>
            </a:r>
            <a:r>
              <a:rPr lang="ru-RU" sz="1400" dirty="0" err="1"/>
              <a:t>groups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  <a:p>
            <a:r>
              <a:rPr lang="ru-RU" sz="1400" b="1" dirty="0" err="1"/>
              <a:t>Why</a:t>
            </a:r>
            <a:r>
              <a:rPr lang="ru-RU" sz="1400" b="1" dirty="0"/>
              <a:t> </a:t>
            </a:r>
            <a:r>
              <a:rPr lang="ru-RU" sz="1400" b="1" dirty="0" err="1"/>
              <a:t>this</a:t>
            </a:r>
            <a:r>
              <a:rPr lang="ru-RU" sz="1400" b="1" dirty="0"/>
              <a:t> </a:t>
            </a:r>
            <a:r>
              <a:rPr lang="ru-RU" sz="1400" b="1" dirty="0" err="1"/>
              <a:t>analysis</a:t>
            </a:r>
            <a:r>
              <a:rPr lang="ru-RU" sz="1400" b="1" dirty="0"/>
              <a:t> </a:t>
            </a:r>
            <a:r>
              <a:rPr lang="ru-RU" sz="1400" b="1" dirty="0" err="1"/>
              <a:t>matters</a:t>
            </a:r>
            <a:r>
              <a:rPr lang="en-US" sz="1400" b="1" dirty="0"/>
              <a:t>: </a:t>
            </a:r>
            <a:r>
              <a:rPr lang="ru-RU" sz="1400" dirty="0" err="1"/>
              <a:t>Walking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 </a:t>
            </a:r>
            <a:r>
              <a:rPr lang="ru-RU" sz="1400" dirty="0" err="1"/>
              <a:t>strongly</a:t>
            </a:r>
            <a:r>
              <a:rPr lang="ru-RU" sz="1400" dirty="0"/>
              <a:t> </a:t>
            </a:r>
            <a:r>
              <a:rPr lang="ru-RU" sz="1400" dirty="0" err="1"/>
              <a:t>affects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kinematics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ground</a:t>
            </a:r>
            <a:r>
              <a:rPr lang="ru-RU" sz="1400" dirty="0"/>
              <a:t> </a:t>
            </a:r>
            <a:r>
              <a:rPr lang="ru-RU" sz="1400" dirty="0" err="1"/>
              <a:t>reaction</a:t>
            </a:r>
            <a:r>
              <a:rPr lang="ru-RU" sz="1400" dirty="0"/>
              <a:t> </a:t>
            </a:r>
            <a:r>
              <a:rPr lang="ru-RU" sz="1400" dirty="0" err="1"/>
              <a:t>forces</a:t>
            </a:r>
            <a:r>
              <a:rPr lang="ru-RU" sz="1400" dirty="0"/>
              <a:t>. </a:t>
            </a:r>
          </a:p>
          <a:p>
            <a:r>
              <a:rPr lang="ru-RU" sz="1400" b="1" dirty="0"/>
              <a:t>Analysis </a:t>
            </a:r>
            <a:r>
              <a:rPr lang="ru-RU" sz="1400" b="1" dirty="0" err="1"/>
              <a:t>approach</a:t>
            </a:r>
            <a:r>
              <a:rPr lang="en-US" sz="1400" b="1" dirty="0"/>
              <a:t>: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grouped</a:t>
            </a:r>
            <a:r>
              <a:rPr lang="ru-RU" sz="1400" dirty="0"/>
              <a:t> </a:t>
            </a:r>
            <a:r>
              <a:rPr lang="ru-RU" sz="1400" dirty="0" err="1"/>
              <a:t>by</a:t>
            </a:r>
            <a:r>
              <a:rPr lang="ru-RU" sz="1400" dirty="0"/>
              <a:t> </a:t>
            </a:r>
            <a:r>
              <a:rPr lang="ru-RU" sz="1400" b="1" dirty="0" err="1"/>
              <a:t>dimensionless</a:t>
            </a:r>
            <a:r>
              <a:rPr lang="ru-RU" sz="1400" b="1" dirty="0"/>
              <a:t> </a:t>
            </a:r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speed</a:t>
            </a:r>
            <a:r>
              <a:rPr lang="ru-RU" sz="1400" dirty="0"/>
              <a:t>,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their</a:t>
            </a:r>
            <a:r>
              <a:rPr lang="ru-RU" sz="1400" dirty="0"/>
              <a:t> </a:t>
            </a:r>
            <a:r>
              <a:rPr lang="ru-RU" sz="1400" dirty="0" err="1"/>
              <a:t>average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trajectories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compared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Reproduced</a:t>
            </a:r>
            <a:r>
              <a:rPr lang="ru-RU" sz="1400" b="1" dirty="0"/>
              <a:t> </a:t>
            </a:r>
            <a:r>
              <a:rPr lang="ru-RU" sz="1400" b="1" dirty="0" err="1"/>
              <a:t>kinematics</a:t>
            </a:r>
            <a:r>
              <a:rPr lang="ru-RU" sz="1400" b="1" dirty="0"/>
              <a:t> </a:t>
            </a:r>
            <a:r>
              <a:rPr lang="ru-RU" sz="1400" b="1" dirty="0" err="1"/>
              <a:t>results</a:t>
            </a:r>
            <a:r>
              <a:rPr lang="en-US" sz="1400" b="1" dirty="0"/>
              <a:t>: </a:t>
            </a:r>
            <a:r>
              <a:rPr lang="ru-RU" sz="1400" dirty="0" err="1"/>
              <a:t>Hip</a:t>
            </a:r>
            <a:r>
              <a:rPr lang="ru-RU" sz="1400" dirty="0"/>
              <a:t>, </a:t>
            </a:r>
            <a:r>
              <a:rPr lang="ru-RU" sz="1400" dirty="0" err="1"/>
              <a:t>knee</a:t>
            </a:r>
            <a:r>
              <a:rPr lang="ru-RU" sz="1400" dirty="0"/>
              <a:t>,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ankle</a:t>
            </a:r>
            <a:r>
              <a:rPr lang="ru-RU" sz="1400" dirty="0"/>
              <a:t> </a:t>
            </a:r>
            <a:r>
              <a:rPr lang="ru-RU" sz="1400" dirty="0" err="1"/>
              <a:t>trajectories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very</a:t>
            </a:r>
            <a:r>
              <a:rPr lang="ru-RU" sz="1400" dirty="0"/>
              <a:t> </a:t>
            </a:r>
            <a:r>
              <a:rPr lang="ru-RU" sz="1400" dirty="0" err="1"/>
              <a:t>small</a:t>
            </a:r>
            <a:r>
              <a:rPr lang="ru-RU" sz="1400" dirty="0"/>
              <a:t> </a:t>
            </a:r>
            <a:r>
              <a:rPr lang="ru-RU" sz="1400" dirty="0" err="1"/>
              <a:t>errors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 </a:t>
            </a:r>
            <a:r>
              <a:rPr lang="ru-RU" sz="1400" dirty="0" err="1"/>
              <a:t>groups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dirty="0" err="1"/>
              <a:t>approximately</a:t>
            </a:r>
            <a:r>
              <a:rPr lang="ru-RU" sz="1400" dirty="0"/>
              <a:t> </a:t>
            </a:r>
            <a:r>
              <a:rPr lang="ru-RU" sz="1400" b="1" dirty="0"/>
              <a:t>0.3–1.2° RMSE</a:t>
            </a:r>
            <a:r>
              <a:rPr lang="ru-RU" sz="1400" dirty="0"/>
              <a:t> </a:t>
            </a:r>
            <a:r>
              <a:rPr lang="ru-RU" sz="1400" dirty="0" err="1"/>
              <a:t>in</a:t>
            </a:r>
            <a:r>
              <a:rPr lang="ru-RU" sz="1400" dirty="0"/>
              <a:t> </a:t>
            </a:r>
            <a:r>
              <a:rPr lang="ru-RU" sz="1400" dirty="0" err="1"/>
              <a:t>our</a:t>
            </a:r>
            <a:r>
              <a:rPr lang="ru-RU" sz="1400" dirty="0"/>
              <a:t>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outputs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Reproduced</a:t>
            </a:r>
            <a:r>
              <a:rPr lang="ru-RU" sz="1400" b="1" dirty="0"/>
              <a:t> GRF </a:t>
            </a:r>
            <a:r>
              <a:rPr lang="ru-RU" sz="1400" b="1" dirty="0" err="1"/>
              <a:t>results</a:t>
            </a:r>
            <a:r>
              <a:rPr lang="en-US" sz="1400" b="1" dirty="0"/>
              <a:t>: </a:t>
            </a:r>
            <a:r>
              <a:rPr lang="ru-RU" sz="1400" dirty="0" err="1"/>
              <a:t>Vertical</a:t>
            </a:r>
            <a:r>
              <a:rPr lang="ru-RU" sz="1400" dirty="0"/>
              <a:t> </a:t>
            </a:r>
            <a:r>
              <a:rPr lang="ru-RU" sz="1400" dirty="0" err="1"/>
              <a:t>ground</a:t>
            </a:r>
            <a:r>
              <a:rPr lang="ru-RU" sz="1400" dirty="0"/>
              <a:t> </a:t>
            </a:r>
            <a:r>
              <a:rPr lang="ru-RU" sz="1400" dirty="0" err="1"/>
              <a:t>reaction</a:t>
            </a:r>
            <a:r>
              <a:rPr lang="ru-RU" sz="1400" dirty="0"/>
              <a:t> </a:t>
            </a:r>
            <a:r>
              <a:rPr lang="ru-RU" sz="1400" dirty="0" err="1"/>
              <a:t>force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very</a:t>
            </a:r>
            <a:r>
              <a:rPr lang="ru-RU" sz="1400" dirty="0"/>
              <a:t> </a:t>
            </a:r>
            <a:r>
              <a:rPr lang="ru-RU" sz="1400" dirty="0" err="1"/>
              <a:t>small</a:t>
            </a:r>
            <a:r>
              <a:rPr lang="ru-RU" sz="1400" dirty="0"/>
              <a:t> </a:t>
            </a:r>
            <a:r>
              <a:rPr lang="ru-RU" sz="1400" dirty="0" err="1"/>
              <a:t>differences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dirty="0" err="1"/>
              <a:t>approximately</a:t>
            </a:r>
            <a:r>
              <a:rPr lang="ru-RU" sz="1400" dirty="0"/>
              <a:t> </a:t>
            </a:r>
            <a:r>
              <a:rPr lang="ru-RU" sz="1400" b="1" dirty="0"/>
              <a:t>0.01–0.02 BW RMSE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Correlation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outputs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very</a:t>
            </a:r>
            <a:r>
              <a:rPr lang="ru-RU" sz="1400" dirty="0"/>
              <a:t> </a:t>
            </a:r>
            <a:r>
              <a:rPr lang="ru-RU" sz="1400" dirty="0" err="1"/>
              <a:t>high</a:t>
            </a:r>
            <a:r>
              <a:rPr lang="ru-RU" sz="1400" dirty="0"/>
              <a:t> </a:t>
            </a:r>
            <a:r>
              <a:rPr lang="ru-RU" sz="1400" dirty="0" err="1"/>
              <a:t>agreement</a:t>
            </a:r>
            <a:r>
              <a:rPr lang="ru-RU" sz="1400" dirty="0"/>
              <a:t> </a:t>
            </a:r>
            <a:r>
              <a:rPr lang="ru-RU" sz="1400" dirty="0" err="1"/>
              <a:t>between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curves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r ≈ 1.0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reported</a:t>
            </a:r>
            <a:r>
              <a:rPr lang="ru-RU" sz="1400" dirty="0"/>
              <a:t> </a:t>
            </a:r>
            <a:r>
              <a:rPr lang="ru-RU" sz="1400" dirty="0" err="1"/>
              <a:t>variables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F70A83-C044-8A30-FE14-C5CB853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II</a:t>
            </a:r>
            <a:br>
              <a:rPr lang="ru-RU" b="1" dirty="0"/>
            </a:br>
            <a:r>
              <a:rPr lang="ru-RU" dirty="0" err="1"/>
              <a:t>Dimensionless</a:t>
            </a:r>
            <a:r>
              <a:rPr lang="ru-RU" dirty="0"/>
              <a:t> </a:t>
            </a:r>
            <a:r>
              <a:rPr lang="ru-RU" dirty="0" err="1"/>
              <a:t>Walking</a:t>
            </a:r>
            <a:r>
              <a:rPr lang="ru-RU" dirty="0"/>
              <a:t> Speed Analysis</a:t>
            </a:r>
          </a:p>
        </p:txBody>
      </p:sp>
    </p:spTree>
    <p:extLst>
      <p:ext uri="{BB962C8B-B14F-4D97-AF65-F5344CB8AC3E}">
        <p14:creationId xmlns:p14="http://schemas.microsoft.com/office/powerpoint/2010/main" val="1199235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0D61-68EA-4A52-E552-995F93FC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84D1B5-4A33-61D8-DA28-F03675BFC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844824"/>
            <a:ext cx="9936906" cy="1296144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Takeaway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/>
              <a:t>The 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realistic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trajectories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walking-speed</a:t>
            </a:r>
            <a:r>
              <a:rPr lang="ru-RU" sz="1400" dirty="0"/>
              <a:t> </a:t>
            </a:r>
            <a:r>
              <a:rPr lang="ru-RU" sz="1400" dirty="0" err="1"/>
              <a:t>ranges</a:t>
            </a:r>
            <a:r>
              <a:rPr lang="ru-RU" sz="1400" dirty="0"/>
              <a:t>, </a:t>
            </a:r>
            <a:r>
              <a:rPr lang="ru-RU" sz="1400" dirty="0" err="1"/>
              <a:t>supporting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paper’s</a:t>
            </a:r>
            <a:r>
              <a:rPr lang="ru-RU" sz="1400" dirty="0"/>
              <a:t> </a:t>
            </a:r>
            <a:r>
              <a:rPr lang="ru-RU" sz="1400" dirty="0" err="1"/>
              <a:t>claim</a:t>
            </a:r>
            <a:r>
              <a:rPr lang="ru-RU" sz="1400" dirty="0"/>
              <a:t> </a:t>
            </a:r>
            <a:r>
              <a:rPr lang="ru-RU" sz="1400" dirty="0" err="1"/>
              <a:t>that</a:t>
            </a:r>
            <a:r>
              <a:rPr lang="ru-RU" sz="1400" dirty="0"/>
              <a:t> </a:t>
            </a:r>
            <a:r>
              <a:rPr lang="ru-RU" sz="1400" dirty="0" err="1"/>
              <a:t>generated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preserve</a:t>
            </a:r>
            <a:r>
              <a:rPr lang="ru-RU" sz="1400" dirty="0"/>
              <a:t> </a:t>
            </a:r>
            <a:r>
              <a:rPr lang="ru-RU" sz="1400" dirty="0" err="1"/>
              <a:t>speed-related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patterns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DE1652-8831-FC6C-BA90-0B1EE9AE6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II</a:t>
            </a:r>
            <a:br>
              <a:rPr lang="ru-RU" b="1" dirty="0"/>
            </a:br>
            <a:r>
              <a:rPr lang="ru-RU" dirty="0" err="1"/>
              <a:t>Dimensionless</a:t>
            </a:r>
            <a:r>
              <a:rPr lang="ru-RU" dirty="0"/>
              <a:t> </a:t>
            </a:r>
            <a:r>
              <a:rPr lang="ru-RU" dirty="0" err="1"/>
              <a:t>Walking</a:t>
            </a:r>
            <a:r>
              <a:rPr lang="ru-RU" dirty="0"/>
              <a:t> Speed Analysis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C9B395-26D7-7593-AB0A-B786F83B8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29" y="2420888"/>
            <a:ext cx="10329135" cy="43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64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43B6-3376-79FB-9298-B2B0DF11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10C19-5E37-9A0D-F73E-18F4318BD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3744416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Objective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/>
              <a:t>To </a:t>
            </a:r>
            <a:r>
              <a:rPr lang="ru-RU" sz="1400" dirty="0" err="1"/>
              <a:t>test</a:t>
            </a:r>
            <a:r>
              <a:rPr lang="ru-RU" sz="1400" dirty="0"/>
              <a:t> </a:t>
            </a:r>
            <a:r>
              <a:rPr lang="ru-RU" sz="1400" dirty="0" err="1"/>
              <a:t>whether</a:t>
            </a:r>
            <a:r>
              <a:rPr lang="ru-RU" sz="1400" dirty="0"/>
              <a:t> </a:t>
            </a:r>
            <a:r>
              <a:rPr lang="ru-RU" sz="1400" dirty="0" err="1"/>
              <a:t>condition-matched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datasets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reproduce</a:t>
            </a:r>
            <a:r>
              <a:rPr lang="ru-RU" sz="1400" dirty="0"/>
              <a:t> </a:t>
            </a:r>
            <a:r>
              <a:rPr lang="ru-RU" sz="1400" dirty="0" err="1"/>
              <a:t>findings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previous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studies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  <a:p>
            <a:r>
              <a:rPr lang="ru-RU" sz="1400" b="1" dirty="0" err="1"/>
              <a:t>Condition-matched</a:t>
            </a:r>
            <a:r>
              <a:rPr lang="ru-RU" sz="1400" b="1" dirty="0"/>
              <a:t> </a:t>
            </a:r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cohorts</a:t>
            </a:r>
            <a:r>
              <a:rPr lang="en-US" sz="1400" b="1" dirty="0"/>
              <a:t>: </a:t>
            </a:r>
            <a:r>
              <a:rPr lang="ru-RU" sz="1400" dirty="0"/>
              <a:t>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generated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datasets</a:t>
            </a:r>
            <a:r>
              <a:rPr lang="ru-RU" sz="1400" dirty="0"/>
              <a:t> </a:t>
            </a:r>
            <a:r>
              <a:rPr lang="ru-RU" sz="1400" dirty="0" err="1"/>
              <a:t>using</a:t>
            </a:r>
            <a:r>
              <a:rPr lang="ru-RU" sz="1400" dirty="0"/>
              <a:t> </a:t>
            </a:r>
            <a:r>
              <a:rPr lang="ru-RU" sz="1400" dirty="0" err="1"/>
              <a:t>reported</a:t>
            </a:r>
            <a:r>
              <a:rPr lang="ru-RU" sz="1400" dirty="0"/>
              <a:t> </a:t>
            </a:r>
            <a:r>
              <a:rPr lang="ru-RU" sz="1400" dirty="0" err="1"/>
              <a:t>means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standard</a:t>
            </a:r>
            <a:r>
              <a:rPr lang="ru-RU" sz="1400" dirty="0"/>
              <a:t> </a:t>
            </a:r>
            <a:r>
              <a:rPr lang="ru-RU" sz="1400" dirty="0" err="1"/>
              <a:t>deviations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previous</a:t>
            </a:r>
            <a:r>
              <a:rPr lang="ru-RU" sz="1400" dirty="0"/>
              <a:t> </a:t>
            </a:r>
            <a:r>
              <a:rPr lang="ru-RU" sz="1400" dirty="0" err="1"/>
              <a:t>studies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Nigg</a:t>
            </a:r>
            <a:r>
              <a:rPr lang="ru-RU" sz="1400" b="1" dirty="0"/>
              <a:t> </a:t>
            </a:r>
            <a:r>
              <a:rPr lang="ru-RU" sz="1400" b="1" dirty="0" err="1"/>
              <a:t>et</a:t>
            </a:r>
            <a:r>
              <a:rPr lang="ru-RU" sz="1400" b="1" dirty="0"/>
              <a:t> </a:t>
            </a:r>
            <a:r>
              <a:rPr lang="ru-RU" sz="1400" b="1" dirty="0" err="1"/>
              <a:t>al</a:t>
            </a:r>
            <a:r>
              <a:rPr lang="ru-RU" sz="1400" b="1" dirty="0"/>
              <a:t>. (1994): </a:t>
            </a:r>
            <a:r>
              <a:rPr lang="ru-RU" sz="1400" b="1" dirty="0" err="1"/>
              <a:t>age</a:t>
            </a:r>
            <a:r>
              <a:rPr lang="ru-RU" sz="1400" b="1" dirty="0"/>
              <a:t> </a:t>
            </a:r>
            <a:r>
              <a:rPr lang="ru-RU" sz="1400" b="1" dirty="0" err="1"/>
              <a:t>and</a:t>
            </a:r>
            <a:r>
              <a:rPr lang="ru-RU" sz="1400" b="1" dirty="0"/>
              <a:t> </a:t>
            </a:r>
            <a:r>
              <a:rPr lang="ru-RU" sz="1400" b="1" dirty="0" err="1"/>
              <a:t>sex</a:t>
            </a:r>
            <a:r>
              <a:rPr lang="ru-RU" sz="1400" b="1" dirty="0"/>
              <a:t> </a:t>
            </a:r>
            <a:r>
              <a:rPr lang="ru-RU" sz="1400" b="1" dirty="0" err="1"/>
              <a:t>effects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results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lower</a:t>
            </a:r>
            <a:r>
              <a:rPr lang="ru-RU" sz="1400" dirty="0"/>
              <a:t> </a:t>
            </a:r>
            <a:r>
              <a:rPr lang="ru-RU" sz="1400" dirty="0" err="1"/>
              <a:t>ankle</a:t>
            </a:r>
            <a:r>
              <a:rPr lang="ru-RU" sz="1400" dirty="0"/>
              <a:t> </a:t>
            </a:r>
            <a:r>
              <a:rPr lang="ru-RU" sz="1400" dirty="0" err="1"/>
              <a:t>dorsiflexion</a:t>
            </a:r>
            <a:r>
              <a:rPr lang="ru-RU" sz="1400" dirty="0"/>
              <a:t> ROM </a:t>
            </a:r>
            <a:r>
              <a:rPr lang="ru-RU" sz="1400" dirty="0" err="1"/>
              <a:t>in</a:t>
            </a:r>
            <a:r>
              <a:rPr lang="ru-RU" sz="1400" dirty="0"/>
              <a:t> </a:t>
            </a:r>
            <a:r>
              <a:rPr lang="ru-RU" sz="1400" dirty="0" err="1"/>
              <a:t>young</a:t>
            </a:r>
            <a:r>
              <a:rPr lang="ru-RU" sz="1400" dirty="0"/>
              <a:t> </a:t>
            </a:r>
            <a:r>
              <a:rPr lang="ru-RU" sz="1400" dirty="0" err="1"/>
              <a:t>males</a:t>
            </a:r>
            <a:r>
              <a:rPr lang="ru-RU" sz="1400" dirty="0"/>
              <a:t> </a:t>
            </a:r>
            <a:r>
              <a:rPr lang="ru-RU" sz="1400" dirty="0" err="1"/>
              <a:t>than</a:t>
            </a:r>
            <a:r>
              <a:rPr lang="ru-RU" sz="1400" dirty="0"/>
              <a:t> </a:t>
            </a:r>
            <a:r>
              <a:rPr lang="ru-RU" sz="1400" dirty="0" err="1"/>
              <a:t>females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27.5° </a:t>
            </a:r>
            <a:r>
              <a:rPr lang="ru-RU" sz="1400" b="1" dirty="0" err="1"/>
              <a:t>vs</a:t>
            </a:r>
            <a:r>
              <a:rPr lang="ru-RU" sz="1400" b="1" dirty="0"/>
              <a:t> 29.6°, p = 0.00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dirty="0"/>
              <a:t>For </a:t>
            </a:r>
            <a:r>
              <a:rPr lang="ru-RU" sz="1400" dirty="0" err="1"/>
              <a:t>older</a:t>
            </a:r>
            <a:r>
              <a:rPr lang="ru-RU" sz="1400" dirty="0"/>
              <a:t> </a:t>
            </a:r>
            <a:r>
              <a:rPr lang="ru-RU" sz="1400" dirty="0" err="1"/>
              <a:t>adults</a:t>
            </a:r>
            <a:r>
              <a:rPr lang="ru-RU" sz="1400" dirty="0"/>
              <a:t>,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difference</a:t>
            </a:r>
            <a:r>
              <a:rPr lang="ru-RU" sz="1400" dirty="0"/>
              <a:t> </a:t>
            </a:r>
            <a:r>
              <a:rPr lang="ru-RU" sz="1400" dirty="0" err="1"/>
              <a:t>was</a:t>
            </a:r>
            <a:r>
              <a:rPr lang="ru-RU" sz="1400" dirty="0"/>
              <a:t> </a:t>
            </a:r>
            <a:r>
              <a:rPr lang="ru-RU" sz="1400" dirty="0" err="1"/>
              <a:t>not</a:t>
            </a:r>
            <a:r>
              <a:rPr lang="ru-RU" sz="1400" dirty="0"/>
              <a:t> </a:t>
            </a:r>
            <a:r>
              <a:rPr lang="ru-RU" sz="1400" dirty="0" err="1"/>
              <a:t>significant</a:t>
            </a:r>
            <a:r>
              <a:rPr lang="ru-RU" sz="1400" dirty="0"/>
              <a:t>: </a:t>
            </a:r>
            <a:r>
              <a:rPr lang="ru-RU" sz="1400" b="1" dirty="0"/>
              <a:t>p = 0.07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Bruening</a:t>
            </a:r>
            <a:r>
              <a:rPr lang="ru-RU" sz="1400" b="1" dirty="0"/>
              <a:t> </a:t>
            </a:r>
            <a:r>
              <a:rPr lang="ru-RU" sz="1400" b="1" dirty="0" err="1"/>
              <a:t>et</a:t>
            </a:r>
            <a:r>
              <a:rPr lang="ru-RU" sz="1400" b="1" dirty="0"/>
              <a:t> </a:t>
            </a:r>
            <a:r>
              <a:rPr lang="ru-RU" sz="1400" b="1" dirty="0" err="1"/>
              <a:t>al</a:t>
            </a:r>
            <a:r>
              <a:rPr lang="ru-RU" sz="1400" b="1" dirty="0"/>
              <a:t>. (2015): </a:t>
            </a:r>
            <a:r>
              <a:rPr lang="ru-RU" sz="1400" b="1" dirty="0" err="1"/>
              <a:t>sex</a:t>
            </a:r>
            <a:r>
              <a:rPr lang="ru-RU" sz="1400" b="1" dirty="0"/>
              <a:t> </a:t>
            </a:r>
            <a:r>
              <a:rPr lang="ru-RU" sz="1400" b="1" dirty="0" err="1"/>
              <a:t>differences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results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sex-related</a:t>
            </a:r>
            <a:r>
              <a:rPr lang="ru-RU" sz="1400" dirty="0"/>
              <a:t> </a:t>
            </a:r>
            <a:r>
              <a:rPr lang="ru-RU" sz="1400" dirty="0" err="1"/>
              <a:t>differences</a:t>
            </a:r>
            <a:r>
              <a:rPr lang="ru-RU" sz="1400" dirty="0"/>
              <a:t> </a:t>
            </a:r>
            <a:r>
              <a:rPr lang="ru-RU" sz="1400" dirty="0" err="1"/>
              <a:t>in</a:t>
            </a:r>
            <a:r>
              <a:rPr lang="ru-RU" sz="1400" dirty="0"/>
              <a:t> </a:t>
            </a:r>
            <a:r>
              <a:rPr lang="ru-RU" sz="1400" dirty="0" err="1"/>
              <a:t>several</a:t>
            </a:r>
            <a:r>
              <a:rPr lang="ru-RU" sz="1400" dirty="0"/>
              <a:t> ROM </a:t>
            </a:r>
            <a:r>
              <a:rPr lang="ru-RU" sz="1400" dirty="0" err="1"/>
              <a:t>measures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dirty="0" err="1"/>
              <a:t>Ankle</a:t>
            </a:r>
            <a:r>
              <a:rPr lang="ru-RU" sz="1400" dirty="0"/>
              <a:t> </a:t>
            </a:r>
            <a:r>
              <a:rPr lang="ru-RU" sz="1400" dirty="0" err="1"/>
              <a:t>dorsiflexion</a:t>
            </a:r>
            <a:r>
              <a:rPr lang="ru-RU" sz="1400" dirty="0"/>
              <a:t> ROM </a:t>
            </a:r>
            <a:r>
              <a:rPr lang="ru-RU" sz="1400" dirty="0" err="1"/>
              <a:t>was</a:t>
            </a:r>
            <a:r>
              <a:rPr lang="ru-RU" sz="1400" dirty="0"/>
              <a:t> </a:t>
            </a:r>
            <a:r>
              <a:rPr lang="ru-RU" sz="1400" dirty="0" err="1"/>
              <a:t>lower</a:t>
            </a:r>
            <a:r>
              <a:rPr lang="ru-RU" sz="1400" dirty="0"/>
              <a:t> </a:t>
            </a:r>
            <a:r>
              <a:rPr lang="ru-RU" sz="1400" dirty="0" err="1"/>
              <a:t>in</a:t>
            </a:r>
            <a:r>
              <a:rPr lang="ru-RU" sz="1400" dirty="0"/>
              <a:t> </a:t>
            </a:r>
            <a:r>
              <a:rPr lang="ru-RU" sz="1400" dirty="0" err="1"/>
              <a:t>males</a:t>
            </a:r>
            <a:r>
              <a:rPr lang="ru-RU" sz="1400" dirty="0"/>
              <a:t> </a:t>
            </a:r>
            <a:r>
              <a:rPr lang="ru-RU" sz="1400" dirty="0" err="1"/>
              <a:t>than</a:t>
            </a:r>
            <a:r>
              <a:rPr lang="ru-RU" sz="1400" dirty="0"/>
              <a:t> </a:t>
            </a:r>
            <a:r>
              <a:rPr lang="ru-RU" sz="1400" dirty="0" err="1"/>
              <a:t>females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28.5° </a:t>
            </a:r>
            <a:r>
              <a:rPr lang="ru-RU" sz="1400" b="1" dirty="0" err="1"/>
              <a:t>vs</a:t>
            </a:r>
            <a:r>
              <a:rPr lang="ru-RU" sz="1400" b="1" dirty="0"/>
              <a:t> 30.0°, p = 0.000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Weinhandl</a:t>
            </a:r>
            <a:r>
              <a:rPr lang="ru-RU" sz="1400" b="1" dirty="0"/>
              <a:t> </a:t>
            </a:r>
            <a:r>
              <a:rPr lang="ru-RU" sz="1400" b="1" dirty="0" err="1"/>
              <a:t>et</a:t>
            </a:r>
            <a:r>
              <a:rPr lang="ru-RU" sz="1400" b="1" dirty="0"/>
              <a:t> </a:t>
            </a:r>
            <a:r>
              <a:rPr lang="ru-RU" sz="1400" b="1" dirty="0" err="1"/>
              <a:t>al</a:t>
            </a:r>
            <a:r>
              <a:rPr lang="ru-RU" sz="1400" b="1" dirty="0"/>
              <a:t>. (2017): </a:t>
            </a:r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speed</a:t>
            </a:r>
            <a:r>
              <a:rPr lang="ru-RU" sz="1400" b="1" dirty="0"/>
              <a:t> </a:t>
            </a:r>
            <a:r>
              <a:rPr lang="ru-RU" sz="1400" b="1" dirty="0" err="1"/>
              <a:t>effects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results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a </a:t>
            </a:r>
            <a:r>
              <a:rPr lang="ru-RU" sz="1400" dirty="0" err="1"/>
              <a:t>significant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 </a:t>
            </a:r>
            <a:r>
              <a:rPr lang="ru-RU" sz="1400" dirty="0" err="1"/>
              <a:t>effect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b="1" dirty="0" err="1"/>
              <a:t>first</a:t>
            </a:r>
            <a:r>
              <a:rPr lang="ru-RU" sz="1400" b="1" dirty="0"/>
              <a:t> </a:t>
            </a:r>
            <a:r>
              <a:rPr lang="ru-RU" sz="1400" b="1" dirty="0" err="1"/>
              <a:t>vertical</a:t>
            </a:r>
            <a:r>
              <a:rPr lang="ru-RU" sz="1400" b="1" dirty="0"/>
              <a:t> GRF </a:t>
            </a:r>
            <a:r>
              <a:rPr lang="ru-RU" sz="1400" b="1" dirty="0" err="1"/>
              <a:t>peak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p = 0.042</a:t>
            </a:r>
            <a:r>
              <a:rPr lang="ru-RU" sz="1400" dirty="0"/>
              <a:t>, </a:t>
            </a:r>
            <a:r>
              <a:rPr lang="ru-RU" sz="1400" dirty="0" err="1"/>
              <a:t>but</a:t>
            </a:r>
            <a:r>
              <a:rPr lang="ru-RU" sz="1400" dirty="0"/>
              <a:t> </a:t>
            </a:r>
            <a:r>
              <a:rPr lang="ru-RU" sz="1400" dirty="0" err="1"/>
              <a:t>not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second</a:t>
            </a:r>
            <a:r>
              <a:rPr lang="ru-RU" sz="1400" dirty="0"/>
              <a:t> </a:t>
            </a:r>
            <a:r>
              <a:rPr lang="ru-RU" sz="1400" dirty="0" err="1"/>
              <a:t>peak</a:t>
            </a:r>
            <a:r>
              <a:rPr lang="ru-RU" sz="1400" dirty="0"/>
              <a:t>: </a:t>
            </a:r>
            <a:r>
              <a:rPr lang="ru-RU" sz="1400" b="1" dirty="0"/>
              <a:t>p = 0.287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A30981-0A44-4567-4EEE-C11C8D5C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III</a:t>
            </a:r>
            <a:br>
              <a:rPr lang="ru-RU" b="1" dirty="0"/>
            </a:br>
            <a:r>
              <a:rPr lang="ru-RU" dirty="0" err="1"/>
              <a:t>Literature</a:t>
            </a:r>
            <a:r>
              <a:rPr lang="ru-RU" dirty="0"/>
              <a:t> </a:t>
            </a:r>
            <a:r>
              <a:rPr lang="ru-RU" dirty="0" err="1"/>
              <a:t>Findings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Synthetic</a:t>
            </a:r>
            <a:r>
              <a:rPr lang="ru-RU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510385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746F-4DDD-3417-F4F9-9420F953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DE9185-FD63-DA5C-0EC0-3EEBDF913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4104258" cy="3888432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Takeaway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br>
              <a:rPr lang="ru-RU" sz="1400" b="1" dirty="0"/>
            </a:br>
            <a:r>
              <a:rPr lang="ru-RU" sz="1400" dirty="0"/>
              <a:t>The </a:t>
            </a:r>
            <a:r>
              <a:rPr lang="ru-RU" sz="1400" dirty="0" err="1"/>
              <a:t>reproduced</a:t>
            </a:r>
            <a:r>
              <a:rPr lang="ru-RU" sz="1400" dirty="0"/>
              <a:t> </a:t>
            </a:r>
            <a:r>
              <a:rPr lang="ru-RU" sz="1400" dirty="0" err="1"/>
              <a:t>analyses</a:t>
            </a:r>
            <a:r>
              <a:rPr lang="ru-RU" sz="1400" dirty="0"/>
              <a:t> </a:t>
            </a:r>
            <a:r>
              <a:rPr lang="ru-RU" sz="1400" dirty="0" err="1"/>
              <a:t>support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paper’s</a:t>
            </a:r>
            <a:r>
              <a:rPr lang="ru-RU" sz="1400" dirty="0"/>
              <a:t> </a:t>
            </a:r>
            <a:r>
              <a:rPr lang="ru-RU" sz="1400" dirty="0" err="1"/>
              <a:t>claim</a:t>
            </a:r>
            <a:r>
              <a:rPr lang="ru-RU" sz="1400" dirty="0"/>
              <a:t> </a:t>
            </a:r>
            <a:r>
              <a:rPr lang="ru-RU" sz="1400" dirty="0" err="1"/>
              <a:t>that</a:t>
            </a:r>
            <a:r>
              <a:rPr lang="ru-RU" sz="1400" dirty="0"/>
              <a:t> 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can</a:t>
            </a:r>
            <a:r>
              <a:rPr lang="ru-RU" sz="1400" dirty="0"/>
              <a:t> </a:t>
            </a:r>
            <a:r>
              <a:rPr lang="ru-RU" sz="1400" dirty="0" err="1"/>
              <a:t>recover</a:t>
            </a:r>
            <a:r>
              <a:rPr lang="ru-RU" sz="1400" dirty="0"/>
              <a:t> </a:t>
            </a:r>
            <a:r>
              <a:rPr lang="ru-RU" sz="1400" dirty="0" err="1"/>
              <a:t>meaningful</a:t>
            </a:r>
            <a:r>
              <a:rPr lang="ru-RU" sz="1400" dirty="0"/>
              <a:t> </a:t>
            </a:r>
            <a:r>
              <a:rPr lang="ru-RU" sz="1400" dirty="0" err="1"/>
              <a:t>relationships</a:t>
            </a:r>
            <a:r>
              <a:rPr lang="ru-RU" sz="1400" dirty="0"/>
              <a:t> </a:t>
            </a:r>
            <a:r>
              <a:rPr lang="ru-RU" sz="1400" dirty="0" err="1"/>
              <a:t>between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parameters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/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br>
              <a:rPr lang="ru-RU" sz="1400" dirty="0"/>
            </a:b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F5942-C309-24F2-F047-249B212E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III</a:t>
            </a:r>
            <a:br>
              <a:rPr lang="ru-RU" b="1" dirty="0"/>
            </a:br>
            <a:r>
              <a:rPr lang="ru-RU" dirty="0" err="1"/>
              <a:t>Literature</a:t>
            </a:r>
            <a:r>
              <a:rPr lang="ru-RU" dirty="0"/>
              <a:t> </a:t>
            </a:r>
            <a:r>
              <a:rPr lang="ru-RU" dirty="0" err="1"/>
              <a:t>Findings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Synthetic</a:t>
            </a:r>
            <a:r>
              <a:rPr lang="ru-RU" dirty="0"/>
              <a:t> Data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177F04-4F29-6E94-EF2B-EBB745082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71" y="1700808"/>
            <a:ext cx="5575347" cy="50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9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460D-003A-935D-93CD-DE74A86FE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80ECA4-B74F-70C7-698A-89481858B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4104456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Objective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/>
              <a:t>To </a:t>
            </a:r>
            <a:r>
              <a:rPr lang="ru-RU" sz="1400" dirty="0" err="1"/>
              <a:t>evaluate</a:t>
            </a:r>
            <a:r>
              <a:rPr lang="ru-RU" sz="1400" dirty="0"/>
              <a:t> </a:t>
            </a:r>
            <a:r>
              <a:rPr lang="ru-RU" sz="1400" dirty="0" err="1"/>
              <a:t>how</a:t>
            </a:r>
            <a:r>
              <a:rPr lang="ru-RU" sz="1400" dirty="0"/>
              <a:t> </a:t>
            </a:r>
            <a:r>
              <a:rPr lang="ru-RU" sz="1400" dirty="0" err="1"/>
              <a:t>well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trained</a:t>
            </a:r>
            <a:r>
              <a:rPr lang="ru-RU" sz="1400" dirty="0"/>
              <a:t> </a:t>
            </a:r>
            <a:r>
              <a:rPr lang="ru-RU" sz="1400" dirty="0" err="1"/>
              <a:t>models</a:t>
            </a:r>
            <a:r>
              <a:rPr lang="ru-RU" sz="1400" dirty="0"/>
              <a:t> </a:t>
            </a:r>
            <a:r>
              <a:rPr lang="ru-RU" sz="1400" dirty="0" err="1"/>
              <a:t>generate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subjects</a:t>
            </a:r>
            <a:r>
              <a:rPr lang="ru-RU" sz="1400" dirty="0"/>
              <a:t> </a:t>
            </a:r>
            <a:r>
              <a:rPr lang="ru-RU" sz="1400" dirty="0" err="1"/>
              <a:t>excluded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training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  <a:p>
            <a:r>
              <a:rPr lang="ru-RU" sz="1400" b="1" dirty="0"/>
              <a:t>Test </a:t>
            </a:r>
            <a:r>
              <a:rPr lang="ru-RU" sz="1400" b="1" dirty="0" err="1"/>
              <a:t>setting</a:t>
            </a:r>
            <a:r>
              <a:rPr lang="en-US" sz="1400" b="1" dirty="0"/>
              <a:t>: </a:t>
            </a:r>
            <a:r>
              <a:rPr lang="ru-RU" sz="1400" dirty="0" err="1"/>
              <a:t>Three</a:t>
            </a:r>
            <a:r>
              <a:rPr lang="ru-RU" sz="1400" dirty="0"/>
              <a:t> </a:t>
            </a:r>
            <a:r>
              <a:rPr lang="ru-RU" sz="1400" dirty="0" err="1"/>
              <a:t>unseen</a:t>
            </a:r>
            <a:r>
              <a:rPr lang="ru-RU" sz="1400" dirty="0"/>
              <a:t> </a:t>
            </a:r>
            <a:r>
              <a:rPr lang="ru-RU" sz="1400" dirty="0" err="1"/>
              <a:t>subjects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used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subject-specific</a:t>
            </a:r>
            <a:r>
              <a:rPr lang="ru-RU" sz="1400" dirty="0"/>
              <a:t> </a:t>
            </a:r>
            <a:r>
              <a:rPr lang="ru-RU" sz="1400" dirty="0" err="1"/>
              <a:t>prediction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dirty="0"/>
              <a:t>For </a:t>
            </a:r>
            <a:r>
              <a:rPr lang="ru-RU" sz="1400" dirty="0" err="1"/>
              <a:t>each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trial</a:t>
            </a:r>
            <a:r>
              <a:rPr lang="ru-RU" sz="1400" dirty="0"/>
              <a:t>,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models</a:t>
            </a:r>
            <a:r>
              <a:rPr lang="ru-RU" sz="1400" dirty="0"/>
              <a:t> </a:t>
            </a:r>
            <a:r>
              <a:rPr lang="ru-RU" sz="1400" dirty="0" err="1"/>
              <a:t>generated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using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/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. </a:t>
            </a:r>
          </a:p>
          <a:p>
            <a:r>
              <a:rPr lang="ru-RU" sz="1400" b="1" dirty="0"/>
              <a:t>Best </a:t>
            </a:r>
            <a:r>
              <a:rPr lang="ru-RU" sz="1400" b="1" dirty="0" err="1"/>
              <a:t>overall</a:t>
            </a:r>
            <a:r>
              <a:rPr lang="ru-RU" sz="1400" b="1" dirty="0"/>
              <a:t> </a:t>
            </a:r>
            <a:r>
              <a:rPr lang="ru-RU" sz="1400" b="1" dirty="0" err="1"/>
              <a:t>model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b="1" dirty="0"/>
              <a:t>WS-</a:t>
            </a:r>
            <a:r>
              <a:rPr lang="ru-RU" sz="1400" b="1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best</a:t>
            </a:r>
            <a:r>
              <a:rPr lang="ru-RU" sz="1400" dirty="0"/>
              <a:t> </a:t>
            </a:r>
            <a:r>
              <a:rPr lang="ru-RU" sz="1400" dirty="0" err="1"/>
              <a:t>overall</a:t>
            </a:r>
            <a:r>
              <a:rPr lang="ru-RU" sz="1400" dirty="0"/>
              <a:t> </a:t>
            </a:r>
            <a:r>
              <a:rPr lang="ru-RU" sz="1400" dirty="0" err="1"/>
              <a:t>prediction</a:t>
            </a:r>
            <a:r>
              <a:rPr lang="ru-RU" sz="1400" dirty="0"/>
              <a:t> </a:t>
            </a:r>
            <a:r>
              <a:rPr lang="ru-RU" sz="1400" dirty="0" err="1"/>
              <a:t>performance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unseen</a:t>
            </a:r>
            <a:r>
              <a:rPr lang="ru-RU" sz="1400" dirty="0"/>
              <a:t> </a:t>
            </a:r>
            <a:r>
              <a:rPr lang="ru-RU" sz="1400" dirty="0" err="1"/>
              <a:t>test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Reproduced</a:t>
            </a:r>
            <a:r>
              <a:rPr lang="ru-RU" sz="1400" b="1" dirty="0"/>
              <a:t> </a:t>
            </a:r>
            <a:r>
              <a:rPr lang="ru-RU" sz="1400" b="1" dirty="0" err="1"/>
              <a:t>kinematics</a:t>
            </a:r>
            <a:r>
              <a:rPr lang="ru-RU" sz="1400" b="1" dirty="0"/>
              <a:t> </a:t>
            </a:r>
            <a:r>
              <a:rPr lang="ru-RU" sz="1400" b="1" dirty="0" err="1"/>
              <a:t>performance</a:t>
            </a:r>
            <a:r>
              <a:rPr lang="en-US" sz="1400" b="1" dirty="0"/>
              <a:t>: </a:t>
            </a:r>
            <a:r>
              <a:rPr lang="ru-RU" sz="1400" dirty="0"/>
              <a:t>WS-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achieved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lowest</a:t>
            </a:r>
            <a:r>
              <a:rPr lang="ru-RU" sz="1400" dirty="0"/>
              <a:t> </a:t>
            </a:r>
            <a:r>
              <a:rPr lang="ru-RU" sz="1400" dirty="0" err="1"/>
              <a:t>overall</a:t>
            </a:r>
            <a:r>
              <a:rPr lang="ru-RU" sz="1400" dirty="0"/>
              <a:t> IK </a:t>
            </a:r>
            <a:r>
              <a:rPr lang="ru-RU" sz="1400" dirty="0" err="1"/>
              <a:t>error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IK RMSE = 4.7 ± 1.3°</a:t>
            </a:r>
            <a:r>
              <a:rPr lang="ru-RU" sz="1400" dirty="0"/>
              <a:t>, </a:t>
            </a:r>
            <a:r>
              <a:rPr lang="ru-RU" sz="1400" b="1" dirty="0"/>
              <a:t>R = 0.77 ± 0.09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Sagittal-plane</a:t>
            </a:r>
            <a:r>
              <a:rPr lang="ru-RU" sz="1400" b="1" dirty="0"/>
              <a:t> </a:t>
            </a:r>
            <a:r>
              <a:rPr lang="ru-RU" sz="1400" b="1" dirty="0" err="1"/>
              <a:t>kinematics</a:t>
            </a:r>
            <a:r>
              <a:rPr lang="en-US" sz="1400" b="1" dirty="0"/>
              <a:t>: </a:t>
            </a:r>
            <a:r>
              <a:rPr lang="ru-RU" sz="1400" dirty="0"/>
              <a:t>WS-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also</a:t>
            </a:r>
            <a:r>
              <a:rPr lang="ru-RU" sz="1400" dirty="0"/>
              <a:t> </a:t>
            </a:r>
            <a:r>
              <a:rPr lang="ru-RU" sz="1400" dirty="0" err="1"/>
              <a:t>performed</a:t>
            </a:r>
            <a:r>
              <a:rPr lang="ru-RU" sz="1400" dirty="0"/>
              <a:t> </a:t>
            </a:r>
            <a:r>
              <a:rPr lang="ru-RU" sz="1400" dirty="0" err="1"/>
              <a:t>best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sagittal-plane</a:t>
            </a:r>
            <a:r>
              <a:rPr lang="ru-RU" sz="1400" dirty="0"/>
              <a:t> </a:t>
            </a:r>
            <a:r>
              <a:rPr lang="ru-RU" sz="1400" dirty="0" err="1"/>
              <a:t>joint</a:t>
            </a:r>
            <a:r>
              <a:rPr lang="ru-RU" sz="1400" dirty="0"/>
              <a:t> </a:t>
            </a:r>
            <a:r>
              <a:rPr lang="ru-RU" sz="1400" dirty="0" err="1"/>
              <a:t>angles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RMSE = 6.1 ± 2.1°</a:t>
            </a:r>
            <a:r>
              <a:rPr lang="ru-RU" sz="1400" dirty="0"/>
              <a:t>, </a:t>
            </a:r>
            <a:r>
              <a:rPr lang="ru-RU" sz="1400" b="1" dirty="0"/>
              <a:t>R = 0.93 ± 0.07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Ground</a:t>
            </a:r>
            <a:r>
              <a:rPr lang="ru-RU" sz="1400" b="1" dirty="0"/>
              <a:t> </a:t>
            </a:r>
            <a:r>
              <a:rPr lang="ru-RU" sz="1400" b="1" dirty="0" err="1"/>
              <a:t>reaction</a:t>
            </a:r>
            <a:r>
              <a:rPr lang="ru-RU" sz="1400" b="1" dirty="0"/>
              <a:t> </a:t>
            </a:r>
            <a:r>
              <a:rPr lang="ru-RU" sz="1400" b="1" dirty="0" err="1"/>
              <a:t>forces</a:t>
            </a:r>
            <a:r>
              <a:rPr lang="en-US" sz="1400" b="1" dirty="0"/>
              <a:t>: </a:t>
            </a:r>
            <a:r>
              <a:rPr lang="ru-RU" sz="1400" dirty="0"/>
              <a:t>WS-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strong</a:t>
            </a:r>
            <a:r>
              <a:rPr lang="ru-RU" sz="1400" dirty="0"/>
              <a:t> GRF </a:t>
            </a:r>
            <a:r>
              <a:rPr lang="ru-RU" sz="1400" dirty="0" err="1"/>
              <a:t>agreement</a:t>
            </a:r>
            <a:r>
              <a:rPr lang="ru-RU" sz="1400" dirty="0"/>
              <a:t>:</a:t>
            </a:r>
            <a:r>
              <a:rPr lang="en-US" sz="1400" dirty="0"/>
              <a:t> </a:t>
            </a:r>
            <a:r>
              <a:rPr lang="ru-RU" sz="1400" b="1" dirty="0"/>
              <a:t>GRF RMSE = 0.06 ± 0.03 BW</a:t>
            </a:r>
            <a:r>
              <a:rPr lang="ru-RU" sz="1400" dirty="0"/>
              <a:t>, </a:t>
            </a:r>
            <a:r>
              <a:rPr lang="ru-RU" sz="1400" b="1" dirty="0"/>
              <a:t>R = 0.81 ± 0.10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dirty="0"/>
              <a:t>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had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lowest</a:t>
            </a:r>
            <a:r>
              <a:rPr lang="ru-RU" sz="1400" dirty="0"/>
              <a:t> GRF RMSE, </a:t>
            </a:r>
            <a:r>
              <a:rPr lang="ru-RU" sz="1400" b="1" dirty="0"/>
              <a:t>0.04 ± 0.01 BW</a:t>
            </a:r>
            <a:r>
              <a:rPr lang="ru-RU" sz="1400" dirty="0"/>
              <a:t>, </a:t>
            </a:r>
            <a:r>
              <a:rPr lang="ru-RU" sz="1400" dirty="0" err="1"/>
              <a:t>but</a:t>
            </a:r>
            <a:r>
              <a:rPr lang="ru-RU" sz="1400" dirty="0"/>
              <a:t> </a:t>
            </a:r>
            <a:r>
              <a:rPr lang="ru-RU" sz="1400" dirty="0" err="1"/>
              <a:t>lower</a:t>
            </a:r>
            <a:r>
              <a:rPr lang="ru-RU" sz="1400" dirty="0"/>
              <a:t> </a:t>
            </a:r>
            <a:r>
              <a:rPr lang="ru-RU" sz="1400" dirty="0" err="1"/>
              <a:t>correlation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1A5A7F-4B90-41AC-1271-D2F2F7B7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IV</a:t>
            </a:r>
            <a:br>
              <a:rPr lang="ru-RU" b="1" dirty="0"/>
            </a:br>
            <a:r>
              <a:rPr lang="ru-RU" dirty="0" err="1"/>
              <a:t>Subject-Specific</a:t>
            </a:r>
            <a:r>
              <a:rPr lang="ru-RU" dirty="0"/>
              <a:t> </a:t>
            </a:r>
            <a:r>
              <a:rPr lang="ru-RU" dirty="0" err="1"/>
              <a:t>Predictions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161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D9BFC-84F9-F63A-DAC7-8BC377CA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C3F277-46E1-8894-2157-C7CBC4FE7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762434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Takeaway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 err="1"/>
              <a:t>Walking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 </a:t>
            </a:r>
            <a:r>
              <a:rPr lang="ru-RU" sz="1400" dirty="0" err="1"/>
              <a:t>was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most</a:t>
            </a:r>
            <a:r>
              <a:rPr lang="ru-RU" sz="1400" dirty="0"/>
              <a:t> </a:t>
            </a:r>
            <a:r>
              <a:rPr lang="ru-RU" sz="1400" dirty="0" err="1"/>
              <a:t>informative</a:t>
            </a:r>
            <a:r>
              <a:rPr lang="ru-RU" sz="1400" dirty="0"/>
              <a:t> </a:t>
            </a:r>
            <a:r>
              <a:rPr lang="ru-RU" sz="1400" dirty="0" err="1"/>
              <a:t>single</a:t>
            </a:r>
            <a:r>
              <a:rPr lang="ru-RU" sz="1400" dirty="0"/>
              <a:t> </a:t>
            </a:r>
            <a:r>
              <a:rPr lang="ru-RU" sz="1400" dirty="0" err="1"/>
              <a:t>condition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predicting</a:t>
            </a:r>
            <a:r>
              <a:rPr lang="ru-RU" sz="1400" dirty="0"/>
              <a:t> </a:t>
            </a:r>
            <a:r>
              <a:rPr lang="ru-RU" sz="1400" dirty="0" err="1"/>
              <a:t>unseen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25B071-CBDC-C741-B41C-46735EEF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IV</a:t>
            </a:r>
            <a:br>
              <a:rPr lang="ru-RU" b="1" dirty="0"/>
            </a:br>
            <a:r>
              <a:rPr lang="ru-RU" dirty="0" err="1"/>
              <a:t>Subject-Specific</a:t>
            </a:r>
            <a:r>
              <a:rPr lang="ru-RU" dirty="0"/>
              <a:t> </a:t>
            </a:r>
            <a:r>
              <a:rPr lang="ru-RU" dirty="0" err="1"/>
              <a:t>Predictions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FA12B4-99AC-4312-E777-302DCC7BE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2687744"/>
            <a:ext cx="8927020" cy="283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5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F0D23-0F32-3570-6510-1B99BA55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A9ED2-228B-441A-C55C-20F9C016A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4104456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Objective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/>
              <a:t>To </a:t>
            </a:r>
            <a:r>
              <a:rPr lang="ru-RU" sz="1400" dirty="0" err="1"/>
              <a:t>assess</a:t>
            </a:r>
            <a:r>
              <a:rPr lang="ru-RU" sz="1400" dirty="0"/>
              <a:t> </a:t>
            </a:r>
            <a:r>
              <a:rPr lang="ru-RU" sz="1400" dirty="0" err="1"/>
              <a:t>whether</a:t>
            </a:r>
            <a:r>
              <a:rPr lang="ru-RU" sz="1400" dirty="0"/>
              <a:t> </a:t>
            </a:r>
            <a:r>
              <a:rPr lang="ru-RU" sz="1400" dirty="0" err="1"/>
              <a:t>generated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remain</a:t>
            </a:r>
            <a:r>
              <a:rPr lang="ru-RU" sz="1400" dirty="0"/>
              <a:t> </a:t>
            </a:r>
            <a:r>
              <a:rPr lang="ru-RU" sz="1400" dirty="0" err="1"/>
              <a:t>biomechanically</a:t>
            </a:r>
            <a:r>
              <a:rPr lang="ru-RU" sz="1400" dirty="0"/>
              <a:t> </a:t>
            </a:r>
            <a:r>
              <a:rPr lang="ru-RU" sz="1400" dirty="0" err="1"/>
              <a:t>plausible</a:t>
            </a:r>
            <a:r>
              <a:rPr lang="ru-RU" sz="1400" dirty="0"/>
              <a:t> </a:t>
            </a:r>
            <a:r>
              <a:rPr lang="ru-RU" sz="1400" dirty="0" err="1"/>
              <a:t>when</a:t>
            </a:r>
            <a:r>
              <a:rPr lang="ru-RU" sz="1400" dirty="0"/>
              <a:t> </a:t>
            </a:r>
            <a:r>
              <a:rPr lang="ru-RU" sz="1400" dirty="0" err="1"/>
              <a:t>processed</a:t>
            </a:r>
            <a:r>
              <a:rPr lang="ru-RU" sz="1400" dirty="0"/>
              <a:t> </a:t>
            </a:r>
            <a:r>
              <a:rPr lang="ru-RU" sz="1400" dirty="0" err="1"/>
              <a:t>through</a:t>
            </a:r>
            <a:r>
              <a:rPr lang="ru-RU" sz="1400" dirty="0"/>
              <a:t> </a:t>
            </a:r>
            <a:r>
              <a:rPr lang="ru-RU" sz="1400" dirty="0" err="1"/>
              <a:t>inverse</a:t>
            </a:r>
            <a:r>
              <a:rPr lang="ru-RU" sz="1400" dirty="0"/>
              <a:t> </a:t>
            </a:r>
            <a:r>
              <a:rPr lang="ru-RU" sz="1400" dirty="0" err="1"/>
              <a:t>dynamics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endParaRPr lang="ru-RU" sz="1400" dirty="0"/>
          </a:p>
          <a:p>
            <a:r>
              <a:rPr lang="ru-RU" sz="1400" b="1" dirty="0"/>
              <a:t>What </a:t>
            </a:r>
            <a:r>
              <a:rPr lang="ru-RU" sz="1400" b="1" dirty="0" err="1"/>
              <a:t>was</a:t>
            </a:r>
            <a:r>
              <a:rPr lang="ru-RU" sz="1400" b="1" dirty="0"/>
              <a:t> </a:t>
            </a:r>
            <a:r>
              <a:rPr lang="ru-RU" sz="1400" b="1" dirty="0" err="1"/>
              <a:t>evaluated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compared</a:t>
            </a:r>
            <a:r>
              <a:rPr lang="ru-RU" sz="1400" dirty="0"/>
              <a:t> </a:t>
            </a:r>
            <a:r>
              <a:rPr lang="ru-RU" sz="1400" dirty="0" err="1"/>
              <a:t>residual</a:t>
            </a:r>
            <a:r>
              <a:rPr lang="ru-RU" sz="1400" dirty="0"/>
              <a:t> </a:t>
            </a:r>
            <a:r>
              <a:rPr lang="ru-RU" sz="1400" dirty="0" err="1"/>
              <a:t>pelvis</a:t>
            </a:r>
            <a:r>
              <a:rPr lang="ru-RU" sz="1400" dirty="0"/>
              <a:t> </a:t>
            </a:r>
            <a:r>
              <a:rPr lang="ru-RU" sz="1400" dirty="0" err="1"/>
              <a:t>forces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moments</a:t>
            </a:r>
            <a:r>
              <a:rPr lang="ru-RU" sz="1400" dirty="0"/>
              <a:t> </a:t>
            </a:r>
            <a:r>
              <a:rPr lang="ru-RU" sz="1400" dirty="0" err="1"/>
              <a:t>between</a:t>
            </a:r>
            <a:r>
              <a:rPr lang="ru-RU" sz="1400" dirty="0"/>
              <a:t> </a:t>
            </a:r>
            <a:r>
              <a:rPr lang="ru-RU" sz="1400" dirty="0" err="1"/>
              <a:t>experimental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Why</a:t>
            </a:r>
            <a:r>
              <a:rPr lang="ru-RU" sz="1400" b="1" dirty="0"/>
              <a:t> </a:t>
            </a:r>
            <a:r>
              <a:rPr lang="ru-RU" sz="1400" b="1" dirty="0" err="1"/>
              <a:t>it</a:t>
            </a:r>
            <a:r>
              <a:rPr lang="ru-RU" sz="1400" b="1" dirty="0"/>
              <a:t> </a:t>
            </a:r>
            <a:r>
              <a:rPr lang="ru-RU" sz="1400" b="1" dirty="0" err="1"/>
              <a:t>matters</a:t>
            </a:r>
            <a:r>
              <a:rPr lang="en-US" sz="1400" b="1" dirty="0"/>
              <a:t>: </a:t>
            </a:r>
            <a:r>
              <a:rPr lang="ru-RU" sz="1400" dirty="0" err="1"/>
              <a:t>Realistic-looking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curves</a:t>
            </a:r>
            <a:r>
              <a:rPr lang="ru-RU" sz="1400" dirty="0"/>
              <a:t> </a:t>
            </a:r>
            <a:r>
              <a:rPr lang="ru-RU" sz="1400" dirty="0" err="1"/>
              <a:t>are</a:t>
            </a:r>
            <a:r>
              <a:rPr lang="ru-RU" sz="1400" dirty="0"/>
              <a:t> </a:t>
            </a:r>
            <a:r>
              <a:rPr lang="ru-RU" sz="1400" dirty="0" err="1"/>
              <a:t>not</a:t>
            </a:r>
            <a:r>
              <a:rPr lang="ru-RU" sz="1400" dirty="0"/>
              <a:t> </a:t>
            </a:r>
            <a:r>
              <a:rPr lang="ru-RU" sz="1400" dirty="0" err="1"/>
              <a:t>enough</a:t>
            </a:r>
            <a:r>
              <a:rPr lang="ru-RU" sz="1400" dirty="0"/>
              <a:t>;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mocap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should</a:t>
            </a:r>
            <a:r>
              <a:rPr lang="ru-RU" sz="1400" dirty="0"/>
              <a:t> </a:t>
            </a:r>
            <a:r>
              <a:rPr lang="ru-RU" sz="1400" dirty="0" err="1"/>
              <a:t>also</a:t>
            </a:r>
            <a:r>
              <a:rPr lang="ru-RU" sz="1400" dirty="0"/>
              <a:t> </a:t>
            </a:r>
            <a:r>
              <a:rPr lang="ru-RU" sz="1400" dirty="0" err="1"/>
              <a:t>preserve</a:t>
            </a:r>
            <a:r>
              <a:rPr lang="ru-RU" sz="1400" dirty="0"/>
              <a:t> </a:t>
            </a:r>
            <a:r>
              <a:rPr lang="ru-RU" sz="1400" dirty="0" err="1"/>
              <a:t>physically</a:t>
            </a:r>
            <a:r>
              <a:rPr lang="ru-RU" sz="1400" dirty="0"/>
              <a:t> </a:t>
            </a:r>
            <a:r>
              <a:rPr lang="ru-RU" sz="1400" dirty="0" err="1"/>
              <a:t>plausible</a:t>
            </a:r>
            <a:r>
              <a:rPr lang="ru-RU" sz="1400" dirty="0"/>
              <a:t> </a:t>
            </a:r>
            <a:r>
              <a:rPr lang="ru-RU" sz="1400" dirty="0" err="1"/>
              <a:t>movement</a:t>
            </a:r>
            <a:r>
              <a:rPr lang="ru-RU" sz="1400" dirty="0"/>
              <a:t> </a:t>
            </a:r>
            <a:r>
              <a:rPr lang="ru-RU" sz="1400" dirty="0" err="1"/>
              <a:t>dynamics</a:t>
            </a:r>
            <a:r>
              <a:rPr lang="ru-RU" sz="1400" dirty="0"/>
              <a:t>. </a:t>
            </a:r>
          </a:p>
          <a:p>
            <a:r>
              <a:rPr lang="ru-RU" sz="1400" b="1" dirty="0"/>
              <a:t>WS-</a:t>
            </a:r>
            <a:r>
              <a:rPr lang="ru-RU" sz="1400" b="1" dirty="0" err="1"/>
              <a:t>cGAN</a:t>
            </a:r>
            <a:r>
              <a:rPr lang="ru-RU" sz="1400" b="1" dirty="0"/>
              <a:t> </a:t>
            </a:r>
            <a:r>
              <a:rPr lang="ru-RU" sz="1400" b="1" dirty="0" err="1"/>
              <a:t>results</a:t>
            </a:r>
            <a:r>
              <a:rPr lang="en-US" sz="1400" b="1" dirty="0"/>
              <a:t>: </a:t>
            </a:r>
            <a:r>
              <a:rPr lang="ru-RU" sz="1400" dirty="0"/>
              <a:t>WS-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showed</a:t>
            </a:r>
            <a:r>
              <a:rPr lang="ru-RU" sz="1400" dirty="0"/>
              <a:t> </a:t>
            </a:r>
            <a:r>
              <a:rPr lang="ru-RU" sz="1400" dirty="0" err="1"/>
              <a:t>relatively</a:t>
            </a:r>
            <a:r>
              <a:rPr lang="ru-RU" sz="1400" dirty="0"/>
              <a:t> </a:t>
            </a:r>
            <a:r>
              <a:rPr lang="ru-RU" sz="1400" dirty="0" err="1"/>
              <a:t>low</a:t>
            </a:r>
            <a:r>
              <a:rPr lang="ru-RU" sz="1400" dirty="0"/>
              <a:t> </a:t>
            </a:r>
            <a:r>
              <a:rPr lang="ru-RU" sz="1400" dirty="0" err="1"/>
              <a:t>differences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several</a:t>
            </a:r>
            <a:r>
              <a:rPr lang="ru-RU" sz="1400" dirty="0"/>
              <a:t> </a:t>
            </a:r>
            <a:r>
              <a:rPr lang="ru-RU" sz="1400" dirty="0" err="1"/>
              <a:t>pelvis</a:t>
            </a:r>
            <a:r>
              <a:rPr lang="ru-RU" sz="1400" dirty="0"/>
              <a:t> </a:t>
            </a:r>
            <a:r>
              <a:rPr lang="ru-RU" sz="1400" dirty="0" err="1"/>
              <a:t>moments</a:t>
            </a:r>
            <a:r>
              <a:rPr lang="ru-RU" sz="1400" dirty="0"/>
              <a:t> </a:t>
            </a:r>
            <a:r>
              <a:rPr lang="ru-RU" sz="1400" dirty="0" err="1"/>
              <a:t>before</a:t>
            </a:r>
            <a:r>
              <a:rPr lang="ru-RU" sz="1400" dirty="0"/>
              <a:t> </a:t>
            </a:r>
            <a:r>
              <a:rPr lang="ru-RU" sz="1400" dirty="0" err="1"/>
              <a:t>toe-off</a:t>
            </a:r>
            <a:r>
              <a:rPr lang="ru-RU" sz="1400" dirty="0"/>
              <a:t>, </a:t>
            </a:r>
            <a:r>
              <a:rPr lang="ru-RU" sz="1400" dirty="0" err="1"/>
              <a:t>but</a:t>
            </a:r>
            <a:r>
              <a:rPr lang="ru-RU" sz="1400" dirty="0"/>
              <a:t> </a:t>
            </a:r>
            <a:r>
              <a:rPr lang="ru-RU" sz="1400" dirty="0" err="1"/>
              <a:t>force-related</a:t>
            </a:r>
            <a:r>
              <a:rPr lang="ru-RU" sz="1400" dirty="0"/>
              <a:t> </a:t>
            </a:r>
            <a:r>
              <a:rPr lang="ru-RU" sz="1400" dirty="0" err="1"/>
              <a:t>measures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more</a:t>
            </a:r>
            <a:r>
              <a:rPr lang="ru-RU" sz="1400" dirty="0"/>
              <a:t> </a:t>
            </a:r>
            <a:r>
              <a:rPr lang="ru-RU" sz="1400" dirty="0" err="1"/>
              <a:t>variable</a:t>
            </a:r>
            <a:r>
              <a:rPr lang="ru-RU" sz="1400" dirty="0"/>
              <a:t>. </a:t>
            </a:r>
          </a:p>
          <a:p>
            <a:r>
              <a:rPr lang="ru-RU" sz="1400" b="1" dirty="0"/>
              <a:t>Multi-</a:t>
            </a:r>
            <a:r>
              <a:rPr lang="ru-RU" sz="1400" b="1" dirty="0" err="1"/>
              <a:t>cGAN</a:t>
            </a:r>
            <a:r>
              <a:rPr lang="ru-RU" sz="1400" b="1" dirty="0"/>
              <a:t> </a:t>
            </a:r>
            <a:r>
              <a:rPr lang="ru-RU" sz="1400" b="1" dirty="0" err="1"/>
              <a:t>results</a:t>
            </a:r>
            <a:r>
              <a:rPr lang="en-US" sz="1400" b="1" dirty="0"/>
              <a:t>: </a:t>
            </a:r>
            <a:r>
              <a:rPr lang="ru-RU" sz="1400" dirty="0"/>
              <a:t>Multi-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also</a:t>
            </a:r>
            <a:r>
              <a:rPr lang="ru-RU" sz="1400" dirty="0"/>
              <a:t> </a:t>
            </a:r>
            <a:r>
              <a:rPr lang="ru-RU" sz="1400" dirty="0" err="1"/>
              <a:t>preserved</a:t>
            </a:r>
            <a:r>
              <a:rPr lang="ru-RU" sz="1400" dirty="0"/>
              <a:t> </a:t>
            </a:r>
            <a:r>
              <a:rPr lang="ru-RU" sz="1400" dirty="0" err="1"/>
              <a:t>several</a:t>
            </a:r>
            <a:r>
              <a:rPr lang="ru-RU" sz="1400" dirty="0"/>
              <a:t> </a:t>
            </a:r>
            <a:r>
              <a:rPr lang="ru-RU" sz="1400" dirty="0" err="1"/>
              <a:t>dynamic</a:t>
            </a:r>
            <a:r>
              <a:rPr lang="ru-RU" sz="1400" dirty="0"/>
              <a:t> </a:t>
            </a:r>
            <a:r>
              <a:rPr lang="ru-RU" sz="1400" dirty="0" err="1"/>
              <a:t>patterns</a:t>
            </a:r>
            <a:r>
              <a:rPr lang="ru-RU" sz="1400" dirty="0"/>
              <a:t>, </a:t>
            </a:r>
            <a:r>
              <a:rPr lang="ru-RU" sz="1400" dirty="0" err="1"/>
              <a:t>but</a:t>
            </a:r>
            <a:r>
              <a:rPr lang="ru-RU" sz="1400" dirty="0"/>
              <a:t> </a:t>
            </a:r>
            <a:r>
              <a:rPr lang="ru-RU" sz="1400" dirty="0" err="1"/>
              <a:t>some</a:t>
            </a:r>
            <a:r>
              <a:rPr lang="ru-RU" sz="1400" dirty="0"/>
              <a:t> </a:t>
            </a:r>
            <a:r>
              <a:rPr lang="ru-RU" sz="1400" dirty="0" err="1"/>
              <a:t>residual</a:t>
            </a:r>
            <a:r>
              <a:rPr lang="ru-RU" sz="1400" dirty="0"/>
              <a:t> </a:t>
            </a:r>
            <a:r>
              <a:rPr lang="ru-RU" sz="1400" dirty="0" err="1"/>
              <a:t>forces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moments</a:t>
            </a:r>
            <a:r>
              <a:rPr lang="ru-RU" sz="1400" dirty="0"/>
              <a:t> </a:t>
            </a:r>
            <a:r>
              <a:rPr lang="ru-RU" sz="1400" dirty="0" err="1"/>
              <a:t>still</a:t>
            </a:r>
            <a:r>
              <a:rPr lang="ru-RU" sz="1400" dirty="0"/>
              <a:t> </a:t>
            </a:r>
            <a:r>
              <a:rPr lang="ru-RU" sz="1400" dirty="0" err="1"/>
              <a:t>differed</a:t>
            </a:r>
            <a:r>
              <a:rPr lang="ru-RU" sz="1400" dirty="0"/>
              <a:t> </a:t>
            </a: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cycle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Important</a:t>
            </a:r>
            <a:r>
              <a:rPr lang="ru-RU" sz="1400" b="1" dirty="0"/>
              <a:t> </a:t>
            </a:r>
            <a:r>
              <a:rPr lang="ru-RU" sz="1400" b="1" dirty="0" err="1"/>
              <a:t>limitation</a:t>
            </a:r>
            <a:r>
              <a:rPr lang="en-US" sz="1400" b="1" dirty="0"/>
              <a:t>: </a:t>
            </a:r>
            <a:r>
              <a:rPr lang="ru-RU" sz="1400" dirty="0"/>
              <a:t>The </a:t>
            </a:r>
            <a:r>
              <a:rPr lang="ru-RU" sz="1400" dirty="0" err="1"/>
              <a:t>original</a:t>
            </a:r>
            <a:r>
              <a:rPr lang="ru-RU" sz="1400" dirty="0"/>
              <a:t> </a:t>
            </a:r>
            <a:r>
              <a:rPr lang="ru-RU" sz="1400" dirty="0" err="1"/>
              <a:t>paper</a:t>
            </a:r>
            <a:r>
              <a:rPr lang="ru-RU" sz="1400" dirty="0"/>
              <a:t> </a:t>
            </a:r>
            <a:r>
              <a:rPr lang="ru-RU" sz="1400" dirty="0" err="1"/>
              <a:t>notes</a:t>
            </a:r>
            <a:r>
              <a:rPr lang="ru-RU" sz="1400" dirty="0"/>
              <a:t> </a:t>
            </a:r>
            <a:r>
              <a:rPr lang="ru-RU" sz="1400" dirty="0" err="1"/>
              <a:t>that</a:t>
            </a:r>
            <a:r>
              <a:rPr lang="ru-RU" sz="1400" dirty="0"/>
              <a:t> </a:t>
            </a:r>
            <a:r>
              <a:rPr lang="ru-RU" sz="1400" dirty="0" err="1"/>
              <a:t>not</a:t>
            </a:r>
            <a:r>
              <a:rPr lang="ru-RU" sz="1400" dirty="0"/>
              <a:t> </a:t>
            </a:r>
            <a:r>
              <a:rPr lang="ru-RU" sz="1400" dirty="0" err="1"/>
              <a:t>every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</a:t>
            </a:r>
            <a:r>
              <a:rPr lang="ru-RU" sz="1400" dirty="0"/>
              <a:t> </a:t>
            </a:r>
            <a:r>
              <a:rPr lang="ru-RU" sz="1400" dirty="0" err="1"/>
              <a:t>is</a:t>
            </a:r>
            <a:r>
              <a:rPr lang="ru-RU" sz="1400" dirty="0"/>
              <a:t> </a:t>
            </a:r>
            <a:r>
              <a:rPr lang="ru-RU" sz="1400" dirty="0" err="1"/>
              <a:t>guaranteed</a:t>
            </a:r>
            <a:r>
              <a:rPr lang="ru-RU" sz="1400" dirty="0"/>
              <a:t> </a:t>
            </a:r>
            <a:r>
              <a:rPr lang="ru-RU" sz="1400" dirty="0" err="1"/>
              <a:t>to</a:t>
            </a:r>
            <a:r>
              <a:rPr lang="ru-RU" sz="1400" dirty="0"/>
              <a:t> </a:t>
            </a:r>
            <a:r>
              <a:rPr lang="ru-RU" sz="1400" dirty="0" err="1"/>
              <a:t>be</a:t>
            </a:r>
            <a:r>
              <a:rPr lang="ru-RU" sz="1400" dirty="0"/>
              <a:t> </a:t>
            </a:r>
            <a:r>
              <a:rPr lang="ru-RU" sz="1400" dirty="0" err="1"/>
              <a:t>dynamically</a:t>
            </a:r>
            <a:r>
              <a:rPr lang="ru-RU" sz="1400" dirty="0"/>
              <a:t> </a:t>
            </a:r>
            <a:r>
              <a:rPr lang="ru-RU" sz="1400" dirty="0" err="1"/>
              <a:t>consistent</a:t>
            </a:r>
            <a:r>
              <a:rPr lang="ru-RU" sz="1400" dirty="0"/>
              <a:t>, </a:t>
            </a:r>
            <a:r>
              <a:rPr lang="ru-RU" sz="1400" dirty="0" err="1"/>
              <a:t>because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approach</a:t>
            </a:r>
            <a:r>
              <a:rPr lang="ru-RU" sz="1400" dirty="0"/>
              <a:t> </a:t>
            </a:r>
            <a:r>
              <a:rPr lang="ru-RU" sz="1400" dirty="0" err="1"/>
              <a:t>is</a:t>
            </a:r>
            <a:r>
              <a:rPr lang="ru-RU" sz="1400" dirty="0"/>
              <a:t> </a:t>
            </a:r>
            <a:r>
              <a:rPr lang="ru-RU" sz="1400" dirty="0" err="1"/>
              <a:t>data-driven</a:t>
            </a:r>
            <a:r>
              <a:rPr lang="ru-RU" sz="1400" dirty="0"/>
              <a:t> </a:t>
            </a:r>
            <a:r>
              <a:rPr lang="ru-RU" sz="1400" dirty="0" err="1"/>
              <a:t>rather</a:t>
            </a:r>
            <a:r>
              <a:rPr lang="ru-RU" sz="1400" dirty="0"/>
              <a:t> </a:t>
            </a:r>
            <a:r>
              <a:rPr lang="ru-RU" sz="1400" dirty="0" err="1"/>
              <a:t>than</a:t>
            </a:r>
            <a:r>
              <a:rPr lang="ru-RU" sz="1400" dirty="0"/>
              <a:t> </a:t>
            </a:r>
            <a:r>
              <a:rPr lang="ru-RU" sz="1400" dirty="0" err="1"/>
              <a:t>physics-constrained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9D5A2E-3881-3F84-D9A3-D66C3285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V</a:t>
            </a:r>
            <a:br>
              <a:rPr lang="ru-RU" b="1" dirty="0"/>
            </a:br>
            <a:r>
              <a:rPr lang="ru-RU" dirty="0"/>
              <a:t>Dynamic </a:t>
            </a:r>
            <a:r>
              <a:rPr lang="ru-RU" dirty="0" err="1"/>
              <a:t>Consistency</a:t>
            </a:r>
            <a:r>
              <a:rPr lang="ru-RU" dirty="0"/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132345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1BC2-4FE7-9969-E18F-63DEE2DC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4FC1DC-866F-75F9-A5FE-EBC2D27E1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988840"/>
            <a:ext cx="9288834" cy="1008112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Takeaway</a:t>
            </a:r>
            <a:r>
              <a:rPr lang="ru-RU" sz="1400" b="1" dirty="0"/>
              <a:t>:</a:t>
            </a:r>
            <a:r>
              <a:rPr lang="en-US" sz="1400" b="1" dirty="0"/>
              <a:t> </a:t>
            </a:r>
            <a:r>
              <a:rPr lang="ru-RU" sz="1400" dirty="0"/>
              <a:t>The </a:t>
            </a:r>
            <a:r>
              <a:rPr lang="ru-RU" sz="1400" dirty="0" err="1"/>
              <a:t>dynamic</a:t>
            </a:r>
            <a:r>
              <a:rPr lang="ru-RU" sz="1400" dirty="0"/>
              <a:t> </a:t>
            </a:r>
            <a:r>
              <a:rPr lang="ru-RU" sz="1400" dirty="0" err="1"/>
              <a:t>consistency</a:t>
            </a:r>
            <a:r>
              <a:rPr lang="ru-RU" sz="1400" dirty="0"/>
              <a:t> </a:t>
            </a:r>
            <a:r>
              <a:rPr lang="ru-RU" sz="1400" dirty="0" err="1"/>
              <a:t>analysis</a:t>
            </a:r>
            <a:r>
              <a:rPr lang="ru-RU" sz="1400" dirty="0"/>
              <a:t> </a:t>
            </a:r>
            <a:r>
              <a:rPr lang="ru-RU" sz="1400" dirty="0" err="1"/>
              <a:t>partially</a:t>
            </a:r>
            <a:r>
              <a:rPr lang="ru-RU" sz="1400" dirty="0"/>
              <a:t> </a:t>
            </a:r>
            <a:r>
              <a:rPr lang="ru-RU" sz="1400" dirty="0" err="1"/>
              <a:t>supports</a:t>
            </a:r>
            <a:r>
              <a:rPr lang="ru-RU" sz="1400" dirty="0"/>
              <a:t>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biomechanical</a:t>
            </a:r>
            <a:r>
              <a:rPr lang="ru-RU" sz="1400" dirty="0"/>
              <a:t> </a:t>
            </a:r>
            <a:r>
              <a:rPr lang="ru-RU" sz="1400" dirty="0" err="1"/>
              <a:t>plausibility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generated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, </a:t>
            </a:r>
            <a:r>
              <a:rPr lang="ru-RU" sz="1400" dirty="0" err="1"/>
              <a:t>but</a:t>
            </a:r>
            <a:r>
              <a:rPr lang="ru-RU" sz="1400" dirty="0"/>
              <a:t> </a:t>
            </a:r>
            <a:r>
              <a:rPr lang="ru-RU" sz="1400" dirty="0" err="1"/>
              <a:t>also</a:t>
            </a:r>
            <a:r>
              <a:rPr lang="ru-RU" sz="1400" dirty="0"/>
              <a:t> </a:t>
            </a:r>
            <a:r>
              <a:rPr lang="ru-RU" sz="1400" dirty="0" err="1"/>
              <a:t>shows</a:t>
            </a:r>
            <a:r>
              <a:rPr lang="ru-RU" sz="1400" dirty="0"/>
              <a:t> </a:t>
            </a:r>
            <a:r>
              <a:rPr lang="ru-RU" sz="1400" dirty="0" err="1"/>
              <a:t>that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trials</a:t>
            </a:r>
            <a:r>
              <a:rPr lang="ru-RU" sz="1400" dirty="0"/>
              <a:t> </a:t>
            </a:r>
            <a:r>
              <a:rPr lang="ru-RU" sz="1400" dirty="0" err="1"/>
              <a:t>still</a:t>
            </a:r>
            <a:r>
              <a:rPr lang="ru-RU" sz="1400" dirty="0"/>
              <a:t> </a:t>
            </a:r>
            <a:r>
              <a:rPr lang="ru-RU" sz="1400" dirty="0" err="1"/>
              <a:t>require</a:t>
            </a:r>
            <a:r>
              <a:rPr lang="ru-RU" sz="1400" dirty="0"/>
              <a:t> </a:t>
            </a:r>
            <a:r>
              <a:rPr lang="ru-RU" sz="1400" dirty="0" err="1"/>
              <a:t>physics-based</a:t>
            </a:r>
            <a:r>
              <a:rPr lang="ru-RU" sz="1400" dirty="0"/>
              <a:t> </a:t>
            </a:r>
            <a:r>
              <a:rPr lang="ru-RU" sz="1400" dirty="0" err="1"/>
              <a:t>validation</a:t>
            </a:r>
            <a:r>
              <a:rPr lang="ru-RU" sz="1400" dirty="0"/>
              <a:t>. </a:t>
            </a:r>
            <a:r>
              <a:rPr lang="ru-RU" sz="1400" i="1" dirty="0"/>
              <a:t>(</a:t>
            </a:r>
            <a:r>
              <a:rPr lang="ru-RU" sz="1400" i="1" dirty="0" err="1"/>
              <a:t>Bicer</a:t>
            </a:r>
            <a:r>
              <a:rPr lang="ru-RU" sz="1400" i="1" dirty="0"/>
              <a:t> </a:t>
            </a:r>
            <a:r>
              <a:rPr lang="ru-RU" sz="1400" i="1" dirty="0" err="1"/>
              <a:t>et</a:t>
            </a:r>
            <a:r>
              <a:rPr lang="ru-RU" sz="1400" i="1" dirty="0"/>
              <a:t> </a:t>
            </a:r>
            <a:r>
              <a:rPr lang="ru-RU" sz="1400" i="1" dirty="0" err="1"/>
              <a:t>al</a:t>
            </a:r>
            <a:r>
              <a:rPr lang="ru-RU" sz="1400" i="1" dirty="0"/>
              <a:t>., 2024; </a:t>
            </a:r>
            <a:r>
              <a:rPr lang="ru-RU" sz="1400" i="1" dirty="0" err="1"/>
              <a:t>our</a:t>
            </a:r>
            <a:r>
              <a:rPr lang="ru-RU" sz="1400" i="1" dirty="0"/>
              <a:t> </a:t>
            </a:r>
            <a:r>
              <a:rPr lang="ru-RU" sz="1400" i="1" dirty="0" err="1"/>
              <a:t>reproduction</a:t>
            </a:r>
            <a:r>
              <a:rPr lang="ru-RU" sz="1400" i="1" dirty="0"/>
              <a:t> </a:t>
            </a:r>
            <a:r>
              <a:rPr lang="ru-RU" sz="1400" i="1" dirty="0" err="1"/>
              <a:t>notebook</a:t>
            </a:r>
            <a:r>
              <a:rPr lang="ru-RU" sz="1400" i="1" dirty="0"/>
              <a:t>)</a:t>
            </a:r>
            <a:r>
              <a:rPr lang="ru-RU" sz="140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77F9B3-29D8-B9C1-91B2-B42120E4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762434"/>
          </a:xfrm>
        </p:spPr>
        <p:txBody>
          <a:bodyPr/>
          <a:lstStyle/>
          <a:p>
            <a:r>
              <a:rPr lang="ru-RU" b="1" dirty="0" err="1"/>
              <a:t>Reproduced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 V</a:t>
            </a:r>
            <a:br>
              <a:rPr lang="ru-RU" b="1" dirty="0"/>
            </a:br>
            <a:r>
              <a:rPr lang="ru-RU" dirty="0"/>
              <a:t>Dynamic </a:t>
            </a:r>
            <a:r>
              <a:rPr lang="ru-RU" dirty="0" err="1"/>
              <a:t>Consistency</a:t>
            </a:r>
            <a:r>
              <a:rPr lang="ru-RU" dirty="0"/>
              <a:t> Analysis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F4A934-1BE7-3D69-FDA6-D1237C8C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708920"/>
            <a:ext cx="7704856" cy="357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82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EA97-DAA5-F830-630E-0D2D087B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3E4237-A9EC-5A82-555D-F684DA6D2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3750" y="1628800"/>
            <a:ext cx="9288834" cy="4680520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/>
              <a:t>1. </a:t>
            </a:r>
            <a:r>
              <a:rPr lang="ru-RU" sz="1400" b="1" dirty="0" err="1"/>
              <a:t>Condition-controlled</a:t>
            </a:r>
            <a:r>
              <a:rPr lang="ru-RU" sz="1400" b="1" dirty="0"/>
              <a:t> </a:t>
            </a:r>
            <a:r>
              <a:rPr lang="ru-RU" sz="1400" b="1" dirty="0" err="1"/>
              <a:t>generation</a:t>
            </a:r>
            <a:r>
              <a:rPr lang="ru-RU" sz="1400" b="1" dirty="0"/>
              <a:t> </a:t>
            </a:r>
            <a:r>
              <a:rPr lang="ru-RU" sz="1400" b="1" dirty="0" err="1"/>
              <a:t>worked</a:t>
            </a:r>
            <a:br>
              <a:rPr lang="ru-RU" sz="1400" dirty="0"/>
            </a:br>
            <a:r>
              <a:rPr lang="ru-RU" sz="1400" dirty="0" err="1"/>
              <a:t>cGANs</a:t>
            </a:r>
            <a:r>
              <a:rPr lang="ru-RU" sz="1400" dirty="0"/>
              <a:t> </a:t>
            </a:r>
            <a:r>
              <a:rPr lang="ru-RU" sz="1400" dirty="0" err="1"/>
              <a:t>produced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guided</a:t>
            </a:r>
            <a:r>
              <a:rPr lang="ru-RU" sz="1400" dirty="0"/>
              <a:t> </a:t>
            </a:r>
            <a:r>
              <a:rPr lang="ru-RU" sz="1400" dirty="0" err="1"/>
              <a:t>by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characteristics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r>
              <a:rPr lang="ru-RU" sz="1400" b="1" dirty="0"/>
              <a:t>2. Multi-</a:t>
            </a:r>
            <a:r>
              <a:rPr lang="ru-RU" sz="1400" b="1" dirty="0" err="1"/>
              <a:t>cGAN</a:t>
            </a:r>
            <a:r>
              <a:rPr lang="ru-RU" sz="1400" b="1" dirty="0"/>
              <a:t> </a:t>
            </a:r>
            <a:r>
              <a:rPr lang="ru-RU" sz="1400" b="1" dirty="0" err="1"/>
              <a:t>is</a:t>
            </a:r>
            <a:r>
              <a:rPr lang="ru-RU" sz="1400" b="1" dirty="0"/>
              <a:t> </a:t>
            </a:r>
            <a:r>
              <a:rPr lang="ru-RU" sz="1400" b="1" dirty="0" err="1"/>
              <a:t>useful</a:t>
            </a:r>
            <a:r>
              <a:rPr lang="ru-RU" sz="1400" b="1" dirty="0"/>
              <a:t> </a:t>
            </a:r>
            <a:r>
              <a:rPr lang="ru-RU" sz="1400" b="1" dirty="0" err="1"/>
              <a:t>for</a:t>
            </a:r>
            <a:r>
              <a:rPr lang="ru-RU" sz="1400" b="1" dirty="0"/>
              <a:t> </a:t>
            </a:r>
            <a:r>
              <a:rPr lang="ru-RU" sz="1400" b="1" dirty="0" err="1"/>
              <a:t>controlled</a:t>
            </a:r>
            <a:r>
              <a:rPr lang="ru-RU" sz="1400" b="1" dirty="0"/>
              <a:t> </a:t>
            </a:r>
            <a:r>
              <a:rPr lang="ru-RU" sz="1400" b="1" dirty="0" err="1"/>
              <a:t>datasets</a:t>
            </a:r>
            <a:br>
              <a:rPr lang="ru-RU" sz="1400" dirty="0"/>
            </a:br>
            <a:r>
              <a:rPr lang="ru-RU" sz="1400" dirty="0"/>
              <a:t>It </a:t>
            </a:r>
            <a:r>
              <a:rPr lang="ru-RU" sz="1400" dirty="0" err="1"/>
              <a:t>performed</a:t>
            </a:r>
            <a:r>
              <a:rPr lang="ru-RU" sz="1400" dirty="0"/>
              <a:t> </a:t>
            </a:r>
            <a:r>
              <a:rPr lang="ru-RU" sz="1400" dirty="0" err="1"/>
              <a:t>especially</a:t>
            </a:r>
            <a:r>
              <a:rPr lang="ru-RU" sz="1400" dirty="0"/>
              <a:t> </a:t>
            </a:r>
            <a:r>
              <a:rPr lang="ru-RU" sz="1400" dirty="0" err="1"/>
              <a:t>well</a:t>
            </a:r>
            <a:r>
              <a:rPr lang="ru-RU" sz="1400" dirty="0"/>
              <a:t> </a:t>
            </a:r>
            <a:r>
              <a:rPr lang="ru-RU" sz="1400" dirty="0" err="1"/>
              <a:t>when</a:t>
            </a:r>
            <a:r>
              <a:rPr lang="ru-RU" sz="1400" dirty="0"/>
              <a:t> </a:t>
            </a:r>
            <a:r>
              <a:rPr lang="ru-RU" sz="1400" dirty="0" err="1"/>
              <a:t>multiple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 </a:t>
            </a:r>
            <a:r>
              <a:rPr lang="ru-RU" sz="1400" dirty="0" err="1"/>
              <a:t>were</a:t>
            </a:r>
            <a:r>
              <a:rPr lang="ru-RU" sz="1400" dirty="0"/>
              <a:t> </a:t>
            </a:r>
            <a:r>
              <a:rPr lang="ru-RU" sz="1400" dirty="0" err="1"/>
              <a:t>constrained</a:t>
            </a:r>
            <a:r>
              <a:rPr lang="ru-RU" sz="1400" dirty="0"/>
              <a:t> </a:t>
            </a:r>
            <a:r>
              <a:rPr lang="ru-RU" sz="1400" dirty="0" err="1"/>
              <a:t>together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r>
              <a:rPr lang="ru-RU" sz="1400" b="1" dirty="0"/>
              <a:t>3. </a:t>
            </a:r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speed</a:t>
            </a:r>
            <a:r>
              <a:rPr lang="ru-RU" sz="1400" b="1" dirty="0"/>
              <a:t> </a:t>
            </a:r>
            <a:r>
              <a:rPr lang="ru-RU" sz="1400" b="1" dirty="0" err="1"/>
              <a:t>was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strongest</a:t>
            </a:r>
            <a:r>
              <a:rPr lang="ru-RU" sz="1400" b="1" dirty="0"/>
              <a:t> </a:t>
            </a:r>
            <a:r>
              <a:rPr lang="ru-RU" sz="1400" b="1" dirty="0" err="1"/>
              <a:t>single</a:t>
            </a:r>
            <a:r>
              <a:rPr lang="ru-RU" sz="1400" b="1" dirty="0"/>
              <a:t> </a:t>
            </a:r>
            <a:r>
              <a:rPr lang="ru-RU" sz="1400" b="1" dirty="0" err="1"/>
              <a:t>condition</a:t>
            </a:r>
            <a:br>
              <a:rPr lang="ru-RU" sz="1400" dirty="0"/>
            </a:br>
            <a:r>
              <a:rPr lang="ru-RU" sz="1400" dirty="0"/>
              <a:t>WS-</a:t>
            </a:r>
            <a:r>
              <a:rPr lang="ru-RU" sz="1400" dirty="0" err="1"/>
              <a:t>cGAN</a:t>
            </a:r>
            <a:r>
              <a:rPr lang="ru-RU" sz="1400" dirty="0"/>
              <a:t> </a:t>
            </a:r>
            <a:r>
              <a:rPr lang="ru-RU" sz="1400" dirty="0" err="1"/>
              <a:t>performed</a:t>
            </a:r>
            <a:r>
              <a:rPr lang="ru-RU" sz="1400" dirty="0"/>
              <a:t> </a:t>
            </a:r>
            <a:r>
              <a:rPr lang="ru-RU" sz="1400" dirty="0" err="1"/>
              <a:t>best</a:t>
            </a:r>
            <a:r>
              <a:rPr lang="ru-RU" sz="1400" dirty="0"/>
              <a:t>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unseen</a:t>
            </a:r>
            <a:r>
              <a:rPr lang="ru-RU" sz="1400" dirty="0"/>
              <a:t> </a:t>
            </a:r>
            <a:r>
              <a:rPr lang="ru-RU" sz="1400" dirty="0" err="1"/>
              <a:t>subject</a:t>
            </a:r>
            <a:r>
              <a:rPr lang="ru-RU" sz="1400" dirty="0"/>
              <a:t> </a:t>
            </a:r>
            <a:r>
              <a:rPr lang="ru-RU" sz="1400" dirty="0" err="1"/>
              <a:t>prediction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endParaRPr lang="ru-RU" sz="1400" b="1" dirty="0"/>
          </a:p>
          <a:p>
            <a:pPr marL="0" indent="0">
              <a:buNone/>
            </a:pPr>
            <a:r>
              <a:rPr lang="ru-RU" sz="1400" b="1" dirty="0" err="1"/>
              <a:t>Implication</a:t>
            </a:r>
            <a:r>
              <a:rPr lang="ru-RU" sz="1400" b="1" dirty="0"/>
              <a:t>:</a:t>
            </a:r>
            <a:br>
              <a:rPr lang="ru-RU" sz="1400" dirty="0"/>
            </a:br>
            <a:r>
              <a:rPr lang="ru-RU" sz="1400" dirty="0"/>
              <a:t>The </a:t>
            </a:r>
            <a:r>
              <a:rPr lang="ru-RU" sz="1400" dirty="0" err="1"/>
              <a:t>approach</a:t>
            </a:r>
            <a:r>
              <a:rPr lang="ru-RU" sz="1400" dirty="0"/>
              <a:t> </a:t>
            </a:r>
            <a:r>
              <a:rPr lang="ru-RU" sz="1400" dirty="0" err="1"/>
              <a:t>moves</a:t>
            </a:r>
            <a:r>
              <a:rPr lang="ru-RU" sz="1400" dirty="0"/>
              <a:t> </a:t>
            </a:r>
            <a:r>
              <a:rPr lang="ru-RU" sz="1400" dirty="0" err="1"/>
              <a:t>synthetic</a:t>
            </a:r>
            <a:r>
              <a:rPr lang="ru-RU" sz="1400" dirty="0"/>
              <a:t> </a:t>
            </a:r>
            <a:r>
              <a:rPr lang="ru-RU" sz="1400" dirty="0" err="1"/>
              <a:t>mocap</a:t>
            </a:r>
            <a:r>
              <a:rPr lang="ru-RU" sz="1400" dirty="0"/>
              <a:t> </a:t>
            </a:r>
            <a:r>
              <a:rPr lang="ru-RU" sz="1400" dirty="0" err="1"/>
              <a:t>from</a:t>
            </a:r>
            <a:r>
              <a:rPr lang="ru-RU" sz="1400" dirty="0"/>
              <a:t> </a:t>
            </a:r>
            <a:r>
              <a:rPr lang="ru-RU" sz="1400" dirty="0" err="1"/>
              <a:t>simple</a:t>
            </a:r>
            <a:r>
              <a:rPr lang="ru-RU" sz="1400" dirty="0"/>
              <a:t> </a:t>
            </a:r>
            <a:r>
              <a:rPr lang="ru-RU" sz="1400" dirty="0" err="1"/>
              <a:t>augmentation</a:t>
            </a:r>
            <a:r>
              <a:rPr lang="ru-RU" sz="1400" dirty="0"/>
              <a:t> </a:t>
            </a:r>
            <a:r>
              <a:rPr lang="ru-RU" sz="1400" dirty="0" err="1"/>
              <a:t>toward</a:t>
            </a:r>
            <a:r>
              <a:rPr lang="ru-RU" sz="1400" dirty="0"/>
              <a:t> </a:t>
            </a:r>
            <a:r>
              <a:rPr lang="ru-RU" sz="1400" dirty="0" err="1"/>
              <a:t>controllable</a:t>
            </a:r>
            <a:r>
              <a:rPr lang="ru-RU" sz="1400" dirty="0"/>
              <a:t> </a:t>
            </a:r>
            <a:r>
              <a:rPr lang="ru-RU" sz="1400" dirty="0" err="1"/>
              <a:t>dataset</a:t>
            </a:r>
            <a:r>
              <a:rPr lang="ru-RU" sz="1400" dirty="0"/>
              <a:t> </a:t>
            </a:r>
            <a:r>
              <a:rPr lang="ru-RU" sz="1400" dirty="0" err="1"/>
              <a:t>generation</a:t>
            </a:r>
            <a:r>
              <a:rPr lang="ru-RU" sz="1400" dirty="0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5103EE-01F3-275B-4C17-C250358E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474402"/>
          </a:xfrm>
        </p:spPr>
        <p:txBody>
          <a:bodyPr/>
          <a:lstStyle/>
          <a:p>
            <a:r>
              <a:rPr lang="ru-RU" b="1" dirty="0" err="1"/>
              <a:t>Discussion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8430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0D4E-5D53-6713-522A-BF8A278A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49AAA9-F469-D290-DAC9-6C7C5BF7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1" y="938374"/>
            <a:ext cx="8605080" cy="438398"/>
          </a:xfrm>
        </p:spPr>
        <p:txBody>
          <a:bodyPr anchor="t">
            <a:normAutofit/>
          </a:bodyPr>
          <a:lstStyle/>
          <a:p>
            <a:r>
              <a:rPr lang="ru-RU" b="1" dirty="0" err="1"/>
              <a:t>Limitations</a:t>
            </a:r>
            <a:r>
              <a:rPr lang="ru-RU" b="1" dirty="0"/>
              <a:t> </a:t>
            </a:r>
            <a:r>
              <a:rPr lang="en-US" b="1" dirty="0"/>
              <a:t>&amp; </a:t>
            </a:r>
            <a:r>
              <a:rPr lang="ru-RU" b="1" dirty="0" err="1"/>
              <a:t>Further</a:t>
            </a:r>
            <a:r>
              <a:rPr lang="ru-RU" b="1" dirty="0"/>
              <a:t> Development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E66EDC-1FCA-5AEB-E529-3AF67864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0" y="1887409"/>
            <a:ext cx="8604251" cy="39483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058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D17EC-E338-36E5-D9B8-6189CB09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EC99F0-C2CF-EDFF-B3A4-513F5891A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2920" y="1627643"/>
            <a:ext cx="9288834" cy="3456384"/>
          </a:xfrm>
        </p:spPr>
        <p:txBody>
          <a:bodyPr/>
          <a:lstStyle/>
          <a:p>
            <a:pPr marL="0" indent="0">
              <a:buNone/>
            </a:pPr>
            <a:r>
              <a:rPr lang="ru-RU" sz="1400" b="1" dirty="0" err="1"/>
              <a:t>This</a:t>
            </a:r>
            <a:r>
              <a:rPr lang="ru-RU" sz="1400" b="1" dirty="0"/>
              <a:t> </a:t>
            </a:r>
            <a:r>
              <a:rPr lang="ru-RU" sz="1400" b="1" dirty="0" err="1"/>
              <a:t>reproduction</a:t>
            </a:r>
            <a:r>
              <a:rPr lang="ru-RU" sz="1400" b="1" dirty="0"/>
              <a:t> </a:t>
            </a:r>
            <a:r>
              <a:rPr lang="ru-RU" sz="1400" b="1" dirty="0" err="1"/>
              <a:t>supports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main</a:t>
            </a:r>
            <a:r>
              <a:rPr lang="ru-RU" sz="1400" b="1" dirty="0"/>
              <a:t> </a:t>
            </a:r>
            <a:r>
              <a:rPr lang="ru-RU" sz="1400" b="1" dirty="0" err="1"/>
              <a:t>conclusion</a:t>
            </a:r>
            <a:r>
              <a:rPr lang="ru-RU" sz="1400" b="1" dirty="0"/>
              <a:t> </a:t>
            </a:r>
            <a:r>
              <a:rPr lang="ru-RU" sz="1400" b="1" dirty="0" err="1"/>
              <a:t>of</a:t>
            </a:r>
            <a:r>
              <a:rPr lang="ru-RU" sz="1400" b="1" dirty="0"/>
              <a:t> </a:t>
            </a:r>
            <a:r>
              <a:rPr lang="ru-RU" sz="1400" b="1" dirty="0" err="1"/>
              <a:t>Bicer</a:t>
            </a:r>
            <a:r>
              <a:rPr lang="ru-RU" sz="1400" b="1" dirty="0"/>
              <a:t> </a:t>
            </a:r>
            <a:r>
              <a:rPr lang="ru-RU" sz="1400" b="1" dirty="0" err="1"/>
              <a:t>et</a:t>
            </a:r>
            <a:r>
              <a:rPr lang="ru-RU" sz="1400" b="1" dirty="0"/>
              <a:t> </a:t>
            </a:r>
            <a:r>
              <a:rPr lang="ru-RU" sz="1400" b="1" dirty="0" err="1"/>
              <a:t>al</a:t>
            </a:r>
            <a:r>
              <a:rPr lang="ru-RU" sz="1400" b="1" dirty="0"/>
              <a:t>. (2024): </a:t>
            </a:r>
            <a:r>
              <a:rPr lang="ru-RU" sz="1400" b="1" dirty="0" err="1"/>
              <a:t>cGANs</a:t>
            </a:r>
            <a:r>
              <a:rPr lang="ru-RU" sz="1400" b="1" dirty="0"/>
              <a:t> </a:t>
            </a:r>
            <a:r>
              <a:rPr lang="ru-RU" sz="1400" b="1" dirty="0" err="1"/>
              <a:t>can</a:t>
            </a:r>
            <a:r>
              <a:rPr lang="ru-RU" sz="1400" b="1" dirty="0"/>
              <a:t> </a:t>
            </a:r>
            <a:r>
              <a:rPr lang="ru-RU" sz="1400" b="1" dirty="0" err="1"/>
              <a:t>generate</a:t>
            </a:r>
            <a:r>
              <a:rPr lang="ru-RU" sz="1400" b="1" dirty="0"/>
              <a:t> </a:t>
            </a:r>
            <a:r>
              <a:rPr lang="ru-RU" sz="1400" b="1" dirty="0" err="1"/>
              <a:t>realistic</a:t>
            </a:r>
            <a:r>
              <a:rPr lang="ru-RU" sz="1400" b="1" dirty="0"/>
              <a:t> </a:t>
            </a:r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mocap</a:t>
            </a:r>
            <a:r>
              <a:rPr lang="ru-RU" sz="1400" b="1" dirty="0"/>
              <a:t> </a:t>
            </a:r>
            <a:r>
              <a:rPr lang="ru-RU" sz="1400" b="1" dirty="0" err="1"/>
              <a:t>data</a:t>
            </a:r>
            <a:r>
              <a:rPr lang="ru-RU" sz="1400" b="1" dirty="0"/>
              <a:t> </a:t>
            </a:r>
            <a:r>
              <a:rPr lang="ru-RU" sz="1400" b="1" dirty="0" err="1"/>
              <a:t>controlled</a:t>
            </a:r>
            <a:r>
              <a:rPr lang="ru-RU" sz="1400" b="1" dirty="0"/>
              <a:t> </a:t>
            </a:r>
            <a:r>
              <a:rPr lang="ru-RU" sz="1400" b="1" dirty="0" err="1"/>
              <a:t>by</a:t>
            </a:r>
            <a:r>
              <a:rPr lang="ru-RU" sz="1400" b="1" dirty="0"/>
              <a:t> </a:t>
            </a:r>
            <a:r>
              <a:rPr lang="ru-RU" sz="1400" b="1" dirty="0" err="1"/>
              <a:t>subject</a:t>
            </a:r>
            <a:r>
              <a:rPr lang="ru-RU" sz="1400" b="1" dirty="0"/>
              <a:t> </a:t>
            </a:r>
            <a:r>
              <a:rPr lang="ru-RU" sz="1400" b="1" dirty="0" err="1"/>
              <a:t>and</a:t>
            </a:r>
            <a:r>
              <a:rPr lang="ru-RU" sz="1400" b="1" dirty="0"/>
              <a:t> </a:t>
            </a:r>
            <a:r>
              <a:rPr lang="ru-RU" sz="1400" b="1" dirty="0" err="1"/>
              <a:t>gait</a:t>
            </a:r>
            <a:r>
              <a:rPr lang="ru-RU" sz="1400" b="1" dirty="0"/>
              <a:t> </a:t>
            </a:r>
            <a:r>
              <a:rPr lang="ru-RU" sz="1400" b="1" dirty="0" err="1"/>
              <a:t>characteristics</a:t>
            </a:r>
            <a:r>
              <a:rPr lang="ru-RU" sz="1400" b="1" dirty="0"/>
              <a:t>.</a:t>
            </a:r>
            <a:endParaRPr lang="ru-RU" sz="1400" dirty="0"/>
          </a:p>
          <a:p>
            <a:r>
              <a:rPr lang="ru-RU" sz="1400" b="1" dirty="0" err="1"/>
              <a:t>cGANs</a:t>
            </a:r>
            <a:r>
              <a:rPr lang="ru-RU" sz="1400" b="1" dirty="0"/>
              <a:t> </a:t>
            </a:r>
            <a:r>
              <a:rPr lang="ru-RU" sz="1400" b="1" dirty="0" err="1"/>
              <a:t>make</a:t>
            </a:r>
            <a:r>
              <a:rPr lang="ru-RU" sz="1400" b="1" dirty="0"/>
              <a:t> </a:t>
            </a:r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mocap</a:t>
            </a:r>
            <a:r>
              <a:rPr lang="ru-RU" sz="1400" b="1" dirty="0"/>
              <a:t> </a:t>
            </a:r>
            <a:r>
              <a:rPr lang="ru-RU" sz="1400" b="1" dirty="0" err="1"/>
              <a:t>generation</a:t>
            </a:r>
            <a:r>
              <a:rPr lang="ru-RU" sz="1400" b="1" dirty="0"/>
              <a:t> </a:t>
            </a:r>
            <a:r>
              <a:rPr lang="ru-RU" sz="1400" b="1" dirty="0" err="1"/>
              <a:t>controllable</a:t>
            </a:r>
            <a:br>
              <a:rPr lang="ru-RU" sz="1400" dirty="0"/>
            </a:br>
            <a:r>
              <a:rPr lang="ru-RU" sz="1400" dirty="0" err="1"/>
              <a:t>using</a:t>
            </a:r>
            <a:r>
              <a:rPr lang="ru-RU" sz="1400" dirty="0"/>
              <a:t> </a:t>
            </a:r>
            <a:r>
              <a:rPr lang="ru-RU" sz="1400" dirty="0" err="1"/>
              <a:t>conditions</a:t>
            </a:r>
            <a:r>
              <a:rPr lang="ru-RU" sz="1400" dirty="0"/>
              <a:t> </a:t>
            </a:r>
            <a:r>
              <a:rPr lang="ru-RU" sz="1400" dirty="0" err="1"/>
              <a:t>such</a:t>
            </a:r>
            <a:r>
              <a:rPr lang="ru-RU" sz="1400" dirty="0"/>
              <a:t> </a:t>
            </a:r>
            <a:r>
              <a:rPr lang="ru-RU" sz="1400" dirty="0" err="1"/>
              <a:t>as</a:t>
            </a:r>
            <a:r>
              <a:rPr lang="ru-RU" sz="1400" dirty="0"/>
              <a:t> </a:t>
            </a:r>
            <a:r>
              <a:rPr lang="ru-RU" sz="1400" dirty="0" err="1"/>
              <a:t>age</a:t>
            </a:r>
            <a:r>
              <a:rPr lang="ru-RU" sz="1400" dirty="0"/>
              <a:t>, </a:t>
            </a:r>
            <a:r>
              <a:rPr lang="ru-RU" sz="1400" dirty="0" err="1"/>
              <a:t>sex</a:t>
            </a:r>
            <a:r>
              <a:rPr lang="ru-RU" sz="1400" dirty="0"/>
              <a:t>, </a:t>
            </a:r>
            <a:r>
              <a:rPr lang="ru-RU" sz="1400" dirty="0" err="1"/>
              <a:t>mass</a:t>
            </a:r>
            <a:r>
              <a:rPr lang="ru-RU" sz="1400" dirty="0"/>
              <a:t>, </a:t>
            </a:r>
            <a:r>
              <a:rPr lang="ru-RU" sz="1400" dirty="0" err="1"/>
              <a:t>leg</a:t>
            </a:r>
            <a:r>
              <a:rPr lang="ru-RU" sz="1400" dirty="0"/>
              <a:t> </a:t>
            </a:r>
            <a:r>
              <a:rPr lang="ru-RU" sz="1400" dirty="0" err="1"/>
              <a:t>length</a:t>
            </a:r>
            <a:r>
              <a:rPr lang="ru-RU" sz="1400" dirty="0"/>
              <a:t>,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walking</a:t>
            </a:r>
            <a:r>
              <a:rPr lang="ru-RU" sz="1400" dirty="0"/>
              <a:t> </a:t>
            </a:r>
            <a:r>
              <a:rPr lang="ru-RU" sz="1400" dirty="0" err="1"/>
              <a:t>speed</a:t>
            </a:r>
            <a:r>
              <a:rPr lang="ru-RU" sz="1400" dirty="0"/>
              <a:t>. </a:t>
            </a:r>
          </a:p>
          <a:p>
            <a:r>
              <a:rPr lang="ru-RU" sz="1400" b="1" dirty="0"/>
              <a:t>The </a:t>
            </a:r>
            <a:r>
              <a:rPr lang="ru-RU" sz="1400" b="1" dirty="0" err="1"/>
              <a:t>reproduced</a:t>
            </a:r>
            <a:r>
              <a:rPr lang="ru-RU" sz="1400" b="1" dirty="0"/>
              <a:t> </a:t>
            </a:r>
            <a:r>
              <a:rPr lang="ru-RU" sz="1400" b="1" dirty="0" err="1"/>
              <a:t>workflow</a:t>
            </a:r>
            <a:r>
              <a:rPr lang="ru-RU" sz="1400" b="1" dirty="0"/>
              <a:t> </a:t>
            </a:r>
            <a:r>
              <a:rPr lang="ru-RU" sz="1400" b="1" dirty="0" err="1"/>
              <a:t>recovered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main</a:t>
            </a:r>
            <a:r>
              <a:rPr lang="ru-RU" sz="1400" b="1" dirty="0"/>
              <a:t> </a:t>
            </a:r>
            <a:r>
              <a:rPr lang="ru-RU" sz="1400" b="1" dirty="0" err="1"/>
              <a:t>result</a:t>
            </a:r>
            <a:r>
              <a:rPr lang="ru-RU" sz="1400" b="1" dirty="0"/>
              <a:t> </a:t>
            </a:r>
            <a:r>
              <a:rPr lang="ru-RU" sz="1400" b="1" dirty="0" err="1"/>
              <a:t>patterns</a:t>
            </a:r>
            <a:r>
              <a:rPr lang="ru-RU" sz="1400" b="1" dirty="0"/>
              <a:t> </a:t>
            </a:r>
            <a:r>
              <a:rPr lang="ru-RU" sz="1400" b="1" dirty="0" err="1"/>
              <a:t>reported</a:t>
            </a:r>
            <a:r>
              <a:rPr lang="ru-RU" sz="1400" b="1" dirty="0"/>
              <a:t> </a:t>
            </a:r>
            <a:r>
              <a:rPr lang="ru-RU" sz="1400" b="1" dirty="0" err="1"/>
              <a:t>in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original</a:t>
            </a:r>
            <a:r>
              <a:rPr lang="ru-RU" sz="1400" b="1" dirty="0"/>
              <a:t> </a:t>
            </a:r>
            <a:r>
              <a:rPr lang="ru-RU" sz="1400" b="1" dirty="0" err="1"/>
              <a:t>paper</a:t>
            </a:r>
            <a:br>
              <a:rPr lang="ru-RU" sz="1400" b="1" dirty="0"/>
            </a:br>
            <a:r>
              <a:rPr lang="ru-RU" sz="1400" dirty="0" err="1"/>
              <a:t>across</a:t>
            </a:r>
            <a:r>
              <a:rPr lang="ru-RU" sz="1400" dirty="0"/>
              <a:t> </a:t>
            </a:r>
            <a:r>
              <a:rPr lang="ru-RU" sz="1400" dirty="0" err="1"/>
              <a:t>dataset</a:t>
            </a:r>
            <a:r>
              <a:rPr lang="ru-RU" sz="1400" dirty="0"/>
              <a:t> </a:t>
            </a:r>
            <a:r>
              <a:rPr lang="ru-RU" sz="1400" dirty="0" err="1"/>
              <a:t>comparison</a:t>
            </a:r>
            <a:r>
              <a:rPr lang="ru-RU" sz="1400" dirty="0"/>
              <a:t>, </a:t>
            </a:r>
            <a:r>
              <a:rPr lang="ru-RU" sz="1400" dirty="0" err="1"/>
              <a:t>walking-speed</a:t>
            </a:r>
            <a:r>
              <a:rPr lang="ru-RU" sz="1400" dirty="0"/>
              <a:t> </a:t>
            </a:r>
            <a:r>
              <a:rPr lang="ru-RU" sz="1400" dirty="0" err="1"/>
              <a:t>analysis</a:t>
            </a:r>
            <a:r>
              <a:rPr lang="ru-RU" sz="1400" dirty="0"/>
              <a:t>, </a:t>
            </a:r>
            <a:r>
              <a:rPr lang="ru-RU" sz="1400" dirty="0" err="1"/>
              <a:t>literature</a:t>
            </a:r>
            <a:r>
              <a:rPr lang="ru-RU" sz="1400" dirty="0"/>
              <a:t> </a:t>
            </a:r>
            <a:r>
              <a:rPr lang="ru-RU" sz="1400" dirty="0" err="1"/>
              <a:t>findings</a:t>
            </a:r>
            <a:r>
              <a:rPr lang="ru-RU" sz="1400" dirty="0"/>
              <a:t>,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unseen-subject</a:t>
            </a:r>
            <a:r>
              <a:rPr lang="ru-RU" sz="1400" dirty="0"/>
              <a:t> </a:t>
            </a:r>
            <a:r>
              <a:rPr lang="ru-RU" sz="1400" dirty="0" err="1"/>
              <a:t>prediction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Walking</a:t>
            </a:r>
            <a:r>
              <a:rPr lang="ru-RU" sz="1400" b="1" dirty="0"/>
              <a:t> </a:t>
            </a:r>
            <a:r>
              <a:rPr lang="ru-RU" sz="1400" b="1" dirty="0" err="1"/>
              <a:t>speed</a:t>
            </a:r>
            <a:r>
              <a:rPr lang="ru-RU" sz="1400" b="1" dirty="0"/>
              <a:t> </a:t>
            </a:r>
            <a:r>
              <a:rPr lang="ru-RU" sz="1400" b="1" dirty="0" err="1"/>
              <a:t>was</a:t>
            </a:r>
            <a:r>
              <a:rPr lang="ru-RU" sz="1400" b="1" dirty="0"/>
              <a:t> </a:t>
            </a:r>
            <a:r>
              <a:rPr lang="ru-RU" sz="1400" b="1" dirty="0" err="1"/>
              <a:t>especially</a:t>
            </a:r>
            <a:r>
              <a:rPr lang="ru-RU" sz="1400" b="1" dirty="0"/>
              <a:t> </a:t>
            </a:r>
            <a:r>
              <a:rPr lang="ru-RU" sz="1400" b="1" dirty="0" err="1"/>
              <a:t>important</a:t>
            </a:r>
            <a:br>
              <a:rPr lang="ru-RU" sz="1400" dirty="0"/>
            </a:b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generating</a:t>
            </a:r>
            <a:r>
              <a:rPr lang="ru-RU" sz="1400" dirty="0"/>
              <a:t> </a:t>
            </a:r>
            <a:r>
              <a:rPr lang="ru-RU" sz="1400" dirty="0" err="1"/>
              <a:t>realistic</a:t>
            </a:r>
            <a:r>
              <a:rPr lang="ru-RU" sz="1400" dirty="0"/>
              <a:t> </a:t>
            </a:r>
            <a:r>
              <a:rPr lang="ru-RU" sz="1400" dirty="0" err="1"/>
              <a:t>unseen-subject</a:t>
            </a:r>
            <a:r>
              <a:rPr lang="ru-RU" sz="1400" dirty="0"/>
              <a:t> </a:t>
            </a:r>
            <a:r>
              <a:rPr lang="ru-RU" sz="1400" dirty="0" err="1"/>
              <a:t>gait</a:t>
            </a:r>
            <a:r>
              <a:rPr lang="ru-RU" sz="1400" dirty="0"/>
              <a:t> </a:t>
            </a:r>
            <a:r>
              <a:rPr lang="ru-RU" sz="1400" dirty="0" err="1"/>
              <a:t>data</a:t>
            </a:r>
            <a:r>
              <a:rPr lang="ru-RU" sz="1400" dirty="0"/>
              <a:t>. </a:t>
            </a:r>
          </a:p>
          <a:p>
            <a:r>
              <a:rPr lang="ru-RU" sz="1400" b="1" dirty="0" err="1"/>
              <a:t>Synthetic</a:t>
            </a:r>
            <a:r>
              <a:rPr lang="ru-RU" sz="1400" b="1" dirty="0"/>
              <a:t> </a:t>
            </a:r>
            <a:r>
              <a:rPr lang="ru-RU" sz="1400" b="1" dirty="0" err="1"/>
              <a:t>mocap</a:t>
            </a:r>
            <a:r>
              <a:rPr lang="ru-RU" sz="1400" b="1" dirty="0"/>
              <a:t> </a:t>
            </a:r>
            <a:r>
              <a:rPr lang="ru-RU" sz="1400" b="1" dirty="0" err="1"/>
              <a:t>is</a:t>
            </a:r>
            <a:r>
              <a:rPr lang="ru-RU" sz="1400" b="1" dirty="0"/>
              <a:t> </a:t>
            </a:r>
            <a:r>
              <a:rPr lang="ru-RU" sz="1400" b="1" dirty="0" err="1"/>
              <a:t>promising</a:t>
            </a:r>
            <a:r>
              <a:rPr lang="ru-RU" sz="1400" b="1" dirty="0"/>
              <a:t>, </a:t>
            </a:r>
            <a:r>
              <a:rPr lang="ru-RU" sz="1400" b="1" dirty="0" err="1"/>
              <a:t>but</a:t>
            </a:r>
            <a:r>
              <a:rPr lang="ru-RU" sz="1400" b="1" dirty="0"/>
              <a:t> </a:t>
            </a:r>
            <a:r>
              <a:rPr lang="ru-RU" sz="1400" b="1" dirty="0" err="1"/>
              <a:t>not</a:t>
            </a:r>
            <a:r>
              <a:rPr lang="ru-RU" sz="1400" b="1" dirty="0"/>
              <a:t> a </a:t>
            </a:r>
            <a:r>
              <a:rPr lang="ru-RU" sz="1400" b="1" dirty="0" err="1"/>
              <a:t>replacement</a:t>
            </a:r>
            <a:r>
              <a:rPr lang="ru-RU" sz="1400" b="1" dirty="0"/>
              <a:t> </a:t>
            </a:r>
            <a:r>
              <a:rPr lang="ru-RU" sz="1400" b="1" dirty="0" err="1"/>
              <a:t>for</a:t>
            </a:r>
            <a:r>
              <a:rPr lang="ru-RU" sz="1400" b="1" dirty="0"/>
              <a:t> </a:t>
            </a:r>
            <a:r>
              <a:rPr lang="ru-RU" sz="1400" b="1" dirty="0" err="1"/>
              <a:t>real</a:t>
            </a:r>
            <a:r>
              <a:rPr lang="ru-RU" sz="1400" b="1" dirty="0"/>
              <a:t> </a:t>
            </a:r>
            <a:r>
              <a:rPr lang="ru-RU" sz="1400" b="1" dirty="0" err="1"/>
              <a:t>data</a:t>
            </a:r>
            <a:br>
              <a:rPr lang="ru-RU" sz="1400" dirty="0"/>
            </a:br>
            <a:r>
              <a:rPr lang="ru-RU" sz="1400" dirty="0" err="1"/>
              <a:t>because</a:t>
            </a:r>
            <a:r>
              <a:rPr lang="ru-RU" sz="1400" dirty="0"/>
              <a:t> </a:t>
            </a:r>
            <a:r>
              <a:rPr lang="ru-RU" sz="1400" dirty="0" err="1"/>
              <a:t>biomechanical</a:t>
            </a:r>
            <a:r>
              <a:rPr lang="ru-RU" sz="1400" dirty="0"/>
              <a:t> </a:t>
            </a:r>
            <a:r>
              <a:rPr lang="ru-RU" sz="1400" dirty="0" err="1"/>
              <a:t>consistency</a:t>
            </a:r>
            <a:r>
              <a:rPr lang="ru-RU" sz="1400" dirty="0"/>
              <a:t> </a:t>
            </a:r>
            <a:r>
              <a:rPr lang="ru-RU" sz="1400" dirty="0" err="1"/>
              <a:t>still</a:t>
            </a:r>
            <a:r>
              <a:rPr lang="ru-RU" sz="1400" dirty="0"/>
              <a:t> </a:t>
            </a:r>
            <a:r>
              <a:rPr lang="ru-RU" sz="1400" dirty="0" err="1"/>
              <a:t>needs</a:t>
            </a:r>
            <a:r>
              <a:rPr lang="ru-RU" sz="1400" dirty="0"/>
              <a:t> </a:t>
            </a:r>
            <a:r>
              <a:rPr lang="ru-RU" sz="1400" dirty="0" err="1"/>
              <a:t>validation</a:t>
            </a:r>
            <a:r>
              <a:rPr lang="ru-RU" sz="1400" dirty="0"/>
              <a:t>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E1A377-449E-6942-A465-1C043FA6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938374"/>
            <a:ext cx="9217656" cy="546410"/>
          </a:xfrm>
        </p:spPr>
        <p:txBody>
          <a:bodyPr/>
          <a:lstStyle/>
          <a:p>
            <a:r>
              <a:rPr lang="ru-RU" b="1" dirty="0" err="1"/>
              <a:t>Conclusion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D6162-23F8-36D2-4F67-B23E4CB1271F}"/>
              </a:ext>
            </a:extLst>
          </p:cNvPr>
          <p:cNvSpPr txBox="1"/>
          <p:nvPr/>
        </p:nvSpPr>
        <p:spPr>
          <a:xfrm>
            <a:off x="2062920" y="5213980"/>
            <a:ext cx="95056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003F6B"/>
                </a:solidFill>
              </a:rPr>
              <a:t>Final </a:t>
            </a:r>
            <a:r>
              <a:rPr lang="ru-RU" sz="1800" b="1" dirty="0" err="1">
                <a:solidFill>
                  <a:srgbClr val="003F6B"/>
                </a:solidFill>
              </a:rPr>
              <a:t>takeaway</a:t>
            </a:r>
            <a:r>
              <a:rPr lang="ru-RU" sz="1800" b="1" dirty="0">
                <a:solidFill>
                  <a:srgbClr val="003F6B"/>
                </a:solidFill>
              </a:rPr>
              <a:t>:</a:t>
            </a:r>
            <a:br>
              <a:rPr lang="ru-RU" sz="1800" dirty="0">
                <a:solidFill>
                  <a:srgbClr val="003F6B"/>
                </a:solidFill>
              </a:rPr>
            </a:br>
            <a:r>
              <a:rPr lang="ru-RU" sz="1800" dirty="0" err="1">
                <a:solidFill>
                  <a:srgbClr val="003F6B"/>
                </a:solidFill>
              </a:rPr>
              <a:t>Condition-controlled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synthetic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mocap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can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support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larger</a:t>
            </a:r>
            <a:r>
              <a:rPr lang="ru-RU" sz="1800" dirty="0">
                <a:solidFill>
                  <a:srgbClr val="003F6B"/>
                </a:solidFill>
              </a:rPr>
              <a:t>, </a:t>
            </a:r>
            <a:r>
              <a:rPr lang="ru-RU" sz="1800" dirty="0" err="1">
                <a:solidFill>
                  <a:srgbClr val="003F6B"/>
                </a:solidFill>
              </a:rPr>
              <a:t>more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shareable</a:t>
            </a:r>
            <a:r>
              <a:rPr lang="ru-RU" sz="1800" dirty="0">
                <a:solidFill>
                  <a:srgbClr val="003F6B"/>
                </a:solidFill>
              </a:rPr>
              <a:t>, </a:t>
            </a:r>
            <a:r>
              <a:rPr lang="ru-RU" sz="1800" dirty="0" err="1">
                <a:solidFill>
                  <a:srgbClr val="003F6B"/>
                </a:solidFill>
              </a:rPr>
              <a:t>and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more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flexible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human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movement</a:t>
            </a:r>
            <a:r>
              <a:rPr lang="ru-RU" sz="1800" dirty="0">
                <a:solidFill>
                  <a:srgbClr val="003F6B"/>
                </a:solidFill>
              </a:rPr>
              <a:t> </a:t>
            </a:r>
            <a:r>
              <a:rPr lang="ru-RU" sz="1800" dirty="0" err="1">
                <a:solidFill>
                  <a:srgbClr val="003F6B"/>
                </a:solidFill>
              </a:rPr>
              <a:t>datasets</a:t>
            </a:r>
            <a:r>
              <a:rPr lang="ru-RU" sz="1800" dirty="0">
                <a:solidFill>
                  <a:srgbClr val="003F6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636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6E45-A8FE-7D13-EE1A-E64B38E9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ADF2EF-BB5C-0D5A-85E6-6054E141C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3512" y="1196752"/>
            <a:ext cx="10297144" cy="5040560"/>
          </a:xfrm>
        </p:spPr>
        <p:txBody>
          <a:bodyPr numCol="2"/>
          <a:lstStyle/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Bicer</a:t>
            </a:r>
            <a:r>
              <a:rPr lang="ru-RU" sz="900" dirty="0"/>
              <a:t>, M., Phillips, A. T. M., </a:t>
            </a:r>
            <a:r>
              <a:rPr lang="ru-RU" sz="900" dirty="0" err="1"/>
              <a:t>Melis</a:t>
            </a:r>
            <a:r>
              <a:rPr lang="ru-RU" sz="900" dirty="0"/>
              <a:t>, A., </a:t>
            </a:r>
            <a:r>
              <a:rPr lang="ru-RU" sz="900" dirty="0" err="1"/>
              <a:t>McGregor</a:t>
            </a:r>
            <a:r>
              <a:rPr lang="ru-RU" sz="900" dirty="0"/>
              <a:t>, A. H., &amp; </a:t>
            </a:r>
            <a:r>
              <a:rPr lang="ru-RU" sz="900" dirty="0" err="1"/>
              <a:t>Modenese</a:t>
            </a:r>
            <a:r>
              <a:rPr lang="ru-RU" sz="900" dirty="0"/>
              <a:t>, L. (2022). </a:t>
            </a:r>
            <a:r>
              <a:rPr lang="ru-RU" sz="900" dirty="0" err="1"/>
              <a:t>Generative</a:t>
            </a:r>
            <a:r>
              <a:rPr lang="ru-RU" sz="900" dirty="0"/>
              <a:t> </a:t>
            </a:r>
            <a:r>
              <a:rPr lang="ru-RU" sz="900" dirty="0" err="1"/>
              <a:t>deep</a:t>
            </a:r>
            <a:r>
              <a:rPr lang="ru-RU" sz="900" dirty="0"/>
              <a:t> </a:t>
            </a:r>
            <a:r>
              <a:rPr lang="ru-RU" sz="900" dirty="0" err="1"/>
              <a:t>learning</a:t>
            </a:r>
            <a:r>
              <a:rPr lang="ru-RU" sz="900" dirty="0"/>
              <a:t> </a:t>
            </a:r>
            <a:r>
              <a:rPr lang="ru-RU" sz="900" dirty="0" err="1"/>
              <a:t>applied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biomechanics</a:t>
            </a:r>
            <a:r>
              <a:rPr lang="ru-RU" sz="900" dirty="0"/>
              <a:t>: A </a:t>
            </a:r>
            <a:r>
              <a:rPr lang="ru-RU" sz="900" dirty="0" err="1"/>
              <a:t>new</a:t>
            </a:r>
            <a:r>
              <a:rPr lang="ru-RU" sz="900" dirty="0"/>
              <a:t> </a:t>
            </a:r>
            <a:r>
              <a:rPr lang="ru-RU" sz="900" dirty="0" err="1"/>
              <a:t>augmentation</a:t>
            </a:r>
            <a:r>
              <a:rPr lang="ru-RU" sz="900" dirty="0"/>
              <a:t> </a:t>
            </a:r>
            <a:r>
              <a:rPr lang="ru-RU" sz="900" dirty="0" err="1"/>
              <a:t>technique</a:t>
            </a:r>
            <a:r>
              <a:rPr lang="ru-RU" sz="900" dirty="0"/>
              <a:t> </a:t>
            </a:r>
            <a:r>
              <a:rPr lang="ru-RU" sz="900" dirty="0" err="1"/>
              <a:t>for</a:t>
            </a:r>
            <a:r>
              <a:rPr lang="ru-RU" sz="900" dirty="0"/>
              <a:t> </a:t>
            </a:r>
            <a:r>
              <a:rPr lang="ru-RU" sz="900" dirty="0" err="1"/>
              <a:t>motion</a:t>
            </a:r>
            <a:r>
              <a:rPr lang="ru-RU" sz="900" dirty="0"/>
              <a:t> </a:t>
            </a:r>
            <a:r>
              <a:rPr lang="ru-RU" sz="900" dirty="0" err="1"/>
              <a:t>capture</a:t>
            </a:r>
            <a:r>
              <a:rPr lang="ru-RU" sz="900" dirty="0"/>
              <a:t> </a:t>
            </a:r>
            <a:r>
              <a:rPr lang="ru-RU" sz="900" dirty="0" err="1"/>
              <a:t>datasets</a:t>
            </a:r>
            <a:r>
              <a:rPr lang="ru-RU" sz="900" dirty="0"/>
              <a:t>. </a:t>
            </a:r>
            <a:r>
              <a:rPr lang="ru-RU" sz="900" i="1" dirty="0"/>
              <a:t>Journal </a:t>
            </a:r>
            <a:r>
              <a:rPr lang="ru-RU" sz="900" i="1" dirty="0" err="1"/>
              <a:t>of</a:t>
            </a:r>
            <a:r>
              <a:rPr lang="ru-RU" sz="900" i="1" dirty="0"/>
              <a:t> </a:t>
            </a:r>
            <a:r>
              <a:rPr lang="ru-RU" sz="900" i="1" dirty="0" err="1"/>
              <a:t>Biomechanics</a:t>
            </a:r>
            <a:r>
              <a:rPr lang="ru-RU" sz="900" i="1" dirty="0"/>
              <a:t>, 144</a:t>
            </a:r>
            <a:r>
              <a:rPr lang="ru-RU" sz="900" dirty="0"/>
              <a:t>, 111301.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Bicer</a:t>
            </a:r>
            <a:r>
              <a:rPr lang="ru-RU" sz="900" dirty="0"/>
              <a:t>, M., Phillips, A. T. M., </a:t>
            </a:r>
            <a:r>
              <a:rPr lang="ru-RU" sz="900" dirty="0" err="1"/>
              <a:t>Melis</a:t>
            </a:r>
            <a:r>
              <a:rPr lang="ru-RU" sz="900" dirty="0"/>
              <a:t>, A., </a:t>
            </a:r>
            <a:r>
              <a:rPr lang="ru-RU" sz="900" dirty="0" err="1"/>
              <a:t>McGregor</a:t>
            </a:r>
            <a:r>
              <a:rPr lang="ru-RU" sz="900" dirty="0"/>
              <a:t>, A. H., &amp; </a:t>
            </a:r>
            <a:r>
              <a:rPr lang="ru-RU" sz="900" dirty="0" err="1"/>
              <a:t>Modenese</a:t>
            </a:r>
            <a:r>
              <a:rPr lang="ru-RU" sz="900" dirty="0"/>
              <a:t>, L. (2024). </a:t>
            </a:r>
            <a:r>
              <a:rPr lang="ru-RU" sz="900" dirty="0" err="1"/>
              <a:t>Generative</a:t>
            </a:r>
            <a:r>
              <a:rPr lang="ru-RU" sz="900" dirty="0"/>
              <a:t> </a:t>
            </a:r>
            <a:r>
              <a:rPr lang="ru-RU" sz="900" dirty="0" err="1"/>
              <a:t>adversarial</a:t>
            </a:r>
            <a:r>
              <a:rPr lang="ru-RU" sz="900" dirty="0"/>
              <a:t> </a:t>
            </a:r>
            <a:r>
              <a:rPr lang="ru-RU" sz="900" dirty="0" err="1"/>
              <a:t>networks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create</a:t>
            </a:r>
            <a:r>
              <a:rPr lang="ru-RU" sz="900" dirty="0"/>
              <a:t> </a:t>
            </a:r>
            <a:r>
              <a:rPr lang="ru-RU" sz="900" dirty="0" err="1"/>
              <a:t>synthetic</a:t>
            </a:r>
            <a:r>
              <a:rPr lang="ru-RU" sz="900" dirty="0"/>
              <a:t> </a:t>
            </a:r>
            <a:r>
              <a:rPr lang="ru-RU" sz="900" dirty="0" err="1"/>
              <a:t>motion</a:t>
            </a:r>
            <a:r>
              <a:rPr lang="ru-RU" sz="900" dirty="0"/>
              <a:t> </a:t>
            </a:r>
            <a:r>
              <a:rPr lang="ru-RU" sz="900" dirty="0" err="1"/>
              <a:t>capture</a:t>
            </a:r>
            <a:r>
              <a:rPr lang="ru-RU" sz="900" dirty="0"/>
              <a:t> </a:t>
            </a:r>
            <a:r>
              <a:rPr lang="ru-RU" sz="900" dirty="0" err="1"/>
              <a:t>datasets</a:t>
            </a:r>
            <a:r>
              <a:rPr lang="ru-RU" sz="900" dirty="0"/>
              <a:t> </a:t>
            </a:r>
            <a:r>
              <a:rPr lang="ru-RU" sz="900" dirty="0" err="1"/>
              <a:t>including</a:t>
            </a:r>
            <a:r>
              <a:rPr lang="ru-RU" sz="900" dirty="0"/>
              <a:t> </a:t>
            </a:r>
            <a:r>
              <a:rPr lang="ru-RU" sz="900" dirty="0" err="1"/>
              <a:t>subject</a:t>
            </a:r>
            <a:r>
              <a:rPr lang="ru-RU" sz="900" dirty="0"/>
              <a:t> </a:t>
            </a:r>
            <a:r>
              <a:rPr lang="ru-RU" sz="900" dirty="0" err="1"/>
              <a:t>and</a:t>
            </a:r>
            <a:r>
              <a:rPr lang="ru-RU" sz="900" dirty="0"/>
              <a:t>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characteristics</a:t>
            </a:r>
            <a:r>
              <a:rPr lang="ru-RU" sz="900" dirty="0"/>
              <a:t>. </a:t>
            </a:r>
            <a:r>
              <a:rPr lang="ru-RU" sz="900" i="1" dirty="0"/>
              <a:t>Journal </a:t>
            </a:r>
            <a:r>
              <a:rPr lang="ru-RU" sz="900" i="1" dirty="0" err="1"/>
              <a:t>of</a:t>
            </a:r>
            <a:r>
              <a:rPr lang="ru-RU" sz="900" i="1" dirty="0"/>
              <a:t> </a:t>
            </a:r>
            <a:r>
              <a:rPr lang="ru-RU" sz="900" i="1" dirty="0" err="1"/>
              <a:t>Biomechanics</a:t>
            </a:r>
            <a:r>
              <a:rPr lang="ru-RU" sz="900" i="1" dirty="0"/>
              <a:t>, 177</a:t>
            </a:r>
            <a:r>
              <a:rPr lang="ru-RU" sz="900" dirty="0"/>
              <a:t>, 112358.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Bicer</a:t>
            </a:r>
            <a:r>
              <a:rPr lang="ru-RU" sz="900" dirty="0"/>
              <a:t>, M. (2024). </a:t>
            </a:r>
            <a:r>
              <a:rPr lang="ru-RU" sz="900" i="1" dirty="0" err="1"/>
              <a:t>generative-mocap</a:t>
            </a:r>
            <a:r>
              <a:rPr lang="ru-RU" sz="900" dirty="0"/>
              <a:t> [Source </a:t>
            </a:r>
            <a:r>
              <a:rPr lang="ru-RU" sz="900" dirty="0" err="1"/>
              <a:t>code</a:t>
            </a:r>
            <a:r>
              <a:rPr lang="ru-RU" sz="900" dirty="0"/>
              <a:t>]. </a:t>
            </a:r>
            <a:r>
              <a:rPr lang="ru-RU" sz="900" dirty="0" err="1"/>
              <a:t>GitHub</a:t>
            </a:r>
            <a:r>
              <a:rPr lang="ru-RU" sz="900" dirty="0"/>
              <a:t>. </a:t>
            </a:r>
            <a:r>
              <a:rPr lang="ru-RU" sz="900" dirty="0">
                <a:hlinkClick r:id="rId2"/>
              </a:rPr>
              <a:t>https://github.com/metinbicer/generative-mocap</a:t>
            </a:r>
            <a:endParaRPr lang="ru-RU" sz="900" dirty="0"/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Bruening</a:t>
            </a:r>
            <a:r>
              <a:rPr lang="ru-RU" sz="900" dirty="0"/>
              <a:t>, D. A., </a:t>
            </a:r>
            <a:r>
              <a:rPr lang="ru-RU" sz="900" dirty="0" err="1"/>
              <a:t>Frimenko</a:t>
            </a:r>
            <a:r>
              <a:rPr lang="ru-RU" sz="900" dirty="0"/>
              <a:t>, R. E., Goodyear, C. D., </a:t>
            </a:r>
            <a:r>
              <a:rPr lang="ru-RU" sz="900" dirty="0" err="1"/>
              <a:t>Bowden</a:t>
            </a:r>
            <a:r>
              <a:rPr lang="ru-RU" sz="900" dirty="0"/>
              <a:t>, D. R., &amp; </a:t>
            </a:r>
            <a:r>
              <a:rPr lang="ru-RU" sz="900" dirty="0" err="1"/>
              <a:t>Fullenkamp</a:t>
            </a:r>
            <a:r>
              <a:rPr lang="ru-RU" sz="900" dirty="0"/>
              <a:t>, A. M. (2015). Sex </a:t>
            </a:r>
            <a:r>
              <a:rPr lang="ru-RU" sz="900" dirty="0" err="1"/>
              <a:t>differences</a:t>
            </a:r>
            <a:r>
              <a:rPr lang="ru-RU" sz="900" dirty="0"/>
              <a:t> </a:t>
            </a:r>
            <a:r>
              <a:rPr lang="ru-RU" sz="900" dirty="0" err="1"/>
              <a:t>in</a:t>
            </a:r>
            <a:r>
              <a:rPr lang="ru-RU" sz="900" dirty="0"/>
              <a:t> </a:t>
            </a:r>
            <a:r>
              <a:rPr lang="ru-RU" sz="900" dirty="0" err="1"/>
              <a:t>whole</a:t>
            </a:r>
            <a:r>
              <a:rPr lang="ru-RU" sz="900" dirty="0"/>
              <a:t> </a:t>
            </a:r>
            <a:r>
              <a:rPr lang="ru-RU" sz="900" dirty="0" err="1"/>
              <a:t>body</a:t>
            </a:r>
            <a:r>
              <a:rPr lang="ru-RU" sz="900" dirty="0"/>
              <a:t>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kinematics</a:t>
            </a:r>
            <a:r>
              <a:rPr lang="ru-RU" sz="900" dirty="0"/>
              <a:t> </a:t>
            </a:r>
            <a:r>
              <a:rPr lang="ru-RU" sz="900" dirty="0" err="1"/>
              <a:t>at</a:t>
            </a:r>
            <a:r>
              <a:rPr lang="ru-RU" sz="900" dirty="0"/>
              <a:t> </a:t>
            </a:r>
            <a:r>
              <a:rPr lang="ru-RU" sz="900" dirty="0" err="1"/>
              <a:t>preferred</a:t>
            </a:r>
            <a:r>
              <a:rPr lang="ru-RU" sz="900" dirty="0"/>
              <a:t> </a:t>
            </a:r>
            <a:r>
              <a:rPr lang="ru-RU" sz="900" dirty="0" err="1"/>
              <a:t>speeds</a:t>
            </a:r>
            <a:r>
              <a:rPr lang="ru-RU" sz="900" dirty="0"/>
              <a:t>. </a:t>
            </a:r>
            <a:r>
              <a:rPr lang="ru-RU" sz="900" i="1" dirty="0" err="1"/>
              <a:t>Gait</a:t>
            </a:r>
            <a:r>
              <a:rPr lang="ru-RU" sz="900" i="1" dirty="0"/>
              <a:t> &amp; </a:t>
            </a:r>
            <a:r>
              <a:rPr lang="ru-RU" sz="900" i="1" dirty="0" err="1"/>
              <a:t>Posture</a:t>
            </a:r>
            <a:r>
              <a:rPr lang="ru-RU" sz="900" i="1" dirty="0"/>
              <a:t>, 41</a:t>
            </a:r>
            <a:r>
              <a:rPr lang="ru-RU" sz="900" dirty="0"/>
              <a:t>, 540–545.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Goodfellow</a:t>
            </a:r>
            <a:r>
              <a:rPr lang="ru-RU" sz="900" dirty="0"/>
              <a:t>, I., </a:t>
            </a:r>
            <a:r>
              <a:rPr lang="ru-RU" sz="900" dirty="0" err="1"/>
              <a:t>Pouget-Abadie</a:t>
            </a:r>
            <a:r>
              <a:rPr lang="ru-RU" sz="900" dirty="0"/>
              <a:t>, J., </a:t>
            </a:r>
            <a:r>
              <a:rPr lang="ru-RU" sz="900" dirty="0" err="1"/>
              <a:t>Mirza</a:t>
            </a:r>
            <a:r>
              <a:rPr lang="ru-RU" sz="900" dirty="0"/>
              <a:t>, M., </a:t>
            </a:r>
            <a:r>
              <a:rPr lang="ru-RU" sz="900" dirty="0" err="1"/>
              <a:t>Xu</a:t>
            </a:r>
            <a:r>
              <a:rPr lang="ru-RU" sz="900" dirty="0"/>
              <a:t>, B., </a:t>
            </a:r>
            <a:r>
              <a:rPr lang="ru-RU" sz="900" dirty="0" err="1"/>
              <a:t>Warde-Farley</a:t>
            </a:r>
            <a:r>
              <a:rPr lang="ru-RU" sz="900" dirty="0"/>
              <a:t>, D., </a:t>
            </a:r>
            <a:r>
              <a:rPr lang="ru-RU" sz="900" dirty="0" err="1"/>
              <a:t>Ozair</a:t>
            </a:r>
            <a:r>
              <a:rPr lang="ru-RU" sz="900" dirty="0"/>
              <a:t>, S., </a:t>
            </a:r>
            <a:r>
              <a:rPr lang="ru-RU" sz="900" dirty="0" err="1"/>
              <a:t>Courville</a:t>
            </a:r>
            <a:r>
              <a:rPr lang="ru-RU" sz="900" dirty="0"/>
              <a:t>, A., &amp; </a:t>
            </a:r>
            <a:r>
              <a:rPr lang="ru-RU" sz="900" dirty="0" err="1"/>
              <a:t>Bengio</a:t>
            </a:r>
            <a:r>
              <a:rPr lang="ru-RU" sz="900" dirty="0"/>
              <a:t>, Y. (2014). </a:t>
            </a:r>
            <a:r>
              <a:rPr lang="ru-RU" sz="900" dirty="0" err="1"/>
              <a:t>Generative</a:t>
            </a:r>
            <a:r>
              <a:rPr lang="ru-RU" sz="900" dirty="0"/>
              <a:t> </a:t>
            </a:r>
            <a:r>
              <a:rPr lang="ru-RU" sz="900" dirty="0" err="1"/>
              <a:t>adversarial</a:t>
            </a:r>
            <a:r>
              <a:rPr lang="ru-RU" sz="900" dirty="0"/>
              <a:t> </a:t>
            </a:r>
            <a:r>
              <a:rPr lang="ru-RU" sz="900" dirty="0" err="1"/>
              <a:t>nets</a:t>
            </a:r>
            <a:r>
              <a:rPr lang="ru-RU" sz="900" dirty="0"/>
              <a:t>. </a:t>
            </a:r>
            <a:r>
              <a:rPr lang="ru-RU" sz="900" i="1" dirty="0" err="1"/>
              <a:t>Advances</a:t>
            </a:r>
            <a:r>
              <a:rPr lang="ru-RU" sz="900" i="1" dirty="0"/>
              <a:t> </a:t>
            </a:r>
            <a:r>
              <a:rPr lang="ru-RU" sz="900" i="1" dirty="0" err="1"/>
              <a:t>in</a:t>
            </a:r>
            <a:r>
              <a:rPr lang="ru-RU" sz="900" i="1" dirty="0"/>
              <a:t> </a:t>
            </a:r>
            <a:r>
              <a:rPr lang="ru-RU" sz="900" i="1" dirty="0" err="1"/>
              <a:t>Neural</a:t>
            </a:r>
            <a:r>
              <a:rPr lang="ru-RU" sz="900" i="1" dirty="0"/>
              <a:t> Information Processing Systems</a:t>
            </a:r>
            <a:r>
              <a:rPr lang="ru-RU" sz="900" dirty="0"/>
              <a:t>, 2672–2680.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Halilaj</a:t>
            </a:r>
            <a:r>
              <a:rPr lang="ru-RU" sz="900" dirty="0"/>
              <a:t>, E., </a:t>
            </a:r>
            <a:r>
              <a:rPr lang="ru-RU" sz="900" dirty="0" err="1"/>
              <a:t>Rajagopal</a:t>
            </a:r>
            <a:r>
              <a:rPr lang="ru-RU" sz="900" dirty="0"/>
              <a:t>, A., </a:t>
            </a:r>
            <a:r>
              <a:rPr lang="ru-RU" sz="900" dirty="0" err="1"/>
              <a:t>Fiterau</a:t>
            </a:r>
            <a:r>
              <a:rPr lang="ru-RU" sz="900" dirty="0"/>
              <a:t>, M., </a:t>
            </a:r>
            <a:r>
              <a:rPr lang="ru-RU" sz="900" dirty="0" err="1"/>
              <a:t>Hicks</a:t>
            </a:r>
            <a:r>
              <a:rPr lang="ru-RU" sz="900" dirty="0"/>
              <a:t>, J. L., </a:t>
            </a:r>
            <a:r>
              <a:rPr lang="ru-RU" sz="900" dirty="0" err="1"/>
              <a:t>Hastie</a:t>
            </a:r>
            <a:r>
              <a:rPr lang="ru-RU" sz="900" dirty="0"/>
              <a:t>, T. J., &amp; </a:t>
            </a:r>
            <a:r>
              <a:rPr lang="ru-RU" sz="900" dirty="0" err="1"/>
              <a:t>Delp</a:t>
            </a:r>
            <a:r>
              <a:rPr lang="ru-RU" sz="900" dirty="0"/>
              <a:t>, S. L. (2018). Machine </a:t>
            </a:r>
            <a:r>
              <a:rPr lang="ru-RU" sz="900" dirty="0" err="1"/>
              <a:t>learning</a:t>
            </a:r>
            <a:r>
              <a:rPr lang="ru-RU" sz="900" dirty="0"/>
              <a:t> </a:t>
            </a:r>
            <a:r>
              <a:rPr lang="ru-RU" sz="900" dirty="0" err="1"/>
              <a:t>in</a:t>
            </a:r>
            <a:r>
              <a:rPr lang="ru-RU" sz="900" dirty="0"/>
              <a:t> </a:t>
            </a:r>
            <a:r>
              <a:rPr lang="ru-RU" sz="900" dirty="0" err="1"/>
              <a:t>human</a:t>
            </a:r>
            <a:r>
              <a:rPr lang="ru-RU" sz="900" dirty="0"/>
              <a:t> </a:t>
            </a:r>
            <a:r>
              <a:rPr lang="ru-RU" sz="900" dirty="0" err="1"/>
              <a:t>movement</a:t>
            </a:r>
            <a:r>
              <a:rPr lang="ru-RU" sz="900" dirty="0"/>
              <a:t> </a:t>
            </a:r>
            <a:r>
              <a:rPr lang="ru-RU" sz="900" dirty="0" err="1"/>
              <a:t>biomechanics</a:t>
            </a:r>
            <a:r>
              <a:rPr lang="ru-RU" sz="900" dirty="0"/>
              <a:t>: Best </a:t>
            </a:r>
            <a:r>
              <a:rPr lang="ru-RU" sz="900" dirty="0" err="1"/>
              <a:t>practices</a:t>
            </a:r>
            <a:r>
              <a:rPr lang="ru-RU" sz="900" dirty="0"/>
              <a:t>, </a:t>
            </a:r>
            <a:r>
              <a:rPr lang="ru-RU" sz="900" dirty="0" err="1"/>
              <a:t>common</a:t>
            </a:r>
            <a:r>
              <a:rPr lang="ru-RU" sz="900" dirty="0"/>
              <a:t> </a:t>
            </a:r>
            <a:r>
              <a:rPr lang="ru-RU" sz="900" dirty="0" err="1"/>
              <a:t>pitfalls</a:t>
            </a:r>
            <a:r>
              <a:rPr lang="ru-RU" sz="900" dirty="0"/>
              <a:t>, </a:t>
            </a:r>
            <a:r>
              <a:rPr lang="ru-RU" sz="900" dirty="0" err="1"/>
              <a:t>and</a:t>
            </a:r>
            <a:r>
              <a:rPr lang="ru-RU" sz="900" dirty="0"/>
              <a:t> </a:t>
            </a:r>
            <a:r>
              <a:rPr lang="ru-RU" sz="900" dirty="0" err="1"/>
              <a:t>new</a:t>
            </a:r>
            <a:r>
              <a:rPr lang="ru-RU" sz="900" dirty="0"/>
              <a:t> </a:t>
            </a:r>
            <a:r>
              <a:rPr lang="ru-RU" sz="900" dirty="0" err="1"/>
              <a:t>opportunities</a:t>
            </a:r>
            <a:r>
              <a:rPr lang="ru-RU" sz="900" dirty="0"/>
              <a:t>. </a:t>
            </a:r>
            <a:r>
              <a:rPr lang="ru-RU" sz="900" i="1" dirty="0"/>
              <a:t>Journal </a:t>
            </a:r>
            <a:r>
              <a:rPr lang="ru-RU" sz="900" i="1" dirty="0" err="1"/>
              <a:t>of</a:t>
            </a:r>
            <a:r>
              <a:rPr lang="ru-RU" sz="900" i="1" dirty="0"/>
              <a:t> </a:t>
            </a:r>
            <a:r>
              <a:rPr lang="ru-RU" sz="900" i="1" dirty="0" err="1"/>
              <a:t>Biomechanics</a:t>
            </a:r>
            <a:r>
              <a:rPr lang="ru-RU" sz="900" i="1" dirty="0"/>
              <a:t>, 81</a:t>
            </a:r>
            <a:r>
              <a:rPr lang="ru-RU" sz="900" dirty="0"/>
              <a:t>, 1–11.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Knudson</a:t>
            </a:r>
            <a:r>
              <a:rPr lang="ru-RU" sz="900" dirty="0"/>
              <a:t>, D. (2017). </a:t>
            </a:r>
            <a:r>
              <a:rPr lang="ru-RU" sz="900" dirty="0" err="1"/>
              <a:t>Confidence</a:t>
            </a:r>
            <a:r>
              <a:rPr lang="ru-RU" sz="900" dirty="0"/>
              <a:t> </a:t>
            </a:r>
            <a:r>
              <a:rPr lang="ru-RU" sz="900" dirty="0" err="1"/>
              <a:t>crisis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results</a:t>
            </a:r>
            <a:r>
              <a:rPr lang="ru-RU" sz="900" dirty="0"/>
              <a:t> </a:t>
            </a:r>
            <a:r>
              <a:rPr lang="ru-RU" sz="900" dirty="0" err="1"/>
              <a:t>in</a:t>
            </a:r>
            <a:r>
              <a:rPr lang="ru-RU" sz="900" dirty="0"/>
              <a:t> </a:t>
            </a:r>
            <a:r>
              <a:rPr lang="ru-RU" sz="900" dirty="0" err="1"/>
              <a:t>biomechanics</a:t>
            </a:r>
            <a:r>
              <a:rPr lang="ru-RU" sz="900" dirty="0"/>
              <a:t> </a:t>
            </a:r>
            <a:r>
              <a:rPr lang="ru-RU" sz="900" dirty="0" err="1"/>
              <a:t>research</a:t>
            </a:r>
            <a:r>
              <a:rPr lang="ru-RU" sz="900" dirty="0"/>
              <a:t>. </a:t>
            </a:r>
            <a:r>
              <a:rPr lang="ru-RU" sz="900" i="1" dirty="0"/>
              <a:t>Sports </a:t>
            </a:r>
            <a:r>
              <a:rPr lang="ru-RU" sz="900" i="1" dirty="0" err="1"/>
              <a:t>Biomechanics</a:t>
            </a:r>
            <a:r>
              <a:rPr lang="ru-RU" sz="900" i="1" dirty="0"/>
              <a:t>, 16</a:t>
            </a:r>
            <a:r>
              <a:rPr lang="ru-RU" sz="900" dirty="0"/>
              <a:t>, 425–433.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Mirza</a:t>
            </a:r>
            <a:r>
              <a:rPr lang="ru-RU" sz="900" dirty="0"/>
              <a:t>, M., &amp; </a:t>
            </a:r>
            <a:r>
              <a:rPr lang="ru-RU" sz="900" dirty="0" err="1"/>
              <a:t>Osindero</a:t>
            </a:r>
            <a:r>
              <a:rPr lang="ru-RU" sz="900" dirty="0"/>
              <a:t>, S. (2014). </a:t>
            </a:r>
            <a:r>
              <a:rPr lang="ru-RU" sz="900" dirty="0" err="1"/>
              <a:t>Conditional</a:t>
            </a:r>
            <a:r>
              <a:rPr lang="ru-RU" sz="900" dirty="0"/>
              <a:t> </a:t>
            </a:r>
            <a:r>
              <a:rPr lang="ru-RU" sz="900" dirty="0" err="1"/>
              <a:t>generative</a:t>
            </a:r>
            <a:r>
              <a:rPr lang="ru-RU" sz="900" dirty="0"/>
              <a:t> </a:t>
            </a:r>
            <a:r>
              <a:rPr lang="ru-RU" sz="900" dirty="0" err="1"/>
              <a:t>adversarial</a:t>
            </a:r>
            <a:r>
              <a:rPr lang="ru-RU" sz="900" dirty="0"/>
              <a:t> </a:t>
            </a:r>
            <a:r>
              <a:rPr lang="ru-RU" sz="900" dirty="0" err="1"/>
              <a:t>nets</a:t>
            </a:r>
            <a:r>
              <a:rPr lang="ru-RU" sz="900" dirty="0"/>
              <a:t>. </a:t>
            </a:r>
            <a:r>
              <a:rPr lang="ru-RU" sz="900" i="1" dirty="0" err="1"/>
              <a:t>arXiv</a:t>
            </a:r>
            <a:r>
              <a:rPr lang="ru-RU" sz="900" i="1" dirty="0"/>
              <a:t> </a:t>
            </a:r>
            <a:r>
              <a:rPr lang="ru-RU" sz="900" i="1" dirty="0" err="1"/>
              <a:t>preprint</a:t>
            </a:r>
            <a:r>
              <a:rPr lang="ru-RU" sz="900" i="1" dirty="0"/>
              <a:t> arXiv:1411.1784</a:t>
            </a:r>
            <a:r>
              <a:rPr lang="ru-RU" sz="9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Mundt</a:t>
            </a:r>
            <a:r>
              <a:rPr lang="ru-RU" sz="900" dirty="0"/>
              <a:t>, M., </a:t>
            </a:r>
            <a:r>
              <a:rPr lang="ru-RU" sz="900" dirty="0" err="1"/>
              <a:t>Koeppe</a:t>
            </a:r>
            <a:r>
              <a:rPr lang="ru-RU" sz="900" dirty="0"/>
              <a:t>, A., David, S., </a:t>
            </a:r>
            <a:r>
              <a:rPr lang="ru-RU" sz="900" dirty="0" err="1"/>
              <a:t>Witter</a:t>
            </a:r>
            <a:r>
              <a:rPr lang="ru-RU" sz="900" dirty="0"/>
              <a:t>, T., </a:t>
            </a:r>
            <a:r>
              <a:rPr lang="ru-RU" sz="900" dirty="0" err="1"/>
              <a:t>Bamer</a:t>
            </a:r>
            <a:r>
              <a:rPr lang="ru-RU" sz="900" dirty="0"/>
              <a:t>, F., </a:t>
            </a:r>
            <a:r>
              <a:rPr lang="ru-RU" sz="900" dirty="0" err="1"/>
              <a:t>Potthast</a:t>
            </a:r>
            <a:r>
              <a:rPr lang="ru-RU" sz="900" dirty="0"/>
              <a:t>, W., &amp; </a:t>
            </a:r>
            <a:r>
              <a:rPr lang="ru-RU" sz="900" dirty="0" err="1"/>
              <a:t>Markert</a:t>
            </a:r>
            <a:r>
              <a:rPr lang="ru-RU" sz="900" dirty="0"/>
              <a:t>, B. (2020). </a:t>
            </a:r>
            <a:r>
              <a:rPr lang="ru-RU" sz="900" dirty="0" err="1"/>
              <a:t>Estimation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mechanics</a:t>
            </a:r>
            <a:r>
              <a:rPr lang="ru-RU" sz="900" dirty="0"/>
              <a:t> </a:t>
            </a:r>
            <a:r>
              <a:rPr lang="ru-RU" sz="900" dirty="0" err="1"/>
              <a:t>based</a:t>
            </a:r>
            <a:r>
              <a:rPr lang="ru-RU" sz="900" dirty="0"/>
              <a:t> </a:t>
            </a:r>
            <a:r>
              <a:rPr lang="ru-RU" sz="900" dirty="0" err="1"/>
              <a:t>on</a:t>
            </a:r>
            <a:r>
              <a:rPr lang="ru-RU" sz="900" dirty="0"/>
              <a:t> </a:t>
            </a:r>
            <a:r>
              <a:rPr lang="ru-RU" sz="900" dirty="0" err="1"/>
              <a:t>simulated</a:t>
            </a:r>
            <a:r>
              <a:rPr lang="ru-RU" sz="900" dirty="0"/>
              <a:t> </a:t>
            </a:r>
            <a:r>
              <a:rPr lang="ru-RU" sz="900" dirty="0" err="1"/>
              <a:t>and</a:t>
            </a:r>
            <a:r>
              <a:rPr lang="ru-RU" sz="900" dirty="0"/>
              <a:t> </a:t>
            </a:r>
            <a:r>
              <a:rPr lang="ru-RU" sz="900" dirty="0" err="1"/>
              <a:t>measured</a:t>
            </a:r>
            <a:r>
              <a:rPr lang="ru-RU" sz="900" dirty="0"/>
              <a:t> IMU </a:t>
            </a:r>
            <a:r>
              <a:rPr lang="ru-RU" sz="900" dirty="0" err="1"/>
              <a:t>data</a:t>
            </a:r>
            <a:r>
              <a:rPr lang="ru-RU" sz="900" dirty="0"/>
              <a:t> </a:t>
            </a:r>
            <a:r>
              <a:rPr lang="ru-RU" sz="900" dirty="0" err="1"/>
              <a:t>using</a:t>
            </a:r>
            <a:r>
              <a:rPr lang="ru-RU" sz="900" dirty="0"/>
              <a:t> </a:t>
            </a:r>
            <a:r>
              <a:rPr lang="ru-RU" sz="900" dirty="0" err="1"/>
              <a:t>an</a:t>
            </a:r>
            <a:r>
              <a:rPr lang="ru-RU" sz="900" dirty="0"/>
              <a:t> </a:t>
            </a:r>
            <a:r>
              <a:rPr lang="ru-RU" sz="900" dirty="0" err="1"/>
              <a:t>artificial</a:t>
            </a:r>
            <a:r>
              <a:rPr lang="ru-RU" sz="900" dirty="0"/>
              <a:t> </a:t>
            </a:r>
            <a:r>
              <a:rPr lang="ru-RU" sz="900" dirty="0" err="1"/>
              <a:t>neural</a:t>
            </a:r>
            <a:r>
              <a:rPr lang="ru-RU" sz="900" dirty="0"/>
              <a:t> </a:t>
            </a:r>
            <a:r>
              <a:rPr lang="ru-RU" sz="900" dirty="0" err="1"/>
              <a:t>network</a:t>
            </a:r>
            <a:r>
              <a:rPr lang="ru-RU" sz="900" dirty="0"/>
              <a:t>. </a:t>
            </a:r>
            <a:r>
              <a:rPr lang="ru-RU" sz="900" i="1" dirty="0" err="1"/>
              <a:t>Frontiers</a:t>
            </a:r>
            <a:r>
              <a:rPr lang="ru-RU" sz="900" i="1" dirty="0"/>
              <a:t> </a:t>
            </a:r>
            <a:r>
              <a:rPr lang="ru-RU" sz="900" i="1" dirty="0" err="1"/>
              <a:t>in</a:t>
            </a:r>
            <a:r>
              <a:rPr lang="ru-RU" sz="900" i="1" dirty="0"/>
              <a:t> </a:t>
            </a:r>
            <a:r>
              <a:rPr lang="ru-RU" sz="900" i="1" dirty="0" err="1"/>
              <a:t>Bioengineering</a:t>
            </a:r>
            <a:r>
              <a:rPr lang="ru-RU" sz="900" i="1" dirty="0"/>
              <a:t> </a:t>
            </a:r>
            <a:r>
              <a:rPr lang="ru-RU" sz="900" i="1" dirty="0" err="1"/>
              <a:t>and</a:t>
            </a:r>
            <a:r>
              <a:rPr lang="ru-RU" sz="900" i="1" dirty="0"/>
              <a:t> </a:t>
            </a:r>
            <a:r>
              <a:rPr lang="ru-RU" sz="900" i="1" dirty="0" err="1"/>
              <a:t>Biotechnology</a:t>
            </a:r>
            <a:r>
              <a:rPr lang="ru-RU" sz="900" i="1" dirty="0"/>
              <a:t>, 8</a:t>
            </a:r>
            <a:r>
              <a:rPr lang="ru-RU" sz="900" dirty="0"/>
              <a:t>, 41.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Nigg</a:t>
            </a:r>
            <a:r>
              <a:rPr lang="ru-RU" sz="900" dirty="0"/>
              <a:t>, B., </a:t>
            </a:r>
            <a:r>
              <a:rPr lang="ru-RU" sz="900" dirty="0" err="1"/>
              <a:t>Fisher</a:t>
            </a:r>
            <a:r>
              <a:rPr lang="ru-RU" sz="900" dirty="0"/>
              <a:t>, V., &amp; </a:t>
            </a:r>
            <a:r>
              <a:rPr lang="ru-RU" sz="900" dirty="0" err="1"/>
              <a:t>Ronsky</a:t>
            </a:r>
            <a:r>
              <a:rPr lang="ru-RU" sz="900" dirty="0"/>
              <a:t>, J. (1994).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characteristics</a:t>
            </a:r>
            <a:r>
              <a:rPr lang="ru-RU" sz="900" dirty="0"/>
              <a:t> </a:t>
            </a:r>
            <a:r>
              <a:rPr lang="ru-RU" sz="900" dirty="0" err="1"/>
              <a:t>as</a:t>
            </a:r>
            <a:r>
              <a:rPr lang="ru-RU" sz="900" dirty="0"/>
              <a:t> a </a:t>
            </a:r>
            <a:r>
              <a:rPr lang="ru-RU" sz="900" dirty="0" err="1"/>
              <a:t>function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age</a:t>
            </a:r>
            <a:r>
              <a:rPr lang="ru-RU" sz="900" dirty="0"/>
              <a:t> </a:t>
            </a:r>
            <a:r>
              <a:rPr lang="ru-RU" sz="900" dirty="0" err="1"/>
              <a:t>and</a:t>
            </a:r>
            <a:r>
              <a:rPr lang="ru-RU" sz="900" dirty="0"/>
              <a:t> </a:t>
            </a:r>
            <a:r>
              <a:rPr lang="ru-RU" sz="900" dirty="0" err="1"/>
              <a:t>gender</a:t>
            </a:r>
            <a:r>
              <a:rPr lang="ru-RU" sz="900" dirty="0"/>
              <a:t>. </a:t>
            </a:r>
            <a:r>
              <a:rPr lang="ru-RU" sz="900" i="1" dirty="0" err="1"/>
              <a:t>Gait</a:t>
            </a:r>
            <a:r>
              <a:rPr lang="ru-RU" sz="900" i="1" dirty="0"/>
              <a:t> &amp; </a:t>
            </a:r>
            <a:r>
              <a:rPr lang="ru-RU" sz="900" i="1" dirty="0" err="1"/>
              <a:t>Posture</a:t>
            </a:r>
            <a:r>
              <a:rPr lang="ru-RU" sz="900" i="1" dirty="0"/>
              <a:t>, 2</a:t>
            </a:r>
            <a:r>
              <a:rPr lang="ru-RU" sz="900" dirty="0"/>
              <a:t>, 213–220.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Raissi</a:t>
            </a:r>
            <a:r>
              <a:rPr lang="ru-RU" sz="900" dirty="0"/>
              <a:t>, M., </a:t>
            </a:r>
            <a:r>
              <a:rPr lang="ru-RU" sz="900" dirty="0" err="1"/>
              <a:t>Perdikaris</a:t>
            </a:r>
            <a:r>
              <a:rPr lang="ru-RU" sz="900" dirty="0"/>
              <a:t>, P., &amp; </a:t>
            </a:r>
            <a:r>
              <a:rPr lang="ru-RU" sz="900" dirty="0" err="1"/>
              <a:t>Karniadakis</a:t>
            </a:r>
            <a:r>
              <a:rPr lang="ru-RU" sz="900" dirty="0"/>
              <a:t>, G. E. (2017). </a:t>
            </a:r>
            <a:r>
              <a:rPr lang="ru-RU" sz="900" dirty="0" err="1"/>
              <a:t>Physics</a:t>
            </a:r>
            <a:r>
              <a:rPr lang="ru-RU" sz="900" dirty="0"/>
              <a:t> </a:t>
            </a:r>
            <a:r>
              <a:rPr lang="ru-RU" sz="900" dirty="0" err="1"/>
              <a:t>informed</a:t>
            </a:r>
            <a:r>
              <a:rPr lang="ru-RU" sz="900" dirty="0"/>
              <a:t> </a:t>
            </a:r>
            <a:r>
              <a:rPr lang="ru-RU" sz="900" dirty="0" err="1"/>
              <a:t>deep</a:t>
            </a:r>
            <a:r>
              <a:rPr lang="ru-RU" sz="900" dirty="0"/>
              <a:t> </a:t>
            </a:r>
            <a:r>
              <a:rPr lang="ru-RU" sz="900" dirty="0" err="1"/>
              <a:t>learning</a:t>
            </a:r>
            <a:r>
              <a:rPr lang="ru-RU" sz="900" dirty="0"/>
              <a:t>: Data-</a:t>
            </a:r>
            <a:r>
              <a:rPr lang="ru-RU" sz="900" dirty="0" err="1"/>
              <a:t>driven</a:t>
            </a:r>
            <a:r>
              <a:rPr lang="ru-RU" sz="900" dirty="0"/>
              <a:t> </a:t>
            </a:r>
            <a:r>
              <a:rPr lang="ru-RU" sz="900" dirty="0" err="1"/>
              <a:t>solutions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nonlinear</a:t>
            </a:r>
            <a:r>
              <a:rPr lang="ru-RU" sz="900" dirty="0"/>
              <a:t> </a:t>
            </a:r>
            <a:r>
              <a:rPr lang="ru-RU" sz="900" dirty="0" err="1"/>
              <a:t>partial</a:t>
            </a:r>
            <a:r>
              <a:rPr lang="ru-RU" sz="900" dirty="0"/>
              <a:t> </a:t>
            </a:r>
            <a:r>
              <a:rPr lang="ru-RU" sz="900" dirty="0" err="1"/>
              <a:t>differential</a:t>
            </a:r>
            <a:r>
              <a:rPr lang="ru-RU" sz="900" dirty="0"/>
              <a:t> </a:t>
            </a:r>
            <a:r>
              <a:rPr lang="ru-RU" sz="900" dirty="0" err="1"/>
              <a:t>equations</a:t>
            </a:r>
            <a:r>
              <a:rPr lang="ru-RU" sz="900" dirty="0"/>
              <a:t>. </a:t>
            </a:r>
            <a:r>
              <a:rPr lang="ru-RU" sz="900" i="1" dirty="0" err="1"/>
              <a:t>arXiv</a:t>
            </a:r>
            <a:r>
              <a:rPr lang="ru-RU" sz="900" i="1" dirty="0"/>
              <a:t> </a:t>
            </a:r>
            <a:r>
              <a:rPr lang="ru-RU" sz="900" i="1" dirty="0" err="1"/>
              <a:t>preprint</a:t>
            </a:r>
            <a:r>
              <a:rPr lang="ru-RU" sz="900" i="1" dirty="0"/>
              <a:t> arXiv:1711.10561</a:t>
            </a:r>
            <a:r>
              <a:rPr lang="ru-RU" sz="9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/>
              <a:t>Robinson, M. A., </a:t>
            </a:r>
            <a:r>
              <a:rPr lang="ru-RU" sz="900" dirty="0" err="1"/>
              <a:t>Vanrenterghem</a:t>
            </a:r>
            <a:r>
              <a:rPr lang="ru-RU" sz="900" dirty="0"/>
              <a:t>, J., &amp; </a:t>
            </a:r>
            <a:r>
              <a:rPr lang="ru-RU" sz="900" dirty="0" err="1"/>
              <a:t>Pataky</a:t>
            </a:r>
            <a:r>
              <a:rPr lang="ru-RU" sz="900" dirty="0"/>
              <a:t>, T. C. (2021). </a:t>
            </a:r>
            <a:r>
              <a:rPr lang="ru-RU" sz="900" dirty="0" err="1"/>
              <a:t>Sample</a:t>
            </a:r>
            <a:r>
              <a:rPr lang="ru-RU" sz="900" dirty="0"/>
              <a:t> </a:t>
            </a:r>
            <a:r>
              <a:rPr lang="ru-RU" sz="900" dirty="0" err="1"/>
              <a:t>size</a:t>
            </a:r>
            <a:r>
              <a:rPr lang="ru-RU" sz="900" dirty="0"/>
              <a:t> </a:t>
            </a:r>
            <a:r>
              <a:rPr lang="ru-RU" sz="900" dirty="0" err="1"/>
              <a:t>estimation</a:t>
            </a:r>
            <a:r>
              <a:rPr lang="ru-RU" sz="900" dirty="0"/>
              <a:t> </a:t>
            </a:r>
            <a:r>
              <a:rPr lang="ru-RU" sz="900" dirty="0" err="1"/>
              <a:t>for</a:t>
            </a:r>
            <a:r>
              <a:rPr lang="ru-RU" sz="900" dirty="0"/>
              <a:t> </a:t>
            </a:r>
            <a:r>
              <a:rPr lang="ru-RU" sz="900" dirty="0" err="1"/>
              <a:t>biomechanical</a:t>
            </a:r>
            <a:r>
              <a:rPr lang="ru-RU" sz="900" dirty="0"/>
              <a:t> </a:t>
            </a:r>
            <a:r>
              <a:rPr lang="ru-RU" sz="900" dirty="0" err="1"/>
              <a:t>waveforms</a:t>
            </a:r>
            <a:r>
              <a:rPr lang="ru-RU" sz="900" dirty="0"/>
              <a:t>: Current </a:t>
            </a:r>
            <a:r>
              <a:rPr lang="ru-RU" sz="900" dirty="0" err="1"/>
              <a:t>practice</a:t>
            </a:r>
            <a:r>
              <a:rPr lang="ru-RU" sz="900" dirty="0"/>
              <a:t>, </a:t>
            </a:r>
            <a:r>
              <a:rPr lang="ru-RU" sz="900" dirty="0" err="1"/>
              <a:t>recommendations</a:t>
            </a:r>
            <a:r>
              <a:rPr lang="ru-RU" sz="900" dirty="0"/>
              <a:t> </a:t>
            </a:r>
            <a:r>
              <a:rPr lang="ru-RU" sz="900" dirty="0" err="1"/>
              <a:t>and</a:t>
            </a:r>
            <a:r>
              <a:rPr lang="ru-RU" sz="900" dirty="0"/>
              <a:t> a </a:t>
            </a:r>
            <a:r>
              <a:rPr lang="ru-RU" sz="900" dirty="0" err="1"/>
              <a:t>comparison</a:t>
            </a:r>
            <a:r>
              <a:rPr lang="ru-RU" sz="900" dirty="0"/>
              <a:t> </a:t>
            </a:r>
            <a:r>
              <a:rPr lang="ru-RU" sz="900" dirty="0" err="1"/>
              <a:t>to</a:t>
            </a:r>
            <a:r>
              <a:rPr lang="ru-RU" sz="900" dirty="0"/>
              <a:t> </a:t>
            </a:r>
            <a:r>
              <a:rPr lang="ru-RU" sz="900" dirty="0" err="1"/>
              <a:t>discrete</a:t>
            </a:r>
            <a:r>
              <a:rPr lang="ru-RU" sz="900" dirty="0"/>
              <a:t> </a:t>
            </a:r>
            <a:r>
              <a:rPr lang="ru-RU" sz="900" dirty="0" err="1"/>
              <a:t>power</a:t>
            </a:r>
            <a:r>
              <a:rPr lang="ru-RU" sz="900" dirty="0"/>
              <a:t> </a:t>
            </a:r>
            <a:r>
              <a:rPr lang="ru-RU" sz="900" dirty="0" err="1"/>
              <a:t>analysis</a:t>
            </a:r>
            <a:r>
              <a:rPr lang="ru-RU" sz="900" dirty="0"/>
              <a:t>. </a:t>
            </a:r>
            <a:r>
              <a:rPr lang="ru-RU" sz="900" i="1" dirty="0"/>
              <a:t>Journal </a:t>
            </a:r>
            <a:r>
              <a:rPr lang="ru-RU" sz="900" i="1" dirty="0" err="1"/>
              <a:t>of</a:t>
            </a:r>
            <a:r>
              <a:rPr lang="ru-RU" sz="900" i="1" dirty="0"/>
              <a:t> </a:t>
            </a:r>
            <a:r>
              <a:rPr lang="ru-RU" sz="900" i="1" dirty="0" err="1"/>
              <a:t>Biomechanics</a:t>
            </a:r>
            <a:r>
              <a:rPr lang="ru-RU" sz="900" i="1" dirty="0"/>
              <a:t>, 122</a:t>
            </a:r>
            <a:r>
              <a:rPr lang="ru-RU" sz="900" dirty="0"/>
              <a:t>, 110451.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/>
              <a:t>Ryasnova, E. (2026). </a:t>
            </a:r>
            <a:r>
              <a:rPr lang="ru-RU" sz="900" i="1" dirty="0" err="1"/>
              <a:t>Reproduction</a:t>
            </a:r>
            <a:r>
              <a:rPr lang="ru-RU" sz="900" i="1" dirty="0"/>
              <a:t> </a:t>
            </a:r>
            <a:r>
              <a:rPr lang="ru-RU" sz="900" i="1" dirty="0" err="1"/>
              <a:t>notebook</a:t>
            </a:r>
            <a:r>
              <a:rPr lang="ru-RU" sz="900" i="1" dirty="0"/>
              <a:t> </a:t>
            </a:r>
            <a:r>
              <a:rPr lang="ru-RU" sz="900" i="1" dirty="0" err="1"/>
              <a:t>for</a:t>
            </a:r>
            <a:r>
              <a:rPr lang="ru-RU" sz="900" i="1" dirty="0"/>
              <a:t> “</a:t>
            </a:r>
            <a:r>
              <a:rPr lang="ru-RU" sz="900" i="1" dirty="0" err="1"/>
              <a:t>Generative</a:t>
            </a:r>
            <a:r>
              <a:rPr lang="ru-RU" sz="900" i="1" dirty="0"/>
              <a:t> </a:t>
            </a:r>
            <a:r>
              <a:rPr lang="ru-RU" sz="900" i="1" dirty="0" err="1"/>
              <a:t>adversarial</a:t>
            </a:r>
            <a:r>
              <a:rPr lang="ru-RU" sz="900" i="1" dirty="0"/>
              <a:t> </a:t>
            </a:r>
            <a:r>
              <a:rPr lang="ru-RU" sz="900" i="1" dirty="0" err="1"/>
              <a:t>networks</a:t>
            </a:r>
            <a:r>
              <a:rPr lang="ru-RU" sz="900" i="1" dirty="0"/>
              <a:t> </a:t>
            </a:r>
            <a:r>
              <a:rPr lang="ru-RU" sz="900" i="1" dirty="0" err="1"/>
              <a:t>to</a:t>
            </a:r>
            <a:r>
              <a:rPr lang="ru-RU" sz="900" i="1" dirty="0"/>
              <a:t> </a:t>
            </a:r>
            <a:r>
              <a:rPr lang="ru-RU" sz="900" i="1" dirty="0" err="1"/>
              <a:t>create</a:t>
            </a:r>
            <a:r>
              <a:rPr lang="ru-RU" sz="900" i="1" dirty="0"/>
              <a:t> </a:t>
            </a:r>
            <a:r>
              <a:rPr lang="ru-RU" sz="900" i="1" dirty="0" err="1"/>
              <a:t>synthetic</a:t>
            </a:r>
            <a:r>
              <a:rPr lang="ru-RU" sz="900" i="1" dirty="0"/>
              <a:t> </a:t>
            </a:r>
            <a:r>
              <a:rPr lang="ru-RU" sz="900" i="1" dirty="0" err="1"/>
              <a:t>motion</a:t>
            </a:r>
            <a:r>
              <a:rPr lang="ru-RU" sz="900" i="1" dirty="0"/>
              <a:t> </a:t>
            </a:r>
            <a:r>
              <a:rPr lang="ru-RU" sz="900" i="1" dirty="0" err="1"/>
              <a:t>capture</a:t>
            </a:r>
            <a:r>
              <a:rPr lang="ru-RU" sz="900" i="1" dirty="0"/>
              <a:t> </a:t>
            </a:r>
            <a:r>
              <a:rPr lang="ru-RU" sz="900" i="1" dirty="0" err="1"/>
              <a:t>datasets</a:t>
            </a:r>
            <a:r>
              <a:rPr lang="ru-RU" sz="900" i="1" dirty="0"/>
              <a:t> </a:t>
            </a:r>
            <a:r>
              <a:rPr lang="ru-RU" sz="900" i="1" dirty="0" err="1"/>
              <a:t>including</a:t>
            </a:r>
            <a:r>
              <a:rPr lang="ru-RU" sz="900" i="1" dirty="0"/>
              <a:t> </a:t>
            </a:r>
            <a:r>
              <a:rPr lang="ru-RU" sz="900" i="1" dirty="0" err="1"/>
              <a:t>subject</a:t>
            </a:r>
            <a:r>
              <a:rPr lang="ru-RU" sz="900" i="1" dirty="0"/>
              <a:t> </a:t>
            </a:r>
            <a:r>
              <a:rPr lang="ru-RU" sz="900" i="1" dirty="0" err="1"/>
              <a:t>and</a:t>
            </a:r>
            <a:r>
              <a:rPr lang="ru-RU" sz="900" i="1" dirty="0"/>
              <a:t> </a:t>
            </a:r>
            <a:r>
              <a:rPr lang="ru-RU" sz="900" i="1" dirty="0" err="1"/>
              <a:t>gait</a:t>
            </a:r>
            <a:r>
              <a:rPr lang="ru-RU" sz="900" i="1" dirty="0"/>
              <a:t> </a:t>
            </a:r>
            <a:r>
              <a:rPr lang="ru-RU" sz="900" i="1" dirty="0" err="1"/>
              <a:t>characteristics</a:t>
            </a:r>
            <a:r>
              <a:rPr lang="ru-RU" sz="900" i="1" dirty="0"/>
              <a:t>”</a:t>
            </a:r>
            <a:r>
              <a:rPr lang="ru-RU" sz="900" dirty="0"/>
              <a:t> [</a:t>
            </a:r>
            <a:r>
              <a:rPr lang="ru-RU" sz="900" dirty="0" err="1"/>
              <a:t>Unpublished</a:t>
            </a:r>
            <a:r>
              <a:rPr lang="ru-RU" sz="900" dirty="0"/>
              <a:t> </a:t>
            </a:r>
            <a:r>
              <a:rPr lang="ru-RU" sz="900" dirty="0" err="1"/>
              <a:t>course</a:t>
            </a:r>
            <a:r>
              <a:rPr lang="ru-RU" sz="900" dirty="0"/>
              <a:t> </a:t>
            </a:r>
            <a:r>
              <a:rPr lang="ru-RU" sz="900" dirty="0" err="1"/>
              <a:t>notebook</a:t>
            </a:r>
            <a:r>
              <a:rPr lang="ru-RU" sz="900" dirty="0"/>
              <a:t>].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Schreiber</a:t>
            </a:r>
            <a:r>
              <a:rPr lang="ru-RU" sz="900" dirty="0"/>
              <a:t>, C., &amp; </a:t>
            </a:r>
            <a:r>
              <a:rPr lang="ru-RU" sz="900" dirty="0" err="1"/>
              <a:t>Moissenet</a:t>
            </a:r>
            <a:r>
              <a:rPr lang="ru-RU" sz="900" dirty="0"/>
              <a:t>, F. (2019). A </a:t>
            </a:r>
            <a:r>
              <a:rPr lang="ru-RU" sz="900" dirty="0" err="1"/>
              <a:t>multimodal</a:t>
            </a:r>
            <a:r>
              <a:rPr lang="ru-RU" sz="900" dirty="0"/>
              <a:t> </a:t>
            </a:r>
            <a:r>
              <a:rPr lang="ru-RU" sz="900" dirty="0" err="1"/>
              <a:t>dataset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human</a:t>
            </a:r>
            <a:r>
              <a:rPr lang="ru-RU" sz="900" dirty="0"/>
              <a:t>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at</a:t>
            </a:r>
            <a:r>
              <a:rPr lang="ru-RU" sz="900" dirty="0"/>
              <a:t> </a:t>
            </a:r>
            <a:r>
              <a:rPr lang="ru-RU" sz="900" dirty="0" err="1"/>
              <a:t>different</a:t>
            </a:r>
            <a:r>
              <a:rPr lang="ru-RU" sz="900" dirty="0"/>
              <a:t> </a:t>
            </a:r>
            <a:r>
              <a:rPr lang="ru-RU" sz="900" dirty="0" err="1"/>
              <a:t>walking</a:t>
            </a:r>
            <a:r>
              <a:rPr lang="ru-RU" sz="900" dirty="0"/>
              <a:t> </a:t>
            </a:r>
            <a:r>
              <a:rPr lang="ru-RU" sz="900" dirty="0" err="1"/>
              <a:t>speeds</a:t>
            </a:r>
            <a:r>
              <a:rPr lang="ru-RU" sz="900" dirty="0"/>
              <a:t> </a:t>
            </a:r>
            <a:r>
              <a:rPr lang="ru-RU" sz="900" dirty="0" err="1"/>
              <a:t>established</a:t>
            </a:r>
            <a:r>
              <a:rPr lang="ru-RU" sz="900" dirty="0"/>
              <a:t> </a:t>
            </a:r>
            <a:r>
              <a:rPr lang="ru-RU" sz="900" dirty="0" err="1"/>
              <a:t>on</a:t>
            </a:r>
            <a:r>
              <a:rPr lang="ru-RU" sz="900" dirty="0"/>
              <a:t> </a:t>
            </a:r>
            <a:r>
              <a:rPr lang="ru-RU" sz="900" dirty="0" err="1"/>
              <a:t>injury-free</a:t>
            </a:r>
            <a:r>
              <a:rPr lang="ru-RU" sz="900" dirty="0"/>
              <a:t> </a:t>
            </a:r>
            <a:r>
              <a:rPr lang="ru-RU" sz="900" dirty="0" err="1"/>
              <a:t>adult</a:t>
            </a:r>
            <a:r>
              <a:rPr lang="ru-RU" sz="900" dirty="0"/>
              <a:t> </a:t>
            </a:r>
            <a:r>
              <a:rPr lang="ru-RU" sz="900" dirty="0" err="1"/>
              <a:t>participants</a:t>
            </a:r>
            <a:r>
              <a:rPr lang="ru-RU" sz="900" dirty="0"/>
              <a:t>. </a:t>
            </a:r>
            <a:r>
              <a:rPr lang="ru-RU" sz="900" i="1" dirty="0"/>
              <a:t>Scientific Data, 6</a:t>
            </a:r>
            <a:r>
              <a:rPr lang="ru-RU" sz="900" dirty="0"/>
              <a:t>, 111.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Sharifi</a:t>
            </a:r>
            <a:r>
              <a:rPr lang="ru-RU" sz="900" dirty="0"/>
              <a:t> </a:t>
            </a:r>
            <a:r>
              <a:rPr lang="ru-RU" sz="900" dirty="0" err="1"/>
              <a:t>Renani</a:t>
            </a:r>
            <a:r>
              <a:rPr lang="ru-RU" sz="900" dirty="0"/>
              <a:t>, M., </a:t>
            </a:r>
            <a:r>
              <a:rPr lang="ru-RU" sz="900" dirty="0" err="1"/>
              <a:t>Eustace</a:t>
            </a:r>
            <a:r>
              <a:rPr lang="ru-RU" sz="900" dirty="0"/>
              <a:t>, A. M., </a:t>
            </a:r>
            <a:r>
              <a:rPr lang="ru-RU" sz="900" dirty="0" err="1"/>
              <a:t>Myers</a:t>
            </a:r>
            <a:r>
              <a:rPr lang="ru-RU" sz="900" dirty="0"/>
              <a:t>, C. A., &amp; </a:t>
            </a:r>
            <a:r>
              <a:rPr lang="ru-RU" sz="900" dirty="0" err="1"/>
              <a:t>Clary</a:t>
            </a:r>
            <a:r>
              <a:rPr lang="ru-RU" sz="900" dirty="0"/>
              <a:t>, C. W. (2021). The </a:t>
            </a:r>
            <a:r>
              <a:rPr lang="ru-RU" sz="900" dirty="0" err="1"/>
              <a:t>use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synthetic</a:t>
            </a:r>
            <a:r>
              <a:rPr lang="ru-RU" sz="900" dirty="0"/>
              <a:t> IMU </a:t>
            </a:r>
            <a:r>
              <a:rPr lang="ru-RU" sz="900" dirty="0" err="1"/>
              <a:t>signals</a:t>
            </a:r>
            <a:r>
              <a:rPr lang="ru-RU" sz="900" dirty="0"/>
              <a:t> </a:t>
            </a:r>
            <a:r>
              <a:rPr lang="ru-RU" sz="900" dirty="0" err="1"/>
              <a:t>in</a:t>
            </a:r>
            <a:r>
              <a:rPr lang="ru-RU" sz="900" dirty="0"/>
              <a:t> </a:t>
            </a:r>
            <a:r>
              <a:rPr lang="ru-RU" sz="900" dirty="0" err="1"/>
              <a:t>the</a:t>
            </a:r>
            <a:r>
              <a:rPr lang="ru-RU" sz="900" dirty="0"/>
              <a:t> </a:t>
            </a:r>
            <a:r>
              <a:rPr lang="ru-RU" sz="900" dirty="0" err="1"/>
              <a:t>training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deep</a:t>
            </a:r>
            <a:r>
              <a:rPr lang="ru-RU" sz="900" dirty="0"/>
              <a:t> </a:t>
            </a:r>
            <a:r>
              <a:rPr lang="ru-RU" sz="900" dirty="0" err="1"/>
              <a:t>learning</a:t>
            </a:r>
            <a:r>
              <a:rPr lang="ru-RU" sz="900" dirty="0"/>
              <a:t> </a:t>
            </a:r>
            <a:r>
              <a:rPr lang="ru-RU" sz="900" dirty="0" err="1"/>
              <a:t>models</a:t>
            </a:r>
            <a:r>
              <a:rPr lang="ru-RU" sz="900" dirty="0"/>
              <a:t> </a:t>
            </a:r>
            <a:r>
              <a:rPr lang="ru-RU" sz="900" dirty="0" err="1"/>
              <a:t>significantly</a:t>
            </a:r>
            <a:r>
              <a:rPr lang="ru-RU" sz="900" dirty="0"/>
              <a:t> </a:t>
            </a:r>
            <a:r>
              <a:rPr lang="ru-RU" sz="900" dirty="0" err="1"/>
              <a:t>improves</a:t>
            </a:r>
            <a:r>
              <a:rPr lang="ru-RU" sz="900" dirty="0"/>
              <a:t> </a:t>
            </a:r>
            <a:r>
              <a:rPr lang="ru-RU" sz="900" dirty="0" err="1"/>
              <a:t>the</a:t>
            </a:r>
            <a:r>
              <a:rPr lang="ru-RU" sz="900" dirty="0"/>
              <a:t> </a:t>
            </a:r>
            <a:r>
              <a:rPr lang="ru-RU" sz="900" dirty="0" err="1"/>
              <a:t>accuracy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joint</a:t>
            </a:r>
            <a:r>
              <a:rPr lang="ru-RU" sz="900" dirty="0"/>
              <a:t> </a:t>
            </a:r>
            <a:r>
              <a:rPr lang="ru-RU" sz="900" dirty="0" err="1"/>
              <a:t>kinematic</a:t>
            </a:r>
            <a:r>
              <a:rPr lang="ru-RU" sz="900" dirty="0"/>
              <a:t> </a:t>
            </a:r>
            <a:r>
              <a:rPr lang="ru-RU" sz="900" dirty="0" err="1"/>
              <a:t>predictions</a:t>
            </a:r>
            <a:r>
              <a:rPr lang="ru-RU" sz="900" dirty="0"/>
              <a:t>. </a:t>
            </a:r>
            <a:r>
              <a:rPr lang="ru-RU" sz="900" i="1" dirty="0" err="1"/>
              <a:t>Sensors</a:t>
            </a:r>
            <a:r>
              <a:rPr lang="ru-RU" sz="900" i="1" dirty="0"/>
              <a:t>, 21</a:t>
            </a:r>
            <a:r>
              <a:rPr lang="ru-RU" sz="900" dirty="0"/>
              <a:t>, 5876.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900" dirty="0" err="1"/>
              <a:t>Weinhandl</a:t>
            </a:r>
            <a:r>
              <a:rPr lang="ru-RU" sz="900" dirty="0"/>
              <a:t>, J. T., </a:t>
            </a:r>
            <a:r>
              <a:rPr lang="ru-RU" sz="900" dirty="0" err="1"/>
              <a:t>Irmischer</a:t>
            </a:r>
            <a:r>
              <a:rPr lang="ru-RU" sz="900" dirty="0"/>
              <a:t>, B. S., &amp; </a:t>
            </a:r>
            <a:r>
              <a:rPr lang="ru-RU" sz="900" dirty="0" err="1"/>
              <a:t>Sievert</a:t>
            </a:r>
            <a:r>
              <a:rPr lang="ru-RU" sz="900" dirty="0"/>
              <a:t>, Z. A. (2017). </a:t>
            </a:r>
            <a:r>
              <a:rPr lang="ru-RU" sz="900" dirty="0" err="1"/>
              <a:t>Effects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gait</a:t>
            </a:r>
            <a:r>
              <a:rPr lang="ru-RU" sz="900" dirty="0"/>
              <a:t> </a:t>
            </a:r>
            <a:r>
              <a:rPr lang="ru-RU" sz="900" dirty="0" err="1"/>
              <a:t>speed</a:t>
            </a:r>
            <a:r>
              <a:rPr lang="ru-RU" sz="900" dirty="0"/>
              <a:t> </a:t>
            </a:r>
            <a:r>
              <a:rPr lang="ru-RU" sz="900" dirty="0" err="1"/>
              <a:t>of</a:t>
            </a:r>
            <a:r>
              <a:rPr lang="ru-RU" sz="900" dirty="0"/>
              <a:t> </a:t>
            </a:r>
            <a:r>
              <a:rPr lang="ru-RU" sz="900" dirty="0" err="1"/>
              <a:t>femoroacetabular</a:t>
            </a:r>
            <a:r>
              <a:rPr lang="ru-RU" sz="900" dirty="0"/>
              <a:t> </a:t>
            </a:r>
            <a:r>
              <a:rPr lang="ru-RU" sz="900" dirty="0" err="1"/>
              <a:t>joint</a:t>
            </a:r>
            <a:r>
              <a:rPr lang="ru-RU" sz="900" dirty="0"/>
              <a:t> </a:t>
            </a:r>
            <a:r>
              <a:rPr lang="ru-RU" sz="900" dirty="0" err="1"/>
              <a:t>forces</a:t>
            </a:r>
            <a:r>
              <a:rPr lang="ru-RU" sz="900" dirty="0"/>
              <a:t>. </a:t>
            </a:r>
            <a:r>
              <a:rPr lang="ru-RU" sz="900" i="1" dirty="0" err="1"/>
              <a:t>Applied</a:t>
            </a:r>
            <a:r>
              <a:rPr lang="ru-RU" sz="900" i="1" dirty="0"/>
              <a:t> </a:t>
            </a:r>
            <a:r>
              <a:rPr lang="ru-RU" sz="900" i="1" dirty="0" err="1"/>
              <a:t>Bionics</a:t>
            </a:r>
            <a:r>
              <a:rPr lang="ru-RU" sz="900" i="1" dirty="0"/>
              <a:t> </a:t>
            </a:r>
            <a:r>
              <a:rPr lang="ru-RU" sz="900" i="1" dirty="0" err="1"/>
              <a:t>and</a:t>
            </a:r>
            <a:r>
              <a:rPr lang="ru-RU" sz="900" i="1" dirty="0"/>
              <a:t> </a:t>
            </a:r>
            <a:r>
              <a:rPr lang="ru-RU" sz="900" i="1" dirty="0" err="1"/>
              <a:t>Biomechanics</a:t>
            </a:r>
            <a:r>
              <a:rPr lang="ru-RU" sz="900" dirty="0"/>
              <a:t>, 1–7.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676C-130B-62F9-E92E-EE2E1277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20" y="506326"/>
            <a:ext cx="6193320" cy="402394"/>
          </a:xfrm>
        </p:spPr>
        <p:txBody>
          <a:bodyPr/>
          <a:lstStyle/>
          <a:p>
            <a:r>
              <a:rPr lang="ru-RU" sz="2800" dirty="0" err="1"/>
              <a:t>References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919926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BA43-270D-6953-BB7E-BB6E0BC4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867DCA74-E0AD-F97E-AC1C-A5C79786CFAA}"/>
              </a:ext>
            </a:extLst>
          </p:cNvPr>
          <p:cNvSpPr txBox="1"/>
          <p:nvPr/>
        </p:nvSpPr>
        <p:spPr>
          <a:xfrm>
            <a:off x="2071178" y="2741439"/>
            <a:ext cx="85968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400" spc="60" dirty="0" err="1">
                <a:solidFill>
                  <a:schemeClr val="accent2"/>
                </a:solidFill>
              </a:rPr>
              <a:t>Thank</a:t>
            </a:r>
            <a:r>
              <a:rPr lang="de-DE" sz="3400" spc="60" dirty="0">
                <a:solidFill>
                  <a:schemeClr val="accent2"/>
                </a:solidFill>
              </a:rPr>
              <a:t> </a:t>
            </a:r>
            <a:r>
              <a:rPr lang="de-DE" sz="3400" spc="60" dirty="0" err="1">
                <a:solidFill>
                  <a:schemeClr val="accent2"/>
                </a:solidFill>
              </a:rPr>
              <a:t>you</a:t>
            </a:r>
            <a:r>
              <a:rPr lang="de-DE" sz="3400" spc="60" dirty="0">
                <a:solidFill>
                  <a:schemeClr val="accent2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724542668"/>
      </p:ext>
    </p:extLst>
  </p:cSld>
  <p:clrMapOvr>
    <a:masterClrMapping/>
  </p:clrMapOvr>
</p:sld>
</file>

<file path=ppt/theme/theme1.xml><?xml version="1.0" encoding="utf-8"?>
<a:theme xmlns:a="http://schemas.openxmlformats.org/drawingml/2006/main" name="UOL">
  <a:themeElements>
    <a:clrScheme name="Benutzerdefiniert 6">
      <a:dk1>
        <a:sysClr val="windowText" lastClr="000000"/>
      </a:dk1>
      <a:lt1>
        <a:sysClr val="window" lastClr="FFFFFF"/>
      </a:lt1>
      <a:dk2>
        <a:srgbClr val="003F6B"/>
      </a:dk2>
      <a:lt2>
        <a:srgbClr val="A5A5A5"/>
      </a:lt2>
      <a:accent1>
        <a:srgbClr val="004F9F"/>
      </a:accent1>
      <a:accent2>
        <a:srgbClr val="00ABDA"/>
      </a:accent2>
      <a:accent3>
        <a:srgbClr val="5BC5F2"/>
      </a:accent3>
      <a:accent4>
        <a:srgbClr val="A1DAF8"/>
      </a:accent4>
      <a:accent5>
        <a:srgbClr val="00786B"/>
      </a:accent5>
      <a:accent6>
        <a:srgbClr val="D53D0E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110000"/>
          </a:lnSpc>
          <a:defRPr spc="3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0000"/>
          </a:lnSpc>
          <a:defRPr spc="30" dirty="0" err="1" smtClean="0"/>
        </a:defPPr>
      </a:lstStyle>
    </a:txDef>
  </a:objectDefaults>
  <a:extraClrSchemeLst/>
  <a:custClrLst>
    <a:custClr name="Grün 1">
      <a:srgbClr val="00786B"/>
    </a:custClr>
    <a:custClr name="Grün 2">
      <a:srgbClr val="00A97A"/>
    </a:custClr>
    <a:custClr name="Grün 3">
      <a:srgbClr val="95C11F"/>
    </a:custClr>
    <a:custClr name="Grün 4">
      <a:srgbClr val="C8D300"/>
    </a:custClr>
    <a:custClr name="Orange 1">
      <a:srgbClr val="D53D0E"/>
    </a:custClr>
    <a:custClr name="Orange 2">
      <a:srgbClr val="EE7203"/>
    </a:custClr>
    <a:custClr name="Orange 3">
      <a:srgbClr val="F39200"/>
    </a:custClr>
    <a:custClr name="Orange 4">
      <a:srgbClr val="FDC300"/>
    </a:custClr>
  </a:custClrLst>
  <a:extLst>
    <a:ext uri="{05A4C25C-085E-4340-85A3-A5531E510DB2}">
      <thm15:themeFamily xmlns:thm15="http://schemas.microsoft.com/office/thememl/2012/main" name="UOL_PowerPoint_16x9.potx" id="{F374DE9F-0D6B-4D2F-A18F-ABD4DBD5F391}" vid="{4E2C0FA1-9A88-4104-B52A-031F2A7C2746}"/>
    </a:ext>
  </a:extLst>
</a:theme>
</file>

<file path=ppt/theme/theme2.xml><?xml version="1.0" encoding="utf-8"?>
<a:theme xmlns:a="http://schemas.openxmlformats.org/drawingml/2006/main" name="Office">
  <a:themeElements>
    <a:clrScheme name="Benutzerdefiniert 6">
      <a:dk1>
        <a:sysClr val="windowText" lastClr="000000"/>
      </a:dk1>
      <a:lt1>
        <a:sysClr val="window" lastClr="FFFFFF"/>
      </a:lt1>
      <a:dk2>
        <a:srgbClr val="003F6B"/>
      </a:dk2>
      <a:lt2>
        <a:srgbClr val="A5A5A5"/>
      </a:lt2>
      <a:accent1>
        <a:srgbClr val="004F9F"/>
      </a:accent1>
      <a:accent2>
        <a:srgbClr val="00ABDA"/>
      </a:accent2>
      <a:accent3>
        <a:srgbClr val="5BC5F2"/>
      </a:accent3>
      <a:accent4>
        <a:srgbClr val="A1DAF8"/>
      </a:accent4>
      <a:accent5>
        <a:srgbClr val="00786B"/>
      </a:accent5>
      <a:accent6>
        <a:srgbClr val="D53D0E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6">
      <a:dk1>
        <a:sysClr val="windowText" lastClr="000000"/>
      </a:dk1>
      <a:lt1>
        <a:sysClr val="window" lastClr="FFFFFF"/>
      </a:lt1>
      <a:dk2>
        <a:srgbClr val="003F6B"/>
      </a:dk2>
      <a:lt2>
        <a:srgbClr val="A5A5A5"/>
      </a:lt2>
      <a:accent1>
        <a:srgbClr val="004F9F"/>
      </a:accent1>
      <a:accent2>
        <a:srgbClr val="00ABDA"/>
      </a:accent2>
      <a:accent3>
        <a:srgbClr val="5BC5F2"/>
      </a:accent3>
      <a:accent4>
        <a:srgbClr val="A1DAF8"/>
      </a:accent4>
      <a:accent5>
        <a:srgbClr val="00786B"/>
      </a:accent5>
      <a:accent6>
        <a:srgbClr val="D53D0E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PowerPoint-Vorlage__16-zu-9-Format_</Template>
  <TotalTime>2012</TotalTime>
  <Words>2743</Words>
  <Application>Microsoft Office PowerPoint</Application>
  <PresentationFormat>Широкоэкранный</PresentationFormat>
  <Paragraphs>194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UOL</vt:lpstr>
      <vt:lpstr>cGANs for Creating Synthetic Motion Capture Data </vt:lpstr>
      <vt:lpstr>Motivation</vt:lpstr>
      <vt:lpstr>Motivation</vt:lpstr>
      <vt:lpstr>Guiding Research Question for This Reproduction </vt:lpstr>
      <vt:lpstr>Paper Focus</vt:lpstr>
      <vt:lpstr>Theoretical Framework  From GANs to Conditional GANs</vt:lpstr>
      <vt:lpstr>Theoretical Framework  cGAN Architecture Used in the Paper</vt:lpstr>
      <vt:lpstr>Dataset and Conditions</vt:lpstr>
      <vt:lpstr>Reproduction Workflow From Original Repository to Reproduced Results Pipeline</vt:lpstr>
      <vt:lpstr>Reproduced Results</vt:lpstr>
      <vt:lpstr>Reproduced Results I Training Dataset Characteristics</vt:lpstr>
      <vt:lpstr>Reproduced Results I Training Dataset Characteristics</vt:lpstr>
      <vt:lpstr>Reproduced Results II Dimensionless Walking Speed Analysis</vt:lpstr>
      <vt:lpstr>Reproduced Results II Dimensionless Walking Speed Analysis</vt:lpstr>
      <vt:lpstr>Reproduced Results III Literature Findings with Synthetic Data</vt:lpstr>
      <vt:lpstr>Reproduced Results III Literature Findings with Synthetic Data</vt:lpstr>
      <vt:lpstr>Reproduced Results IV Subject-Specific Predictions</vt:lpstr>
      <vt:lpstr>Reproduced Results IV Subject-Specific Predictions</vt:lpstr>
      <vt:lpstr>Reproduced Results V Dynamic Consistency Analysis</vt:lpstr>
      <vt:lpstr>Reproduced Results V Dynamic Consistency Analysis</vt:lpstr>
      <vt:lpstr>Discussion </vt:lpstr>
      <vt:lpstr>Limitations &amp; Further Development</vt:lpstr>
      <vt:lpstr>Conclusion</vt:lpstr>
      <vt:lpstr>References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Evgeniya Ryasnova</dc:creator>
  <cp:lastModifiedBy>Evgeniya Ryasnova</cp:lastModifiedBy>
  <cp:revision>38</cp:revision>
  <dcterms:created xsi:type="dcterms:W3CDTF">2026-06-02T14:14:26Z</dcterms:created>
  <dcterms:modified xsi:type="dcterms:W3CDTF">2026-07-06T14:28:13Z</dcterms:modified>
</cp:coreProperties>
</file>